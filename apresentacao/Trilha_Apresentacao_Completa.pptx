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6339007-E5B0-451D-B787-C8A307851B6F}" type="datetimeFigureOut">
              <a:rPr lang="pt-BR" smtClean="0"/>
              <a:t>09/10/2026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53981A4-A807-46D1-B109-820FAF6DECD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3302409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/>
              <a:t>Apresente a Trilha como uma jornada guiada de execução acadêmica. Esta apresentação parte do documento conceitual Solucao_Academica_Etapas_Ajustadas.md e usa capturas do protótipo desenvolvido depois. Não há resultados de pesquisa com estudantes. Para um pitch curto, use os slides 1, 3, 6, 13, 21, 23, 25, 30, 34 e 37; os demais sustentam a apresentação completa e perguntas.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85CDEEE-0CE4-42BF-9411-DB0EC701BE68}" type="slidenum">
              <a:rPr lang="pt-BR" smtClean="0"/>
              <a:t>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2306847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/>
              <a:t>Explique que a estrutura preserva o exercício original. O documento propõe um protótipo de baixa fidelidade; as telas desta apresentação são a implementação funcional posterior.
REFERÊNCIA CONCEITUAL: Solucao_Academica_Etapas_Ajustadas.md — Estrutura original · Etapas 1 a 6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53981A4-A807-46D1-B109-820FAF6DECD4}" type="slidenum">
              <a:rPr lang="pt-BR" smtClean="0"/>
              <a:t>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3984616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/>
              <a:t>Não apresente desinteresse como causa comprovada. A situação-problema motiva o projeto, mas as hipóteses precisam ser investigadas. Leia a pergunta norteadora e conecte ao diferencial exigido pelo exercício.
REFERÊNCIA CONCEITUAL: Solucao_Academica_Etapas_Ajustadas.md — Etapa 1 + situação-problema original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53981A4-A807-46D1-B109-820FAF6DECD4}" type="slidenum">
              <a:rPr lang="pt-BR" smtClean="0"/>
              <a:t>3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0321945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/>
              <a:t>Os três perfis existem no protótipo, mas a alternância é demonstrativa e não corresponde a autenticação segura. Todos operam na mesma base local do navegador.
REFERÊNCIA CONCEITUAL: Solucao_Academica_Etapas_Ajustadas.md — Etapa 1 · Quem é o usuário?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53981A4-A807-46D1-B109-820FAF6DECD4}" type="slidenum">
              <a:rPr lang="pt-BR" smtClean="0"/>
              <a:t>4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9897415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/>
              <a:t>A solução se orienta por estas hipóteses. Uma etapa posterior deve entrevistar alunos e professores e observar o uso das ferramentas existentes. Não associe atrasos automaticamente a falta de comprometimento.
REFERÊNCIA CONCEITUAL: Solucao_Academica_Etapas_Ajustadas.md — Etapa 1 · Problema aparente e problema real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53981A4-A807-46D1-B109-820FAF6DECD4}" type="slidenum">
              <a:rPr lang="pt-BR" smtClean="0"/>
              <a:t>5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6238978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/>
              <a:t>Esta é a tese central do pitch. Faça uma pausa antes de mostrar as telas. A agenda informa quando; a Trilha orienta a execução e acompanha o avanço.
REFERÊNCIA CONCEITUAL: Solucao_Academica_Etapas_Ajustadas.md — Etapa 1 · Insight central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53981A4-A807-46D1-B109-820FAF6DECD4}" type="slidenum">
              <a:rPr lang="pt-BR" smtClean="0"/>
              <a:t>6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7416249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/>
              <a:t>O título original fala em tempestade de 20 ideias, mas o documento preserva 22 ideias do grupo. Não reduza a contagem. Os números apontam para a lista completa do apêndice.
REFERÊNCIA CONCEITUAL: Solucao_Academica_Etapas_Ajustadas.md — Etapa 2 · Organização das ideias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53981A4-A807-46D1-B109-820FAF6DECD4}" type="slidenum">
              <a:rPr lang="pt-BR" smtClean="0"/>
              <a:t>7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9009505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/>
              <a:t>Explique que os filtros são funcionais, não apenas decorativos. O calendário consulta o registro persistido da atividade. Mural e notas completam a centralização e aparecem em telas posteriores.
REFERÊNCIA CONCEITUAL: Solucao_Academica_Etapas_Ajustadas.md — Etapa 2 · Ideias 3, 4, 15, 17 e 21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53981A4-A807-46D1-B109-820FAF6DECD4}" type="slidenum">
              <a:rPr lang="pt-BR" smtClean="0"/>
              <a:t>8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7691253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/>
              <a:t>O assistente não aprende com comportamento e não chama serviços de IA. Mensagens de apoio existem; lembretes configuráveis e questões geradas por IA continuam como propostas. O apêndice mostra esses limites por ideia.
REFERÊNCIA CONCEITUAL: Solucao_Academica_Etapas_Ajustadas.md — Etapa 2 · Ideias 1, 8, 9, 10, 16 e 18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53981A4-A807-46D1-B109-820FAF6DECD4}" type="slidenum">
              <a:rPr lang="pt-BR" smtClean="0"/>
              <a:t>9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1394109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/>
              <a:t>A chama representa evolução. As conquistas podem ser recalculadas ao desfazer progresso. O quiz é local; multiplayer e ranking não foram implementados.
REFERÊNCIA CONCEITUAL: Solucao_Academica_Etapas_Ajustadas.md — Etapa 2 · Ideias 6, 7, 12 e 14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53981A4-A807-46D1-B109-820FAF6DECD4}" type="slidenum">
              <a:rPr lang="pt-BR" smtClean="0"/>
              <a:t>10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7679210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/>
              <a:t>Mostre como a tela destaca uma ação principal. Os controles estão na ajuda e as preferências ficam no navegador. Testes técnicos não substituem avaliação de acessibilidade com pessoas reais.
REFERÊNCIA CONCEITUAL: Solucao_Academica_Etapas_Ajustadas.md — Etapa 2 · Ideias 11 e 22 + Etapa 3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53981A4-A807-46D1-B109-820FAF6DECD4}" type="slidenum">
              <a:rPr lang="pt-BR" smtClean="0"/>
              <a:t>11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2754130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/>
              <a:t>Não simule comunicação remota. Para usuários em dispositivos diferentes, seriam necessários backend, autenticação e moderação. A solicitação de extensão depende de decisão justificada do professor.
REFERÊNCIA CONCEITUAL: Solucao_Academica_Etapas_Ajustadas.md — Etapa 2 · Ideias 2, 5, 19 e 20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53981A4-A807-46D1-B109-820FAF6DECD4}" type="slidenum">
              <a:rPr lang="pt-BR" smtClean="0"/>
              <a:t>12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8067640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/>
              <a:t>Destaque que os três recursos funcionam por regras locais, mesmo sem conexão ou serviços externos. O diferencial não depende de prometer IA generativa.
REFERÊNCIA CONCEITUAL: Solucao_Academica_Etapas_Ajustadas.md — Etapa 2 · Ideias adicionais após a tempestade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53981A4-A807-46D1-B109-820FAF6DECD4}" type="slidenum">
              <a:rPr lang="pt-BR" smtClean="0"/>
              <a:t>13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2747564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/>
              <a:t>Diferencie Simular offline de desligar a conexão do dispositivo. A simulação não altera a rede. O teste de navegador também verificou recarga com a rede realmente desativada. Dados são locais à origem e ao navegador; mudanças entre perfis usam a mesma base.
REFERÊNCIA CONCEITUAL: Solucao_Academica_Etapas_Ajustadas.md — Etapa 3 · Offline-first e critérios de aceitação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53981A4-A807-46D1-B109-820FAF6DECD4}" type="slidenum">
              <a:rPr lang="pt-BR" smtClean="0"/>
              <a:t>14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183034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/>
              <a:t>Use as duas capturas como demonstração de consequência real no estado. Não apresente os pontos como notas. Os valores detalham a implementação do protótipo, não regras obrigatórias do documento conceitual.
REFERÊNCIA CONCEITUAL: Solucao_Academica_Etapas_Ajustadas.md — Etapa 3 · Gamificação funcional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53981A4-A807-46D1-B109-820FAF6DECD4}" type="slidenum">
              <a:rPr lang="pt-BR" smtClean="0"/>
              <a:t>15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5400581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/>
              <a:t>O tour é opcional. Nenhum usuário precisa concluí-lo para navegar. Inclua estados vazios, erro compreensível, exclusão confirmada e formulários que rejeitam dados inválidos. Os testes verificaram teclado e largura mobile de 390 px.
REFERÊNCIA CONCEITUAL: Solucao_Academica_Etapas_Ajustadas.md — Etapa 3 · Baixa familiaridade tecnológica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53981A4-A807-46D1-B109-820FAF6DECD4}" type="slidenum">
              <a:rPr lang="pt-BR" smtClean="0"/>
              <a:t>16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7304339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/>
              <a:t>Mostre que cada letra produz uma decisão observável na interface. Centralizar não significa extinguir sistemas acadêmicos, WhatsApp ou ferramentas já existentes.
REFERÊNCIA CONCEITUAL: Solucao_Academica_Etapas_Ajustadas.md — Etapa 4 · S, C, A e M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53981A4-A807-46D1-B109-820FAF6DECD4}" type="slidenum">
              <a:rPr lang="pt-BR" smtClean="0"/>
              <a:t>17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38561604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/>
              <a:t>A ordem de navegação orienta a jornada. Para docentes, o panorama da turma e a atividade complementam o trabalho do estudante.
REFERÊNCIA CONCEITUAL: Solucao_Academica_Etapas_Ajustadas.md — Etapa 4 · P, E e R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53981A4-A807-46D1-B109-820FAF6DECD4}" type="slidenum">
              <a:rPr lang="pt-BR" smtClean="0"/>
              <a:t>18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4859994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/>
              <a:t>Não atribua aprendizado ao assistente demonstrativo. Os cenários ajudam a explicitar responsabilidades técnicas e limites, sem prometer serviços ainda ausentes.
REFERÊNCIA CONCEITUAL: Solucao_Academica_Etapas_Ajustadas.md — Etapa 5 · Cenários iniciais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53981A4-A807-46D1-B109-820FAF6DECD4}" type="slidenum">
              <a:rPr lang="pt-BR" smtClean="0"/>
              <a:t>19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96711359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/>
              <a:t>A política de prazo é do professor. O planejamento pessoal não muda datas oficiais. O cenário de prazo modificado em outro dispositivo enquanto offline ainda depende de uma arquitetura remota futura.
REFERÊNCIA CONCEITUAL: Solucao_Academica_Etapas_Ajustadas.md — Etapa 5 · Novos cenários propostos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53981A4-A807-46D1-B109-820FAF6DECD4}" type="slidenum">
              <a:rPr lang="pt-BR" smtClean="0"/>
              <a:t>20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00674510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/>
              <a:t>O sétimo passo do documento — enviar alterações ao retornar a rede e receber novas publicações — é uma evolução com backend, não uma função implementada. A jornada atual compartilha informações entre perfis apenas no mesmo navegador.
REFERÊNCIA CONCEITUAL: Solucao_Academica_Etapas_Ajustadas.md — Etapa 6 · Funcionamento da jornada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53981A4-A807-46D1-B109-820FAF6DECD4}" type="slidenum">
              <a:rPr lang="pt-BR" smtClean="0"/>
              <a:t>21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91333999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/>
              <a:t>O documento sugere uma tela de entrada; na implementação, o seletor superior permite alternar perfis sem uma página de autenticação. As métricas exibidas vêm dos dados fictícios persistidos, não de números aleatórios.
REFERÊNCIA CONCEITUAL: Solucao_Academica_Etapas_Ajustadas.md — Etapa 6 · Telas recomendadas 1 e 2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53981A4-A807-46D1-B109-820FAF6DECD4}" type="slidenum">
              <a:rPr lang="pt-BR" smtClean="0"/>
              <a:t>22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26744954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/>
              <a:t>O cálculo considera as etapas atuais da atividade. O progresso do aluno fica separado do cadastro compartilhado. A exclusão exige confirmação e remove relacionamentos associados.
REFERÊNCIA CONCEITUAL: Solucao_Academica_Etapas_Ajustadas.md — Etapa 6 · Tela recomendada 3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53981A4-A807-46D1-B109-820FAF6DECD4}" type="slidenum">
              <a:rPr lang="pt-BR" smtClean="0"/>
              <a:t>23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17856676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/>
              <a:t>Demonstre uma mudança de prazo pelo professor e mostre o reflexo no calendário. Não há uma cópia independente dos dados do calendário.
REFERÊNCIA CONCEITUAL: Solucao_Academica_Etapas_Ajustadas.md — Etapa 6 · Núcleo do perfil aluno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53981A4-A807-46D1-B109-820FAF6DECD4}" type="slidenum">
              <a:rPr lang="pt-BR" smtClean="0"/>
              <a:t>24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49617559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/>
              <a:t>A implementação usa meta de 120 minutos por dia. Etapas maiores reservam dias exclusivos; o plano é uma sugestão, não garantia de cumprir todos os prazos. O aluno pode ajustar os dias.
REFERÊNCIA CONCEITUAL: Solucao_Academica_Etapas_Ajustadas.md — Etapa 6 · Tela recomendada 4 + diferencial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53981A4-A807-46D1-B109-820FAF6DECD4}" type="slidenum">
              <a:rPr lang="pt-BR" smtClean="0"/>
              <a:t>25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21808817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/>
              <a:t>A mesma atividade publicada aparece para o aluno da turma no ambiente local. O docente também gerencia comunicados. Não existe envio remoto ou autenticação por permissões reais.
REFERÊNCIA CONCEITUAL: Solucao_Academica_Etapas_Ajustadas.md — Etapa 6 · Tela recomendada 5 e perfil professor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53981A4-A807-46D1-B109-820FAF6DECD4}" type="slidenum">
              <a:rPr lang="pt-BR" smtClean="0"/>
              <a:t>26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45359944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/>
              <a:t>Não há multiplayer real nem geração automática de questões. O feedback do quiz explica a resposta cadastrada. As tentativas ficam persistidas para consulta posterior.
REFERÊNCIA CONCEITUAL: Solucao_Academica_Etapas_Ajustadas.md — Etapa 2 · Ideias 13, 14 e 15 + Etapa 6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53981A4-A807-46D1-B109-820FAF6DECD4}" type="slidenum">
              <a:rPr lang="pt-BR" smtClean="0"/>
              <a:t>27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10576006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/>
              <a:t>Conteúdos persistem no mesmo navegador. Comunicação real entre alunos em dispositivos diferentes exige infraestrutura adicional e regras de moderação.
REFERÊNCIA CONCEITUAL: Solucao_Academica_Etapas_Ajustadas.md — Etapa 2 · Ideias 4 e 19 + Etapa 6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53981A4-A807-46D1-B109-820FAF6DECD4}" type="slidenum">
              <a:rPr lang="pt-BR" smtClean="0"/>
              <a:t>28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0304382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/>
              <a:t>O documento considera o administrador opcional. O protótipo inclui esse complemento. Não afirme que há controle seguro de acesso ou integração com um totem físico.
REFERÊNCIA CONCEITUAL: Solucao_Academica_Etapas_Ajustadas.md — Etapa 2 · Ideias 2 e 20 + Etapa 6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53981A4-A807-46D1-B109-820FAF6DECD4}" type="slidenum">
              <a:rPr lang="pt-BR" smtClean="0"/>
              <a:t>29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73528548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/>
              <a:t>Fluxo: interface → regras/ações → repositório local → IndexedDB; recálculo atualiza a interface. Não há backend. O documento sugere Tailwind e React Router ou equivalente; a aplicação atual usa CSS próprio e navegação por hash. Não atribua bibliotecas ausentes à implementação.
REFERÊNCIA CONCEITUAL: Solucao_Academica_Etapas_Ajustadas.md — Etapa 6 · Direção técnica + código implementado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53981A4-A807-46D1-B109-820FAF6DECD4}" type="slidenum">
              <a:rPr lang="pt-BR" smtClean="0"/>
              <a:t>30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8598994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/>
              <a:t>Assignment e Progress se relacionam por assignmentId e userId. Conclusões são timestamps por stepId. O XP é derivado, evitando somar recompensas repetidas. A fila de gravações impede que alterações antigas sobrescrevam novas durante salvamentos sucessivos.
REFERÊNCIA CONCEITUAL: Solucao_Academica_Etapas_Ajustadas.md — Etapa 6 · Dados fictícios coerentes e persistência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53981A4-A807-46D1-B109-820FAF6DECD4}" type="slidenum">
              <a:rPr lang="pt-BR" smtClean="0"/>
              <a:t>31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2513524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/>
              <a:t>A interface foi verificada tecnicamente em 390 px. A validação futura precisa incluir pessoas com baixa familiaridade tecnológica e necessidades de acessibilidade. O roteiro não bloqueia navegação livre.
REFERÊNCIA CONCEITUAL: Solucao_Academica_Etapas_Ajustadas.md — Etapas 3 e 6 · Experiência e acessibilidade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53981A4-A807-46D1-B109-820FAF6DECD4}" type="slidenum">
              <a:rPr lang="pt-BR" smtClean="0"/>
              <a:t>32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4714953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/>
              <a:t>A PWA suporta recarga offline real após cache. Isso não implica sincronização com servidor. Questões por IA, lembretes configuráveis e materiais de estudo mais amplos também são propostas futuras ou parcialmente contempladas.
REFERÊNCIA CONCEITUAL: Solucao_Academica_Etapas_Ajustadas.md — Etapa 6 · Escopo e funções que não devem ser prometidas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53981A4-A807-46D1-B109-820FAF6DECD4}" type="slidenum">
              <a:rPr lang="pt-BR" smtClean="0"/>
              <a:t>33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20659126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/>
              <a:t>Os 27 testes são validação técnica, não pesquisa de impacto educacional. Nenhum resultado com estudantes foi medido. Referência: tests/domain.test.mjs, tests/browser.mjs e artifacts/browser-results.json do projeto.
REFERÊNCIA CONCEITUAL: Solucao_Academica_Etapas_Ajustadas.md — Etapa 3 · Aceitação + artefatos dos testes implementados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53981A4-A807-46D1-B109-820FAF6DECD4}" type="slidenum">
              <a:rPr lang="pt-BR" smtClean="0"/>
              <a:t>34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69648108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/>
              <a:t>Distribuição sugerida: problema e insight 1 minuto; professor e aluno 2 minutos; recuperação e offline 1,5 minuto; fechamento 30 segundos. Prepare a versão de produção para demonstrar recarga realmente sem rede. A simulação sozinha não desliga a conexão. Use Restaurar dados da demonstração antes do pitch, com confirmação.
REFERÊNCIA CONCEITUAL: Solucao_Academica_Etapas_Ajustadas.md — Etapa 6 · Roteiro de demonstração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53981A4-A807-46D1-B109-820FAF6DECD4}" type="slidenum">
              <a:rPr lang="pt-BR" smtClean="0"/>
              <a:t>35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69510618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/>
              <a:t>Planeje entrevistas, observação de uso e um piloto consentido. Não use os dados fictícios do dashboard como evidência de melhoria de desempenho. Os indicadores dependem de definição de período, amostra e método de coleta.
REFERÊNCIA CONCEITUAL: Solucao_Academica_Etapas_Ajustadas.md — Etapa 6 · Indicadores para validar posteriormente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53981A4-A807-46D1-B109-820FAF6DECD4}" type="slidenum">
              <a:rPr lang="pt-BR" smtClean="0"/>
              <a:t>36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42797328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/>
              <a:t>Feche com o insight central. Proponha como próximo passo validar a solução com estudantes e professores em um piloto. Não prometa redução de atrasos ainda não medida.
REFERÊNCIA CONCEITUAL: Solucao_Academica_Etapas_Ajustadas.md — Síntese do posicionamento do documento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53981A4-A807-46D1-B109-820FAF6DECD4}" type="slidenum">
              <a:rPr lang="pt-BR" smtClean="0"/>
              <a:t>37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56055426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/>
              <a:t>Esta tabela preserva todas as ideias, inclusive as que não entraram na implementação atual. Não trate demonstrações locais como serviços remotos.
REFERÊNCIA CONCEITUAL: Solucao_Academica_Etapas_Ajustadas.md — Etapa 2 · Lista original de ideias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53981A4-A807-46D1-B109-820FAF6DECD4}" type="slidenum">
              <a:rPr lang="pt-BR" smtClean="0"/>
              <a:t>38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64563318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/>
              <a:t>O formato demonstra que a aplicação atende grande parte do escopo proposto, mantendo explícito o que é parcial, opcional ou futuro.
REFERÊNCIA CONCEITUAL: Solucao_Academica_Etapas_Ajustadas.md — Etapa 2 · Lista original de ideias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53981A4-A807-46D1-B109-820FAF6DECD4}" type="slidenum">
              <a:rPr lang="pt-BR" smtClean="0"/>
              <a:t>39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7668980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/>
              <a:t>Não foram usados dados de pesquisas externas nem resultados inventados. O documento inicial é conceitual e a implementação veio depois. A situação-problema foi apresentada no slide 3; o apêndice preserva as 22 ideias e seus limites.
REFERÊNCIA CONCEITUAL: Solucao_Academica_Etapas_Ajustadas.md — Fontes locais do projeto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53981A4-A807-46D1-B109-820FAF6DECD4}" type="slidenum">
              <a:rPr lang="pt-BR" smtClean="0"/>
              <a:t>40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5261561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C6B25FA-EC48-03DC-F2B2-5FE45079DE3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EEBAFD15-C75A-4FCA-D903-12A803B723C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8FD6B001-2ADD-EE13-6698-1F5C2B7C2E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281BB6-D46B-4701-A52D-63C04C5B265D}" type="datetimeFigureOut">
              <a:rPr lang="pt-BR" smtClean="0"/>
              <a:t>09/10/2026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50012607-80EF-EB03-2636-88253BCDFC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8D1F55E7-EB8C-0C6C-4E63-75D792F3DA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B9CD1B-EAEB-4734-A719-AB2F093AD3F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7063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97142B7-0F59-21B6-0DC3-89C7DB6E5B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5F516EF4-2C42-7AEC-34DB-3DFE944769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01989DE-8F7E-6322-6E10-51001AD283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281BB6-D46B-4701-A52D-63C04C5B265D}" type="datetimeFigureOut">
              <a:rPr lang="pt-BR" smtClean="0"/>
              <a:t>09/10/2026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B4ECC7AF-1588-415B-ADA4-0771FA3282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DC070A3-6601-45B2-5EFE-1B78C75CD5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B9CD1B-EAEB-4734-A719-AB2F093AD3F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990935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29DF553-702A-FAD0-5B53-C04942B810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7F3EF6AE-5248-71B0-FDF8-CCDA4F12F45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F84AEFFA-EF3C-0E98-6601-B283E9D7C9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281BB6-D46B-4701-A52D-63C04C5B265D}" type="datetimeFigureOut">
              <a:rPr lang="pt-BR" smtClean="0"/>
              <a:t>09/10/2026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EC1839A0-CB2D-5D63-E25C-959F1C4407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735505A3-1B37-1B11-578A-C60FE355E6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B9CD1B-EAEB-4734-A719-AB2F093AD3F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489981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054924B-7248-B4EA-96A1-A1124F7553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3D8027E-87EF-8BC3-3646-C22853B093E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327141B8-1F4C-CA09-5A83-00DAFD968F8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7401AD45-DFFF-2458-1561-2D3B4F738F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281BB6-D46B-4701-A52D-63C04C5B265D}" type="datetimeFigureOut">
              <a:rPr lang="pt-BR" smtClean="0"/>
              <a:t>09/10/2026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341AECA2-EC8C-3961-2F04-B25EB5E534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5A32BA14-4C61-6FD3-DD30-4839F7D0A6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B9CD1B-EAEB-4734-A719-AB2F093AD3F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234554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4D61B27-4B12-A80B-37B2-84CABA6C86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7A7445F3-8501-DDE7-3FB3-37039BC2C58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3038EB0E-1043-EAF9-5E28-91BCFB2EBF9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F77ADEA8-05C1-6C6E-707C-D1C141CF6C8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D68CC08F-289B-3C4E-A16B-7B552DF31EE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BE2C9365-AF2F-1415-CC1C-A13CBE4001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281BB6-D46B-4701-A52D-63C04C5B265D}" type="datetimeFigureOut">
              <a:rPr lang="pt-BR" smtClean="0"/>
              <a:t>09/10/2026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AF29778B-32C9-174A-E1F5-6D2C4FA2BC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5E8745E3-41F9-CB9E-2762-839E407C74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B9CD1B-EAEB-4734-A719-AB2F093AD3F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835390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7AC4927-746A-8399-3D59-F8B35F79AE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D10D1A82-F8C6-DEC5-9CA3-79A76FEFAD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281BB6-D46B-4701-A52D-63C04C5B265D}" type="datetimeFigureOut">
              <a:rPr lang="pt-BR" smtClean="0"/>
              <a:t>09/10/2026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B38276F5-6DC8-3D95-127D-0301062A91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3A53F064-E9AC-4481-7DBC-049DDDE542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B9CD1B-EAEB-4734-A719-AB2F093AD3F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833227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4F102345-A23B-FDE3-F040-07523767B4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281BB6-D46B-4701-A52D-63C04C5B265D}" type="datetimeFigureOut">
              <a:rPr lang="pt-BR" smtClean="0"/>
              <a:t>09/10/2026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04D50F8C-1DA9-7104-00AA-F95A298B29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1F37161A-2A74-3D6C-7294-CB557FADDA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B9CD1B-EAEB-4734-A719-AB2F093AD3F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477808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4714BCC-BFE0-16F3-A064-0633694746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359AF3C-300C-5612-5671-C6B10CF7C7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F8FA3CF9-CF67-2B15-97C0-91BB4B9975D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D46A1EB2-225B-143A-642F-B1B7C4A0AA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281BB6-D46B-4701-A52D-63C04C5B265D}" type="datetimeFigureOut">
              <a:rPr lang="pt-BR" smtClean="0"/>
              <a:t>09/10/2026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272FD29C-670F-03E5-1F19-EE80476824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DC154957-0D88-643F-BEEF-88F3EAD9F9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B9CD1B-EAEB-4734-A719-AB2F093AD3F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220934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8FA3561-47C9-63B9-35B3-1D95AECE61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3D917DD5-DA03-2BF9-E4F7-B915E32F2CD2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D3467F88-042C-7572-D907-4001212646B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1ACF456D-E35F-7B15-CD0A-2A758518EE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281BB6-D46B-4701-A52D-63C04C5B265D}" type="datetimeFigureOut">
              <a:rPr lang="pt-BR" smtClean="0"/>
              <a:t>09/10/2026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1B3F5A8A-2D2C-EF59-24BA-01BF32F96C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1E0D405E-21EE-7D5E-8F00-D157F105E9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B9CD1B-EAEB-4734-A719-AB2F093AD3F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939709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61F5EA0-5CE2-6B4D-6324-F70BA266AD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A56D5E49-4945-19E3-E37F-785E3AD358C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BE420544-C1F0-C15F-E8A2-73E96CB956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281BB6-D46B-4701-A52D-63C04C5B265D}" type="datetimeFigureOut">
              <a:rPr lang="pt-BR" smtClean="0"/>
              <a:t>09/10/2026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A9ED95D7-263E-240A-B356-2D4166AEB8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CA211BE6-7860-C2F6-51A4-320CFC9B0E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B9CD1B-EAEB-4734-A719-AB2F093AD3F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784748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E4AFD99D-7D85-617B-5758-A4E7DCE39AA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64E41960-09FF-F800-80EF-3108F59E3FE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42C14D0B-6AF7-C790-EBB3-8E21EFCEDD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281BB6-D46B-4701-A52D-63C04C5B265D}" type="datetimeFigureOut">
              <a:rPr lang="pt-BR" smtClean="0"/>
              <a:t>09/10/2026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FE2F644C-BFC3-6924-1633-1B6BBECCBC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949E330D-A126-E582-4F7F-BA16D144B9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B9CD1B-EAEB-4734-A719-AB2F093AD3F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580153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5CF312CF-21A6-E521-11A8-09BB67BC6C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8665B702-F02C-400F-5496-FB123EC495B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1700D111-2050-2521-7371-75010022DF0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8281BB6-D46B-4701-A52D-63C04C5B265D}" type="datetimeFigureOut">
              <a:rPr lang="pt-BR" smtClean="0"/>
              <a:t>09/10/2026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0AEE829-B4A5-F151-A952-359AE59A5E4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FCD52F4-225D-7079-D631-527008E0370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6B9CD1B-EAEB-4734-A719-AB2F093AD3F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331217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3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7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8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0.png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1.png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C4D0A7BE-0EF0-C1D0-FEDA-BA6AFB16194E}"/>
              </a:ext>
            </a:extLst>
          </p:cNvPr>
          <p:cNvSpPr/>
          <p:nvPr/>
        </p:nvSpPr>
        <p:spPr>
          <a:xfrm>
            <a:off x="5118100" y="0"/>
            <a:ext cx="7073900" cy="6858000"/>
          </a:xfrm>
          <a:prstGeom prst="rect">
            <a:avLst/>
          </a:prstGeom>
          <a:solidFill>
            <a:srgbClr val="F0ECF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" name="Retângulo: Cantos Arredondados 2">
            <a:extLst>
              <a:ext uri="{FF2B5EF4-FFF2-40B4-BE49-F238E27FC236}">
                <a16:creationId xmlns:a16="http://schemas.microsoft.com/office/drawing/2014/main" id="{2A6CB4D7-D7A9-CE5C-8BD1-DBDE6588B1A9}"/>
              </a:ext>
            </a:extLst>
          </p:cNvPr>
          <p:cNvSpPr/>
          <p:nvPr/>
        </p:nvSpPr>
        <p:spPr>
          <a:xfrm>
            <a:off x="609600" y="495300"/>
            <a:ext cx="444500" cy="444500"/>
          </a:xfrm>
          <a:prstGeom prst="roundRect">
            <a:avLst>
              <a:gd name="adj" fmla="val 13000"/>
            </a:avLst>
          </a:prstGeom>
          <a:solidFill>
            <a:srgbClr val="7660D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BFC88996-0236-8254-3776-500B097B75AF}"/>
              </a:ext>
            </a:extLst>
          </p:cNvPr>
          <p:cNvSpPr txBox="1"/>
          <p:nvPr/>
        </p:nvSpPr>
        <p:spPr>
          <a:xfrm>
            <a:off x="647700" y="482600"/>
            <a:ext cx="393700" cy="41549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2700" b="1">
                <a:solidFill>
                  <a:srgbClr val="FFFFFF"/>
                </a:solidFill>
                <a:latin typeface="Aptos" panose="020B0004020202020204" pitchFamily="34" charset="0"/>
              </a:rPr>
              <a:t>↗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013CF5E1-E3CD-34EC-C603-DC04154B4133}"/>
              </a:ext>
            </a:extLst>
          </p:cNvPr>
          <p:cNvSpPr txBox="1"/>
          <p:nvPr/>
        </p:nvSpPr>
        <p:spPr>
          <a:xfrm>
            <a:off x="1181100" y="330200"/>
            <a:ext cx="3048000" cy="69249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4500" b="1">
                <a:solidFill>
                  <a:srgbClr val="263047"/>
                </a:solidFill>
                <a:latin typeface="Aptos" panose="020B0004020202020204" pitchFamily="34" charset="0"/>
              </a:rPr>
              <a:t>trilha.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C98930C4-2A5F-674E-DC49-B2CBFE0FB2B8}"/>
              </a:ext>
            </a:extLst>
          </p:cNvPr>
          <p:cNvSpPr txBox="1"/>
          <p:nvPr/>
        </p:nvSpPr>
        <p:spPr>
          <a:xfrm>
            <a:off x="622300" y="1193800"/>
            <a:ext cx="43688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1200">
                <a:solidFill>
                  <a:srgbClr val="7B748C"/>
                </a:solidFill>
                <a:latin typeface="Aptos" panose="020B0004020202020204" pitchFamily="34" charset="0"/>
              </a:rPr>
              <a:t>Prazos dispersos. Tarefas acumuladas.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1B36D532-C29C-22B7-E2F0-03E48F36223B}"/>
              </a:ext>
            </a:extLst>
          </p:cNvPr>
          <p:cNvSpPr txBox="1"/>
          <p:nvPr/>
        </p:nvSpPr>
        <p:spPr>
          <a:xfrm>
            <a:off x="609600" y="1676400"/>
            <a:ext cx="4368800" cy="129266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2800" b="1">
                <a:solidFill>
                  <a:srgbClr val="273047"/>
                </a:solidFill>
                <a:latin typeface="Aptos" panose="020B0004020202020204" pitchFamily="34" charset="0"/>
              </a:rPr>
              <a:t>Mais do que lembrar
prazos, ajudamos a
concluir</a:t>
            </a:r>
            <a:r>
              <a:rPr lang="pt-BR" sz="2800" b="1">
                <a:solidFill>
                  <a:srgbClr val="7660D3"/>
                </a:solidFill>
                <a:latin typeface="Aptos" panose="020B0004020202020204" pitchFamily="34" charset="0"/>
              </a:rPr>
              <a:t> cada etapa.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A1CB0C9F-1DF3-E8AE-D5F7-3FDB1D71425E}"/>
              </a:ext>
            </a:extLst>
          </p:cNvPr>
          <p:cNvSpPr txBox="1"/>
          <p:nvPr/>
        </p:nvSpPr>
        <p:spPr>
          <a:xfrm>
            <a:off x="622300" y="3302000"/>
            <a:ext cx="4114800" cy="46166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1500">
                <a:solidFill>
                  <a:srgbClr val="777B8F"/>
                </a:solidFill>
                <a:latin typeface="Aptos" panose="020B0004020202020204" pitchFamily="34" charset="0"/>
              </a:rPr>
              <a:t>Um próximo passo claro para transformar responsabilidades em progresso.</a:t>
            </a:r>
          </a:p>
        </p:txBody>
      </p:sp>
      <p:sp>
        <p:nvSpPr>
          <p:cNvPr id="9" name="Retângulo: Cantos Arredondados 8">
            <a:extLst>
              <a:ext uri="{FF2B5EF4-FFF2-40B4-BE49-F238E27FC236}">
                <a16:creationId xmlns:a16="http://schemas.microsoft.com/office/drawing/2014/main" id="{76EFB101-D0E8-47E3-C4A9-2570E43C7EB1}"/>
              </a:ext>
            </a:extLst>
          </p:cNvPr>
          <p:cNvSpPr/>
          <p:nvPr/>
        </p:nvSpPr>
        <p:spPr>
          <a:xfrm>
            <a:off x="622300" y="4165600"/>
            <a:ext cx="393700" cy="393700"/>
          </a:xfrm>
          <a:prstGeom prst="roundRect">
            <a:avLst>
              <a:gd name="adj" fmla="val 13000"/>
            </a:avLst>
          </a:prstGeom>
          <a:solidFill>
            <a:srgbClr val="ECE7F9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E3A7C45B-2469-91AD-4EBC-2A4C913939DA}"/>
              </a:ext>
            </a:extLst>
          </p:cNvPr>
          <p:cNvSpPr txBox="1"/>
          <p:nvPr/>
        </p:nvSpPr>
        <p:spPr>
          <a:xfrm>
            <a:off x="685800" y="4254500"/>
            <a:ext cx="2921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1200" b="1">
                <a:solidFill>
                  <a:srgbClr val="7660D3"/>
                </a:solidFill>
                <a:latin typeface="Aptos" panose="020B0004020202020204" pitchFamily="34" charset="0"/>
              </a:rPr>
              <a:t>01</a:t>
            </a:r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271DA620-C1F1-BD4B-F477-32B55429AAA5}"/>
              </a:ext>
            </a:extLst>
          </p:cNvPr>
          <p:cNvSpPr txBox="1"/>
          <p:nvPr/>
        </p:nvSpPr>
        <p:spPr>
          <a:xfrm>
            <a:off x="1181100" y="4152900"/>
            <a:ext cx="3733800" cy="2308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1500" b="1">
                <a:solidFill>
                  <a:srgbClr val="273047"/>
                </a:solidFill>
                <a:latin typeface="Aptos" panose="020B0004020202020204" pitchFamily="34" charset="0"/>
              </a:rPr>
              <a:t>Saiba o que fazer agora</a:t>
            </a:r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4A20CEA3-E851-7ADA-5C0B-73B35069DC47}"/>
              </a:ext>
            </a:extLst>
          </p:cNvPr>
          <p:cNvSpPr txBox="1"/>
          <p:nvPr/>
        </p:nvSpPr>
        <p:spPr>
          <a:xfrm>
            <a:off x="1181100" y="4457700"/>
            <a:ext cx="3784600" cy="16158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1050">
                <a:solidFill>
                  <a:srgbClr val="7D8093"/>
                </a:solidFill>
                <a:latin typeface="Aptos" panose="020B0004020202020204" pitchFamily="34" charset="0"/>
              </a:rPr>
              <a:t>Prioridades explicáveis e próximo passo.</a:t>
            </a:r>
          </a:p>
        </p:txBody>
      </p:sp>
      <p:sp>
        <p:nvSpPr>
          <p:cNvPr id="13" name="Retângulo: Cantos Arredondados 12">
            <a:extLst>
              <a:ext uri="{FF2B5EF4-FFF2-40B4-BE49-F238E27FC236}">
                <a16:creationId xmlns:a16="http://schemas.microsoft.com/office/drawing/2014/main" id="{1D760B07-A43D-0EF8-7333-62257EFBD9F9}"/>
              </a:ext>
            </a:extLst>
          </p:cNvPr>
          <p:cNvSpPr/>
          <p:nvPr/>
        </p:nvSpPr>
        <p:spPr>
          <a:xfrm>
            <a:off x="622300" y="4864100"/>
            <a:ext cx="393700" cy="393700"/>
          </a:xfrm>
          <a:prstGeom prst="roundRect">
            <a:avLst>
              <a:gd name="adj" fmla="val 13000"/>
            </a:avLst>
          </a:prstGeom>
          <a:solidFill>
            <a:srgbClr val="ECE7F9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1A6A4012-6F19-D59B-1A08-467465125009}"/>
              </a:ext>
            </a:extLst>
          </p:cNvPr>
          <p:cNvSpPr txBox="1"/>
          <p:nvPr/>
        </p:nvSpPr>
        <p:spPr>
          <a:xfrm>
            <a:off x="685800" y="4953000"/>
            <a:ext cx="2921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1200" b="1">
                <a:solidFill>
                  <a:srgbClr val="7660D3"/>
                </a:solidFill>
                <a:latin typeface="Aptos" panose="020B0004020202020204" pitchFamily="34" charset="0"/>
              </a:rPr>
              <a:t>02</a:t>
            </a:r>
          </a:p>
        </p:txBody>
      </p:sp>
      <p:sp>
        <p:nvSpPr>
          <p:cNvPr id="15" name="CaixaDeTexto 14">
            <a:extLst>
              <a:ext uri="{FF2B5EF4-FFF2-40B4-BE49-F238E27FC236}">
                <a16:creationId xmlns:a16="http://schemas.microsoft.com/office/drawing/2014/main" id="{5652C1EC-580F-CC61-5594-D37131B7C3B4}"/>
              </a:ext>
            </a:extLst>
          </p:cNvPr>
          <p:cNvSpPr txBox="1"/>
          <p:nvPr/>
        </p:nvSpPr>
        <p:spPr>
          <a:xfrm>
            <a:off x="1181100" y="4851400"/>
            <a:ext cx="3733800" cy="2308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1500" b="1">
                <a:solidFill>
                  <a:srgbClr val="273047"/>
                </a:solidFill>
                <a:latin typeface="Aptos" panose="020B0004020202020204" pitchFamily="34" charset="0"/>
              </a:rPr>
              <a:t>Avance em pequenas etapas</a:t>
            </a:r>
          </a:p>
        </p:txBody>
      </p:sp>
      <p:sp>
        <p:nvSpPr>
          <p:cNvPr id="16" name="CaixaDeTexto 15">
            <a:extLst>
              <a:ext uri="{FF2B5EF4-FFF2-40B4-BE49-F238E27FC236}">
                <a16:creationId xmlns:a16="http://schemas.microsoft.com/office/drawing/2014/main" id="{2C8083A9-5846-EE47-7FF2-703C39E90A41}"/>
              </a:ext>
            </a:extLst>
          </p:cNvPr>
          <p:cNvSpPr txBox="1"/>
          <p:nvPr/>
        </p:nvSpPr>
        <p:spPr>
          <a:xfrm>
            <a:off x="1181100" y="5156200"/>
            <a:ext cx="3784600" cy="16158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1050">
                <a:solidFill>
                  <a:srgbClr val="7D8093"/>
                </a:solidFill>
                <a:latin typeface="Aptos" panose="020B0004020202020204" pitchFamily="34" charset="0"/>
              </a:rPr>
              <a:t>Checklist, progresso e XP por ações reais.</a:t>
            </a:r>
          </a:p>
        </p:txBody>
      </p:sp>
      <p:sp>
        <p:nvSpPr>
          <p:cNvPr id="17" name="Retângulo: Cantos Arredondados 16">
            <a:extLst>
              <a:ext uri="{FF2B5EF4-FFF2-40B4-BE49-F238E27FC236}">
                <a16:creationId xmlns:a16="http://schemas.microsoft.com/office/drawing/2014/main" id="{8F5C21C7-4F6D-03DD-2366-ECAFA3F9B7AE}"/>
              </a:ext>
            </a:extLst>
          </p:cNvPr>
          <p:cNvSpPr/>
          <p:nvPr/>
        </p:nvSpPr>
        <p:spPr>
          <a:xfrm>
            <a:off x="622300" y="5562600"/>
            <a:ext cx="393700" cy="393700"/>
          </a:xfrm>
          <a:prstGeom prst="roundRect">
            <a:avLst>
              <a:gd name="adj" fmla="val 13000"/>
            </a:avLst>
          </a:prstGeom>
          <a:solidFill>
            <a:srgbClr val="ECE7F9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8" name="CaixaDeTexto 17">
            <a:extLst>
              <a:ext uri="{FF2B5EF4-FFF2-40B4-BE49-F238E27FC236}">
                <a16:creationId xmlns:a16="http://schemas.microsoft.com/office/drawing/2014/main" id="{8D7D0B01-B0EA-4235-0577-4C04E293C7CC}"/>
              </a:ext>
            </a:extLst>
          </p:cNvPr>
          <p:cNvSpPr txBox="1"/>
          <p:nvPr/>
        </p:nvSpPr>
        <p:spPr>
          <a:xfrm>
            <a:off x="685800" y="5651500"/>
            <a:ext cx="2921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1200" b="1">
                <a:solidFill>
                  <a:srgbClr val="7660D3"/>
                </a:solidFill>
                <a:latin typeface="Aptos" panose="020B0004020202020204" pitchFamily="34" charset="0"/>
              </a:rPr>
              <a:t>03</a:t>
            </a:r>
          </a:p>
        </p:txBody>
      </p:sp>
      <p:sp>
        <p:nvSpPr>
          <p:cNvPr id="19" name="CaixaDeTexto 18">
            <a:extLst>
              <a:ext uri="{FF2B5EF4-FFF2-40B4-BE49-F238E27FC236}">
                <a16:creationId xmlns:a16="http://schemas.microsoft.com/office/drawing/2014/main" id="{E5665BF6-7890-E233-E566-07B6C318F7C4}"/>
              </a:ext>
            </a:extLst>
          </p:cNvPr>
          <p:cNvSpPr txBox="1"/>
          <p:nvPr/>
        </p:nvSpPr>
        <p:spPr>
          <a:xfrm>
            <a:off x="1181100" y="5549900"/>
            <a:ext cx="3733800" cy="2308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1500" b="1">
                <a:solidFill>
                  <a:srgbClr val="273047"/>
                </a:solidFill>
                <a:latin typeface="Aptos" panose="020B0004020202020204" pitchFamily="34" charset="0"/>
              </a:rPr>
              <a:t>Continue mesmo sem internet</a:t>
            </a:r>
          </a:p>
        </p:txBody>
      </p:sp>
      <p:sp>
        <p:nvSpPr>
          <p:cNvPr id="20" name="CaixaDeTexto 19">
            <a:extLst>
              <a:ext uri="{FF2B5EF4-FFF2-40B4-BE49-F238E27FC236}">
                <a16:creationId xmlns:a16="http://schemas.microsoft.com/office/drawing/2014/main" id="{8DE53A5B-C290-53CD-302D-81CE8B60A0CC}"/>
              </a:ext>
            </a:extLst>
          </p:cNvPr>
          <p:cNvSpPr txBox="1"/>
          <p:nvPr/>
        </p:nvSpPr>
        <p:spPr>
          <a:xfrm>
            <a:off x="1181100" y="5854700"/>
            <a:ext cx="3784600" cy="16158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1050">
                <a:solidFill>
                  <a:srgbClr val="7D8093"/>
                </a:solidFill>
                <a:latin typeface="Aptos" panose="020B0004020202020204" pitchFamily="34" charset="0"/>
              </a:rPr>
              <a:t>Planejamento e progresso salvos localmente.</a:t>
            </a:r>
          </a:p>
        </p:txBody>
      </p:sp>
      <p:sp>
        <p:nvSpPr>
          <p:cNvPr id="21" name="CaixaDeTexto 20">
            <a:extLst>
              <a:ext uri="{FF2B5EF4-FFF2-40B4-BE49-F238E27FC236}">
                <a16:creationId xmlns:a16="http://schemas.microsoft.com/office/drawing/2014/main" id="{ED0D24EB-7F2D-B93C-C938-E6BC348123B1}"/>
              </a:ext>
            </a:extLst>
          </p:cNvPr>
          <p:cNvSpPr txBox="1"/>
          <p:nvPr/>
        </p:nvSpPr>
        <p:spPr>
          <a:xfrm>
            <a:off x="5461000" y="558800"/>
            <a:ext cx="60325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1200" b="1">
                <a:solidFill>
                  <a:srgbClr val="7660D3"/>
                </a:solidFill>
                <a:latin typeface="Aptos" panose="020B0004020202020204" pitchFamily="34" charset="0"/>
              </a:rPr>
              <a:t>SUA JORNADA ACADÊMICA, ORGANIZADA.</a:t>
            </a:r>
          </a:p>
        </p:txBody>
      </p:sp>
      <p:sp>
        <p:nvSpPr>
          <p:cNvPr id="22" name="CaixaDeTexto 21">
            <a:extLst>
              <a:ext uri="{FF2B5EF4-FFF2-40B4-BE49-F238E27FC236}">
                <a16:creationId xmlns:a16="http://schemas.microsoft.com/office/drawing/2014/main" id="{9307AA6E-C8F7-016E-69A4-24DB1C50A251}"/>
              </a:ext>
            </a:extLst>
          </p:cNvPr>
          <p:cNvSpPr txBox="1"/>
          <p:nvPr/>
        </p:nvSpPr>
        <p:spPr>
          <a:xfrm>
            <a:off x="5461000" y="990600"/>
            <a:ext cx="5842000" cy="55399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b="1">
                <a:solidFill>
                  <a:srgbClr val="353047"/>
                </a:solidFill>
                <a:latin typeface="Aptos" panose="020B0004020202020204" pitchFamily="34" charset="0"/>
              </a:rPr>
              <a:t>Professor publica. Aluno executa.
A Trilha mostra a evolução.</a:t>
            </a:r>
          </a:p>
        </p:txBody>
      </p:sp>
      <p:sp>
        <p:nvSpPr>
          <p:cNvPr id="23" name="CaixaDeTexto 22">
            <a:extLst>
              <a:ext uri="{FF2B5EF4-FFF2-40B4-BE49-F238E27FC236}">
                <a16:creationId xmlns:a16="http://schemas.microsoft.com/office/drawing/2014/main" id="{8BA8A9CB-BAD0-AF39-1813-14AC70226A89}"/>
              </a:ext>
            </a:extLst>
          </p:cNvPr>
          <p:cNvSpPr txBox="1"/>
          <p:nvPr/>
        </p:nvSpPr>
        <p:spPr>
          <a:xfrm>
            <a:off x="5461000" y="1600200"/>
            <a:ext cx="57658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900" b="1">
                <a:solidFill>
                  <a:srgbClr val="9687B6"/>
                </a:solidFill>
                <a:latin typeface="Aptos" panose="020B0004020202020204" pitchFamily="34" charset="0"/>
              </a:rPr>
              <a:t>INTERFACE REAL · DESKTOP + MOBILE</a:t>
            </a:r>
          </a:p>
        </p:txBody>
      </p:sp>
      <p:sp>
        <p:nvSpPr>
          <p:cNvPr id="24" name="Retângulo: Cantos Arredondados 23">
            <a:extLst>
              <a:ext uri="{FF2B5EF4-FFF2-40B4-BE49-F238E27FC236}">
                <a16:creationId xmlns:a16="http://schemas.microsoft.com/office/drawing/2014/main" id="{94985810-FB77-1ADE-7150-C6985ED8F3AF}"/>
              </a:ext>
            </a:extLst>
          </p:cNvPr>
          <p:cNvSpPr/>
          <p:nvPr/>
        </p:nvSpPr>
        <p:spPr>
          <a:xfrm>
            <a:off x="5372100" y="1905000"/>
            <a:ext cx="6210300" cy="453390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9050" cap="flat" cmpd="sng" algn="ctr">
            <a:solidFill>
              <a:srgbClr val="DFD7EF"/>
            </a:solidFill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5" name="Retângulo 24">
            <a:extLst>
              <a:ext uri="{FF2B5EF4-FFF2-40B4-BE49-F238E27FC236}">
                <a16:creationId xmlns:a16="http://schemas.microsoft.com/office/drawing/2014/main" id="{2BC0FB7F-BA19-08DE-484B-1B30C2718F9C}"/>
              </a:ext>
            </a:extLst>
          </p:cNvPr>
          <p:cNvSpPr/>
          <p:nvPr/>
        </p:nvSpPr>
        <p:spPr>
          <a:xfrm>
            <a:off x="5384800" y="1917700"/>
            <a:ext cx="6184900" cy="228600"/>
          </a:xfrm>
          <a:prstGeom prst="rect">
            <a:avLst/>
          </a:prstGeom>
          <a:solidFill>
            <a:srgbClr val="FAF8F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6" name="Elipse 25">
            <a:extLst>
              <a:ext uri="{FF2B5EF4-FFF2-40B4-BE49-F238E27FC236}">
                <a16:creationId xmlns:a16="http://schemas.microsoft.com/office/drawing/2014/main" id="{4D311320-AF7C-503E-A812-D2D9DC564AF7}"/>
              </a:ext>
            </a:extLst>
          </p:cNvPr>
          <p:cNvSpPr/>
          <p:nvPr/>
        </p:nvSpPr>
        <p:spPr>
          <a:xfrm>
            <a:off x="5511800" y="1993900"/>
            <a:ext cx="50800" cy="50800"/>
          </a:xfrm>
          <a:prstGeom prst="ellipse">
            <a:avLst/>
          </a:prstGeom>
          <a:solidFill>
            <a:srgbClr val="C8B9E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7" name="Elipse 26">
            <a:extLst>
              <a:ext uri="{FF2B5EF4-FFF2-40B4-BE49-F238E27FC236}">
                <a16:creationId xmlns:a16="http://schemas.microsoft.com/office/drawing/2014/main" id="{784E57A5-1700-E35B-3316-C555EDC7CD91}"/>
              </a:ext>
            </a:extLst>
          </p:cNvPr>
          <p:cNvSpPr/>
          <p:nvPr/>
        </p:nvSpPr>
        <p:spPr>
          <a:xfrm>
            <a:off x="5638800" y="1993900"/>
            <a:ext cx="50800" cy="50800"/>
          </a:xfrm>
          <a:prstGeom prst="ellipse">
            <a:avLst/>
          </a:prstGeom>
          <a:solidFill>
            <a:srgbClr val="C8B9E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8" name="Elipse 27">
            <a:extLst>
              <a:ext uri="{FF2B5EF4-FFF2-40B4-BE49-F238E27FC236}">
                <a16:creationId xmlns:a16="http://schemas.microsoft.com/office/drawing/2014/main" id="{0CB94428-57F4-7967-0AB9-1B87760EABEB}"/>
              </a:ext>
            </a:extLst>
          </p:cNvPr>
          <p:cNvSpPr/>
          <p:nvPr/>
        </p:nvSpPr>
        <p:spPr>
          <a:xfrm>
            <a:off x="5765800" y="1993900"/>
            <a:ext cx="50800" cy="50800"/>
          </a:xfrm>
          <a:prstGeom prst="ellipse">
            <a:avLst/>
          </a:prstGeom>
          <a:solidFill>
            <a:srgbClr val="C8B9E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9" name="CaixaDeTexto 28">
            <a:extLst>
              <a:ext uri="{FF2B5EF4-FFF2-40B4-BE49-F238E27FC236}">
                <a16:creationId xmlns:a16="http://schemas.microsoft.com/office/drawing/2014/main" id="{FB6BECDC-DF09-A78D-EF45-87E70B2C89C9}"/>
              </a:ext>
            </a:extLst>
          </p:cNvPr>
          <p:cNvSpPr txBox="1"/>
          <p:nvPr/>
        </p:nvSpPr>
        <p:spPr>
          <a:xfrm>
            <a:off x="6858000" y="1968500"/>
            <a:ext cx="3390900" cy="9233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600">
                <a:solidFill>
                  <a:srgbClr val="968BA8"/>
                </a:solidFill>
                <a:latin typeface="Aptos" panose="020B0004020202020204" pitchFamily="34" charset="0"/>
              </a:rPr>
              <a:t>trilha · ambiente de demonstração</a:t>
            </a:r>
          </a:p>
        </p:txBody>
      </p:sp>
      <p:pic>
        <p:nvPicPr>
          <p:cNvPr id="31" name="Imagem 30" descr="Captura real da Trilha no desktop: próximo passo, atividades pendentes, prazos e evolução por XP.">
            <a:extLst>
              <a:ext uri="{FF2B5EF4-FFF2-40B4-BE49-F238E27FC236}">
                <a16:creationId xmlns:a16="http://schemas.microsoft.com/office/drawing/2014/main" id="{ECC94F8F-31C8-16D3-DFE4-DCB052F2C884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48300" y="2197100"/>
            <a:ext cx="6057900" cy="4165600"/>
          </a:xfrm>
          <a:prstGeom prst="rect">
            <a:avLst/>
          </a:prstGeom>
        </p:spPr>
      </p:pic>
      <p:sp>
        <p:nvSpPr>
          <p:cNvPr id="32" name="Retângulo: Cantos Arredondados 31">
            <a:extLst>
              <a:ext uri="{FF2B5EF4-FFF2-40B4-BE49-F238E27FC236}">
                <a16:creationId xmlns:a16="http://schemas.microsoft.com/office/drawing/2014/main" id="{5D922248-ABC5-A9DA-85A1-A3546029A917}"/>
              </a:ext>
            </a:extLst>
          </p:cNvPr>
          <p:cNvSpPr/>
          <p:nvPr/>
        </p:nvSpPr>
        <p:spPr>
          <a:xfrm>
            <a:off x="9969500" y="2844800"/>
            <a:ext cx="1651000" cy="3505200"/>
          </a:xfrm>
          <a:prstGeom prst="roundRect">
            <a:avLst>
              <a:gd name="adj" fmla="val 13000"/>
            </a:avLst>
          </a:prstGeom>
          <a:solidFill>
            <a:srgbClr val="2F2942"/>
          </a:solidFill>
          <a:ln w="19050" cap="flat" cmpd="sng" algn="ctr">
            <a:noFill/>
            <a:prstDash val="solid"/>
            <a:miter lim="800000"/>
          </a:ln>
          <a:effectLst>
            <a:outerShdw blurRad="177800" dist="99190" dir="7788330" rotWithShape="0">
              <a:scrgbClr r="0" g="0" b="0">
                <a:alpha val="22000"/>
              </a:scrgbClr>
            </a:outerShdw>
          </a:effectLst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34" name="Imagem 33" descr="Captura real da interface mobile: ação Meu próximo passo e indicadores acadêmicos.">
            <a:extLst>
              <a:ext uri="{FF2B5EF4-FFF2-40B4-BE49-F238E27FC236}">
                <a16:creationId xmlns:a16="http://schemas.microsoft.com/office/drawing/2014/main" id="{D7E2E867-F572-093D-A003-611E7691FDAA}"/>
              </a:ext>
            </a:extLst>
          </p:cNvPr>
          <p:cNvPicPr>
            <a:picLocks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45700" y="3022600"/>
            <a:ext cx="1498600" cy="3243580"/>
          </a:xfrm>
          <a:prstGeom prst="rect">
            <a:avLst/>
          </a:prstGeom>
        </p:spPr>
      </p:pic>
      <p:sp>
        <p:nvSpPr>
          <p:cNvPr id="35" name="Retângulo: Cantos Arredondados 34">
            <a:extLst>
              <a:ext uri="{FF2B5EF4-FFF2-40B4-BE49-F238E27FC236}">
                <a16:creationId xmlns:a16="http://schemas.microsoft.com/office/drawing/2014/main" id="{AA58EC85-648F-5378-25CB-FCF9773AFE37}"/>
              </a:ext>
            </a:extLst>
          </p:cNvPr>
          <p:cNvSpPr/>
          <p:nvPr/>
        </p:nvSpPr>
        <p:spPr>
          <a:xfrm>
            <a:off x="10502900" y="2908300"/>
            <a:ext cx="571500" cy="38100"/>
          </a:xfrm>
          <a:prstGeom prst="roundRect">
            <a:avLst>
              <a:gd name="adj" fmla="val 13000"/>
            </a:avLst>
          </a:prstGeom>
          <a:solidFill>
            <a:srgbClr val="70667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6" name="CaixaDeTexto 35">
            <a:extLst>
              <a:ext uri="{FF2B5EF4-FFF2-40B4-BE49-F238E27FC236}">
                <a16:creationId xmlns:a16="http://schemas.microsoft.com/office/drawing/2014/main" id="{41003AB0-983B-F058-55AE-3566A1317F5D}"/>
              </a:ext>
            </a:extLst>
          </p:cNvPr>
          <p:cNvSpPr txBox="1"/>
          <p:nvPr/>
        </p:nvSpPr>
        <p:spPr>
          <a:xfrm>
            <a:off x="622300" y="6477000"/>
            <a:ext cx="43180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900" b="1">
                <a:solidFill>
                  <a:srgbClr val="9D97AD"/>
                </a:solidFill>
                <a:latin typeface="Aptos" panose="020B0004020202020204" pitchFamily="34" charset="0"/>
              </a:rPr>
              <a:t>PITCH · PROTÓTIPO FUNCIONAL</a:t>
            </a:r>
          </a:p>
        </p:txBody>
      </p:sp>
      <p:sp>
        <p:nvSpPr>
          <p:cNvPr id="37" name="CaixaDeTexto 36">
            <a:extLst>
              <a:ext uri="{FF2B5EF4-FFF2-40B4-BE49-F238E27FC236}">
                <a16:creationId xmlns:a16="http://schemas.microsoft.com/office/drawing/2014/main" id="{C8F9481B-96CB-AE98-7721-69518677AB42}"/>
              </a:ext>
            </a:extLst>
          </p:cNvPr>
          <p:cNvSpPr txBox="1"/>
          <p:nvPr/>
        </p:nvSpPr>
        <p:spPr>
          <a:xfrm>
            <a:off x="5461000" y="6565900"/>
            <a:ext cx="61468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900">
                <a:solidFill>
                  <a:srgbClr val="8D80A4"/>
                </a:solidFill>
                <a:latin typeface="Aptos" panose="020B0004020202020204" pitchFamily="34" charset="0"/>
              </a:rPr>
              <a:t>Dados locais • perfis demonstrativos • sem serviços externos</a:t>
            </a:r>
          </a:p>
        </p:txBody>
      </p:sp>
    </p:spTree>
    <p:extLst>
      <p:ext uri="{BB962C8B-B14F-4D97-AF65-F5344CB8AC3E}">
        <p14:creationId xmlns:p14="http://schemas.microsoft.com/office/powerpoint/2010/main" val="379788912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EBCE3BA3-D16A-3DD2-F489-DFD9671430CD}"/>
              </a:ext>
            </a:extLst>
          </p:cNvPr>
          <p:cNvSpPr/>
          <p:nvPr/>
        </p:nvSpPr>
        <p:spPr>
          <a:xfrm>
            <a:off x="609600" y="406400"/>
            <a:ext cx="63500" cy="254000"/>
          </a:xfrm>
          <a:prstGeom prst="rect">
            <a:avLst/>
          </a:prstGeom>
          <a:solidFill>
            <a:srgbClr val="7660D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51A1047E-63A1-D6D2-79B7-839C282CE2DC}"/>
              </a:ext>
            </a:extLst>
          </p:cNvPr>
          <p:cNvSpPr txBox="1"/>
          <p:nvPr/>
        </p:nvSpPr>
        <p:spPr>
          <a:xfrm>
            <a:off x="812800" y="431800"/>
            <a:ext cx="102235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1000" b="1">
                <a:solidFill>
                  <a:srgbClr val="7660D3"/>
                </a:solidFill>
                <a:latin typeface="Aptos" panose="020B0004020202020204" pitchFamily="34" charset="0"/>
              </a:rPr>
              <a:t>VISÃO DA APRESENTAÇÃO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2BD66306-0CD9-9B97-1B14-A2FC8D26BF7A}"/>
              </a:ext>
            </a:extLst>
          </p:cNvPr>
          <p:cNvSpPr txBox="1"/>
          <p:nvPr/>
        </p:nvSpPr>
        <p:spPr>
          <a:xfrm>
            <a:off x="609600" y="889000"/>
            <a:ext cx="10985500" cy="44627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2900" b="1">
                <a:solidFill>
                  <a:srgbClr val="273047"/>
                </a:solidFill>
                <a:latin typeface="Aptos" panose="020B0004020202020204" pitchFamily="34" charset="0"/>
              </a:rPr>
              <a:t>Uma proposta construída em seis etapas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C52DF894-C74A-9052-B71C-F33EEFF4679D}"/>
              </a:ext>
            </a:extLst>
          </p:cNvPr>
          <p:cNvSpPr txBox="1"/>
          <p:nvPr/>
        </p:nvSpPr>
        <p:spPr>
          <a:xfrm>
            <a:off x="609600" y="1816100"/>
            <a:ext cx="10998200" cy="2000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1300">
                <a:solidFill>
                  <a:srgbClr val="7B7F93"/>
                </a:solidFill>
                <a:latin typeface="Aptos" panose="020B0004020202020204" pitchFamily="34" charset="0"/>
              </a:rPr>
              <a:t>Do entendimento do problema à demonstração funcional.</a:t>
            </a:r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93F84B8E-E2CA-33C9-ACFA-4885183FDA6F}"/>
              </a:ext>
            </a:extLst>
          </p:cNvPr>
          <p:cNvSpPr/>
          <p:nvPr/>
        </p:nvSpPr>
        <p:spPr>
          <a:xfrm>
            <a:off x="609600" y="6426200"/>
            <a:ext cx="10972800" cy="12700"/>
          </a:xfrm>
          <a:prstGeom prst="rect">
            <a:avLst/>
          </a:prstGeom>
          <a:solidFill>
            <a:srgbClr val="E2DFE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9F2C5549-9420-7578-4B5E-DAA7899633F8}"/>
              </a:ext>
            </a:extLst>
          </p:cNvPr>
          <p:cNvSpPr txBox="1"/>
          <p:nvPr/>
        </p:nvSpPr>
        <p:spPr>
          <a:xfrm>
            <a:off x="609600" y="6553200"/>
            <a:ext cx="9652000" cy="12311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800">
                <a:solidFill>
                  <a:srgbClr val="9690A5"/>
                </a:solidFill>
                <a:latin typeface="Aptos" panose="020B0004020202020204" pitchFamily="34" charset="0"/>
              </a:rPr>
              <a:t>Fonte: Estrutura original · Etapas 1 a 6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E7B0AA28-5394-17F7-3698-2ECC6FEA786D}"/>
              </a:ext>
            </a:extLst>
          </p:cNvPr>
          <p:cNvSpPr txBox="1"/>
          <p:nvPr/>
        </p:nvSpPr>
        <p:spPr>
          <a:xfrm>
            <a:off x="10896600" y="6515100"/>
            <a:ext cx="7493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1000" b="1">
                <a:solidFill>
                  <a:srgbClr val="7660D3"/>
                </a:solidFill>
                <a:latin typeface="Aptos" panose="020B0004020202020204" pitchFamily="34" charset="0"/>
              </a:rPr>
              <a:t>02 / 40</a:t>
            </a:r>
          </a:p>
        </p:txBody>
      </p:sp>
      <p:sp>
        <p:nvSpPr>
          <p:cNvPr id="9" name="Retângulo: Cantos Arredondados 8">
            <a:extLst>
              <a:ext uri="{FF2B5EF4-FFF2-40B4-BE49-F238E27FC236}">
                <a16:creationId xmlns:a16="http://schemas.microsoft.com/office/drawing/2014/main" id="{2B0E9359-51F0-F16A-5E00-20F696F34629}"/>
              </a:ext>
            </a:extLst>
          </p:cNvPr>
          <p:cNvSpPr/>
          <p:nvPr/>
        </p:nvSpPr>
        <p:spPr>
          <a:xfrm>
            <a:off x="609600" y="2476500"/>
            <a:ext cx="3522133" cy="1778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B0CC12BA-CE79-8B6F-FC0A-D7DA5C420E3C}"/>
              </a:ext>
            </a:extLst>
          </p:cNvPr>
          <p:cNvSpPr txBox="1"/>
          <p:nvPr/>
        </p:nvSpPr>
        <p:spPr>
          <a:xfrm>
            <a:off x="838200" y="2717800"/>
            <a:ext cx="3064933" cy="2616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1700" b="1">
                <a:solidFill>
                  <a:srgbClr val="6550B5"/>
                </a:solidFill>
                <a:latin typeface="Aptos" panose="020B0004020202020204" pitchFamily="34" charset="0"/>
              </a:rPr>
              <a:t>01 · Entender</a:t>
            </a:r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732CCD5B-CF2E-4557-B4D6-35E190D8C08C}"/>
              </a:ext>
            </a:extLst>
          </p:cNvPr>
          <p:cNvSpPr txBox="1"/>
          <p:nvPr/>
        </p:nvSpPr>
        <p:spPr>
          <a:xfrm>
            <a:off x="838200" y="3390900"/>
            <a:ext cx="3064933" cy="43088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1400">
                <a:solidFill>
                  <a:srgbClr val="626A80"/>
                </a:solidFill>
                <a:latin typeface="Aptos" panose="020B0004020202020204" pitchFamily="34" charset="0"/>
              </a:rPr>
              <a:t>Usuários, problema aparente, hipóteses e pergunta norteadora.</a:t>
            </a:r>
          </a:p>
        </p:txBody>
      </p:sp>
      <p:sp>
        <p:nvSpPr>
          <p:cNvPr id="12" name="Retângulo: Cantos Arredondados 11">
            <a:extLst>
              <a:ext uri="{FF2B5EF4-FFF2-40B4-BE49-F238E27FC236}">
                <a16:creationId xmlns:a16="http://schemas.microsoft.com/office/drawing/2014/main" id="{32D39B28-87CF-8FDD-C74E-93978CBB4A1F}"/>
              </a:ext>
            </a:extLst>
          </p:cNvPr>
          <p:cNvSpPr/>
          <p:nvPr/>
        </p:nvSpPr>
        <p:spPr>
          <a:xfrm>
            <a:off x="4334933" y="2476500"/>
            <a:ext cx="3522134" cy="1778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76D0C1C3-13FE-6AD7-9563-AA4FDB2F507F}"/>
              </a:ext>
            </a:extLst>
          </p:cNvPr>
          <p:cNvSpPr txBox="1"/>
          <p:nvPr/>
        </p:nvSpPr>
        <p:spPr>
          <a:xfrm>
            <a:off x="4563533" y="2717800"/>
            <a:ext cx="3064933" cy="2616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1700" b="1">
                <a:solidFill>
                  <a:srgbClr val="6550B5"/>
                </a:solidFill>
                <a:latin typeface="Aptos" panose="020B0004020202020204" pitchFamily="34" charset="0"/>
              </a:rPr>
              <a:t>02 · Explorar</a:t>
            </a:r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4CD56255-2665-4A26-1C9B-C3980E011208}"/>
              </a:ext>
            </a:extLst>
          </p:cNvPr>
          <p:cNvSpPr txBox="1"/>
          <p:nvPr/>
        </p:nvSpPr>
        <p:spPr>
          <a:xfrm>
            <a:off x="4563533" y="3390900"/>
            <a:ext cx="3064933" cy="43088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1400">
                <a:solidFill>
                  <a:srgbClr val="626A80"/>
                </a:solidFill>
                <a:latin typeface="Aptos" panose="020B0004020202020204" pitchFamily="34" charset="0"/>
              </a:rPr>
              <a:t>22 ideias organizadas em cinco pilares e três diferenciais.</a:t>
            </a:r>
          </a:p>
        </p:txBody>
      </p:sp>
      <p:sp>
        <p:nvSpPr>
          <p:cNvPr id="15" name="Retângulo: Cantos Arredondados 14">
            <a:extLst>
              <a:ext uri="{FF2B5EF4-FFF2-40B4-BE49-F238E27FC236}">
                <a16:creationId xmlns:a16="http://schemas.microsoft.com/office/drawing/2014/main" id="{7774304A-C8EF-0CEA-CD53-BFE642D75C61}"/>
              </a:ext>
            </a:extLst>
          </p:cNvPr>
          <p:cNvSpPr/>
          <p:nvPr/>
        </p:nvSpPr>
        <p:spPr>
          <a:xfrm>
            <a:off x="8060267" y="2476500"/>
            <a:ext cx="3522133" cy="1778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6" name="CaixaDeTexto 15">
            <a:extLst>
              <a:ext uri="{FF2B5EF4-FFF2-40B4-BE49-F238E27FC236}">
                <a16:creationId xmlns:a16="http://schemas.microsoft.com/office/drawing/2014/main" id="{7097AE1E-2001-9F21-9FA1-7A8F47031343}"/>
              </a:ext>
            </a:extLst>
          </p:cNvPr>
          <p:cNvSpPr txBox="1"/>
          <p:nvPr/>
        </p:nvSpPr>
        <p:spPr>
          <a:xfrm>
            <a:off x="8288867" y="2717800"/>
            <a:ext cx="3064933" cy="2616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1700" b="1">
                <a:solidFill>
                  <a:srgbClr val="6550B5"/>
                </a:solidFill>
                <a:latin typeface="Aptos" panose="020B0004020202020204" pitchFamily="34" charset="0"/>
              </a:rPr>
              <a:t>03 · Restringir</a:t>
            </a:r>
          </a:p>
        </p:txBody>
      </p:sp>
      <p:sp>
        <p:nvSpPr>
          <p:cNvPr id="17" name="CaixaDeTexto 16">
            <a:extLst>
              <a:ext uri="{FF2B5EF4-FFF2-40B4-BE49-F238E27FC236}">
                <a16:creationId xmlns:a16="http://schemas.microsoft.com/office/drawing/2014/main" id="{3DB9F407-FADC-E722-1F8A-3E0DCAB41235}"/>
              </a:ext>
            </a:extLst>
          </p:cNvPr>
          <p:cNvSpPr txBox="1"/>
          <p:nvPr/>
        </p:nvSpPr>
        <p:spPr>
          <a:xfrm>
            <a:off x="8288867" y="3390900"/>
            <a:ext cx="3064933" cy="43088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1400">
                <a:solidFill>
                  <a:srgbClr val="626A80"/>
                </a:solidFill>
                <a:latin typeface="Aptos" panose="020B0004020202020204" pitchFamily="34" charset="0"/>
              </a:rPr>
              <a:t>Offline, gamificação e baixa familiaridade tecnológica.</a:t>
            </a:r>
          </a:p>
        </p:txBody>
      </p:sp>
      <p:sp>
        <p:nvSpPr>
          <p:cNvPr id="18" name="Retângulo: Cantos Arredondados 17">
            <a:extLst>
              <a:ext uri="{FF2B5EF4-FFF2-40B4-BE49-F238E27FC236}">
                <a16:creationId xmlns:a16="http://schemas.microsoft.com/office/drawing/2014/main" id="{6110B48D-D033-91DA-134C-90BD860F692D}"/>
              </a:ext>
            </a:extLst>
          </p:cNvPr>
          <p:cNvSpPr/>
          <p:nvPr/>
        </p:nvSpPr>
        <p:spPr>
          <a:xfrm>
            <a:off x="609600" y="4457700"/>
            <a:ext cx="3522133" cy="1778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9" name="CaixaDeTexto 18">
            <a:extLst>
              <a:ext uri="{FF2B5EF4-FFF2-40B4-BE49-F238E27FC236}">
                <a16:creationId xmlns:a16="http://schemas.microsoft.com/office/drawing/2014/main" id="{E306B059-25A1-61B3-32F4-259790BAEB0A}"/>
              </a:ext>
            </a:extLst>
          </p:cNvPr>
          <p:cNvSpPr txBox="1"/>
          <p:nvPr/>
        </p:nvSpPr>
        <p:spPr>
          <a:xfrm>
            <a:off x="838200" y="4699000"/>
            <a:ext cx="3064933" cy="2616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1700" b="1">
                <a:solidFill>
                  <a:srgbClr val="6550B5"/>
                </a:solidFill>
                <a:latin typeface="Aptos" panose="020B0004020202020204" pitchFamily="34" charset="0"/>
              </a:rPr>
              <a:t>04 · Transformar</a:t>
            </a:r>
          </a:p>
        </p:txBody>
      </p:sp>
      <p:sp>
        <p:nvSpPr>
          <p:cNvPr id="20" name="CaixaDeTexto 19">
            <a:extLst>
              <a:ext uri="{FF2B5EF4-FFF2-40B4-BE49-F238E27FC236}">
                <a16:creationId xmlns:a16="http://schemas.microsoft.com/office/drawing/2014/main" id="{B2021740-01F5-820E-7839-348CE3D767FF}"/>
              </a:ext>
            </a:extLst>
          </p:cNvPr>
          <p:cNvSpPr txBox="1"/>
          <p:nvPr/>
        </p:nvSpPr>
        <p:spPr>
          <a:xfrm>
            <a:off x="838200" y="5372100"/>
            <a:ext cx="3064933" cy="43088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1400">
                <a:solidFill>
                  <a:srgbClr val="626A80"/>
                </a:solidFill>
                <a:latin typeface="Aptos" panose="020B0004020202020204" pitchFamily="34" charset="0"/>
              </a:rPr>
              <a:t>SCAMPER aplicado ao produto e à experiência.</a:t>
            </a:r>
          </a:p>
        </p:txBody>
      </p:sp>
      <p:sp>
        <p:nvSpPr>
          <p:cNvPr id="21" name="Retângulo: Cantos Arredondados 20">
            <a:extLst>
              <a:ext uri="{FF2B5EF4-FFF2-40B4-BE49-F238E27FC236}">
                <a16:creationId xmlns:a16="http://schemas.microsoft.com/office/drawing/2014/main" id="{7193E04F-7AE5-3354-F919-A959E727DBBB}"/>
              </a:ext>
            </a:extLst>
          </p:cNvPr>
          <p:cNvSpPr/>
          <p:nvPr/>
        </p:nvSpPr>
        <p:spPr>
          <a:xfrm>
            <a:off x="4334933" y="4457700"/>
            <a:ext cx="3522134" cy="1778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2" name="CaixaDeTexto 21">
            <a:extLst>
              <a:ext uri="{FF2B5EF4-FFF2-40B4-BE49-F238E27FC236}">
                <a16:creationId xmlns:a16="http://schemas.microsoft.com/office/drawing/2014/main" id="{0A4F48C5-55D2-F6C5-CC9C-D80478C40376}"/>
              </a:ext>
            </a:extLst>
          </p:cNvPr>
          <p:cNvSpPr txBox="1"/>
          <p:nvPr/>
        </p:nvSpPr>
        <p:spPr>
          <a:xfrm>
            <a:off x="4563533" y="4699000"/>
            <a:ext cx="3064933" cy="2616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1700" b="1">
                <a:solidFill>
                  <a:srgbClr val="6550B5"/>
                </a:solidFill>
                <a:latin typeface="Aptos" panose="020B0004020202020204" pitchFamily="34" charset="0"/>
              </a:rPr>
              <a:t>05 · Antecipar</a:t>
            </a:r>
          </a:p>
        </p:txBody>
      </p:sp>
      <p:sp>
        <p:nvSpPr>
          <p:cNvPr id="23" name="CaixaDeTexto 22">
            <a:extLst>
              <a:ext uri="{FF2B5EF4-FFF2-40B4-BE49-F238E27FC236}">
                <a16:creationId xmlns:a16="http://schemas.microsoft.com/office/drawing/2014/main" id="{E91777FE-91CA-DB83-C271-1485345D754D}"/>
              </a:ext>
            </a:extLst>
          </p:cNvPr>
          <p:cNvSpPr txBox="1"/>
          <p:nvPr/>
        </p:nvSpPr>
        <p:spPr>
          <a:xfrm>
            <a:off x="4563533" y="5372100"/>
            <a:ext cx="3064933" cy="43088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1400">
                <a:solidFill>
                  <a:srgbClr val="626A80"/>
                </a:solidFill>
                <a:latin typeface="Aptos" panose="020B0004020202020204" pitchFamily="34" charset="0"/>
              </a:rPr>
              <a:t>Cenários “E se…?” e limites do protótipo.</a:t>
            </a:r>
          </a:p>
        </p:txBody>
      </p:sp>
      <p:sp>
        <p:nvSpPr>
          <p:cNvPr id="24" name="Retângulo: Cantos Arredondados 23">
            <a:extLst>
              <a:ext uri="{FF2B5EF4-FFF2-40B4-BE49-F238E27FC236}">
                <a16:creationId xmlns:a16="http://schemas.microsoft.com/office/drawing/2014/main" id="{1E61C3B6-5F30-0CA3-301A-ED5AB26F0824}"/>
              </a:ext>
            </a:extLst>
          </p:cNvPr>
          <p:cNvSpPr/>
          <p:nvPr/>
        </p:nvSpPr>
        <p:spPr>
          <a:xfrm>
            <a:off x="8060267" y="4457700"/>
            <a:ext cx="3522133" cy="1778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5" name="CaixaDeTexto 24">
            <a:extLst>
              <a:ext uri="{FF2B5EF4-FFF2-40B4-BE49-F238E27FC236}">
                <a16:creationId xmlns:a16="http://schemas.microsoft.com/office/drawing/2014/main" id="{3A7D37F3-EC63-CFFD-7B41-A575DE656A2B}"/>
              </a:ext>
            </a:extLst>
          </p:cNvPr>
          <p:cNvSpPr txBox="1"/>
          <p:nvPr/>
        </p:nvSpPr>
        <p:spPr>
          <a:xfrm>
            <a:off x="8288867" y="4699000"/>
            <a:ext cx="3064933" cy="2616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1700" b="1">
                <a:solidFill>
                  <a:srgbClr val="6550B5"/>
                </a:solidFill>
                <a:latin typeface="Aptos" panose="020B0004020202020204" pitchFamily="34" charset="0"/>
              </a:rPr>
              <a:t>06 · Demonstrar</a:t>
            </a:r>
          </a:p>
        </p:txBody>
      </p:sp>
      <p:sp>
        <p:nvSpPr>
          <p:cNvPr id="26" name="CaixaDeTexto 25">
            <a:extLst>
              <a:ext uri="{FF2B5EF4-FFF2-40B4-BE49-F238E27FC236}">
                <a16:creationId xmlns:a16="http://schemas.microsoft.com/office/drawing/2014/main" id="{D6241B3D-1ED1-9C1C-7D0D-85FC707FD309}"/>
              </a:ext>
            </a:extLst>
          </p:cNvPr>
          <p:cNvSpPr txBox="1"/>
          <p:nvPr/>
        </p:nvSpPr>
        <p:spPr>
          <a:xfrm>
            <a:off x="8288867" y="5372100"/>
            <a:ext cx="3064933" cy="43088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1400">
                <a:solidFill>
                  <a:srgbClr val="626A80"/>
                </a:solidFill>
                <a:latin typeface="Aptos" panose="020B0004020202020204" pitchFamily="34" charset="0"/>
              </a:rPr>
              <a:t>Jornada, telas, arquitetura, pitch e validação futura.</a:t>
            </a:r>
          </a:p>
        </p:txBody>
      </p:sp>
    </p:spTree>
    <p:extLst>
      <p:ext uri="{BB962C8B-B14F-4D97-AF65-F5344CB8AC3E}">
        <p14:creationId xmlns:p14="http://schemas.microsoft.com/office/powerpoint/2010/main" val="119131407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32DE7EC2-9969-A2A0-E806-CEAC247B0B04}"/>
              </a:ext>
            </a:extLst>
          </p:cNvPr>
          <p:cNvSpPr/>
          <p:nvPr/>
        </p:nvSpPr>
        <p:spPr>
          <a:xfrm>
            <a:off x="609600" y="406400"/>
            <a:ext cx="63500" cy="254000"/>
          </a:xfrm>
          <a:prstGeom prst="rect">
            <a:avLst/>
          </a:prstGeom>
          <a:solidFill>
            <a:srgbClr val="7660D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12F5BAEF-B623-FA84-9771-A2E5D4FAB2BA}"/>
              </a:ext>
            </a:extLst>
          </p:cNvPr>
          <p:cNvSpPr txBox="1"/>
          <p:nvPr/>
        </p:nvSpPr>
        <p:spPr>
          <a:xfrm>
            <a:off x="812800" y="431800"/>
            <a:ext cx="102235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1000" b="1">
                <a:solidFill>
                  <a:srgbClr val="7660D3"/>
                </a:solidFill>
                <a:latin typeface="Aptos" panose="020B0004020202020204" pitchFamily="34" charset="0"/>
              </a:rPr>
              <a:t>ETAPA 1 · ENTENDER ANTES DE CRIAR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6B4E6A25-57A0-C7B3-DF39-40C93EF21540}"/>
              </a:ext>
            </a:extLst>
          </p:cNvPr>
          <p:cNvSpPr txBox="1"/>
          <p:nvPr/>
        </p:nvSpPr>
        <p:spPr>
          <a:xfrm>
            <a:off x="609600" y="889000"/>
            <a:ext cx="10985500" cy="44627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2900" b="1">
                <a:solidFill>
                  <a:srgbClr val="273047"/>
                </a:solidFill>
                <a:latin typeface="Aptos" panose="020B0004020202020204" pitchFamily="34" charset="0"/>
              </a:rPr>
              <a:t>Mais uma agenda resolveria o problema?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AD34F3F2-6DD0-27F7-E962-53D91F6B90DD}"/>
              </a:ext>
            </a:extLst>
          </p:cNvPr>
          <p:cNvSpPr txBox="1"/>
          <p:nvPr/>
        </p:nvSpPr>
        <p:spPr>
          <a:xfrm>
            <a:off x="609600" y="1816100"/>
            <a:ext cx="10998200" cy="2000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1300">
                <a:solidFill>
                  <a:srgbClr val="7B7F93"/>
                </a:solidFill>
                <a:latin typeface="Aptos" panose="020B0004020202020204" pitchFamily="34" charset="0"/>
              </a:rPr>
              <a:t>A escola percebe atrasos em trabalhos, avaliações, atividades e projetos.</a:t>
            </a:r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483F00AE-5522-0B71-53DC-B2FCD5E9CB5A}"/>
              </a:ext>
            </a:extLst>
          </p:cNvPr>
          <p:cNvSpPr/>
          <p:nvPr/>
        </p:nvSpPr>
        <p:spPr>
          <a:xfrm>
            <a:off x="609600" y="6426200"/>
            <a:ext cx="10972800" cy="12700"/>
          </a:xfrm>
          <a:prstGeom prst="rect">
            <a:avLst/>
          </a:prstGeom>
          <a:solidFill>
            <a:srgbClr val="E2DFE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19A455F5-91C8-3146-06EA-7451F9D28376}"/>
              </a:ext>
            </a:extLst>
          </p:cNvPr>
          <p:cNvSpPr txBox="1"/>
          <p:nvPr/>
        </p:nvSpPr>
        <p:spPr>
          <a:xfrm>
            <a:off x="609600" y="6553200"/>
            <a:ext cx="9652000" cy="12311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800">
                <a:solidFill>
                  <a:srgbClr val="9690A5"/>
                </a:solidFill>
                <a:latin typeface="Aptos" panose="020B0004020202020204" pitchFamily="34" charset="0"/>
              </a:rPr>
              <a:t>Fonte: Etapa 1 + situação-problema original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A29DDCA9-4F22-3F58-2D17-1839167E5F68}"/>
              </a:ext>
            </a:extLst>
          </p:cNvPr>
          <p:cNvSpPr txBox="1"/>
          <p:nvPr/>
        </p:nvSpPr>
        <p:spPr>
          <a:xfrm>
            <a:off x="10896600" y="6515100"/>
            <a:ext cx="7493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1000" b="1">
                <a:solidFill>
                  <a:srgbClr val="7660D3"/>
                </a:solidFill>
                <a:latin typeface="Aptos" panose="020B0004020202020204" pitchFamily="34" charset="0"/>
              </a:rPr>
              <a:t>03 / 40</a:t>
            </a:r>
          </a:p>
        </p:txBody>
      </p:sp>
      <p:sp>
        <p:nvSpPr>
          <p:cNvPr id="9" name="Retângulo: Cantos Arredondados 8">
            <a:extLst>
              <a:ext uri="{FF2B5EF4-FFF2-40B4-BE49-F238E27FC236}">
                <a16:creationId xmlns:a16="http://schemas.microsoft.com/office/drawing/2014/main" id="{D2C10AFE-2AFF-7AD5-BDBB-FE410C115B4E}"/>
              </a:ext>
            </a:extLst>
          </p:cNvPr>
          <p:cNvSpPr/>
          <p:nvPr/>
        </p:nvSpPr>
        <p:spPr>
          <a:xfrm>
            <a:off x="609600" y="2476500"/>
            <a:ext cx="3522133" cy="3759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E1E2A1A5-2CE2-6C17-0389-0097C2D8A325}"/>
              </a:ext>
            </a:extLst>
          </p:cNvPr>
          <p:cNvSpPr txBox="1"/>
          <p:nvPr/>
        </p:nvSpPr>
        <p:spPr>
          <a:xfrm>
            <a:off x="838200" y="2717800"/>
            <a:ext cx="3064933" cy="2923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1900" b="1">
                <a:solidFill>
                  <a:srgbClr val="6550B5"/>
                </a:solidFill>
                <a:latin typeface="Aptos" panose="020B0004020202020204" pitchFamily="34" charset="0"/>
              </a:rPr>
              <a:t>A situação</a:t>
            </a:r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07A63D51-8F0F-60A2-3A6E-2988CF7C4FB2}"/>
              </a:ext>
            </a:extLst>
          </p:cNvPr>
          <p:cNvSpPr txBox="1"/>
          <p:nvPr/>
        </p:nvSpPr>
        <p:spPr>
          <a:xfrm>
            <a:off x="838200" y="3390900"/>
            <a:ext cx="3064933" cy="73866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1600">
                <a:solidFill>
                  <a:srgbClr val="626A80"/>
                </a:solidFill>
                <a:latin typeface="Aptos" panose="020B0004020202020204" pitchFamily="34" charset="0"/>
              </a:rPr>
              <a:t>Os alunos já consultam agendas, calendários, grupos de mensagens e sistemas acadêmicos.</a:t>
            </a:r>
          </a:p>
        </p:txBody>
      </p:sp>
      <p:sp>
        <p:nvSpPr>
          <p:cNvPr id="12" name="Retângulo: Cantos Arredondados 11">
            <a:extLst>
              <a:ext uri="{FF2B5EF4-FFF2-40B4-BE49-F238E27FC236}">
                <a16:creationId xmlns:a16="http://schemas.microsoft.com/office/drawing/2014/main" id="{26349726-03C0-F55A-EC7E-04207416A79D}"/>
              </a:ext>
            </a:extLst>
          </p:cNvPr>
          <p:cNvSpPr/>
          <p:nvPr/>
        </p:nvSpPr>
        <p:spPr>
          <a:xfrm>
            <a:off x="4334933" y="2476500"/>
            <a:ext cx="3522134" cy="3759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FA0AF466-0D18-26CF-F518-7F283C63924F}"/>
              </a:ext>
            </a:extLst>
          </p:cNvPr>
          <p:cNvSpPr txBox="1"/>
          <p:nvPr/>
        </p:nvSpPr>
        <p:spPr>
          <a:xfrm>
            <a:off x="4563533" y="2717800"/>
            <a:ext cx="3064933" cy="2923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1900" b="1">
                <a:solidFill>
                  <a:srgbClr val="6550B5"/>
                </a:solidFill>
                <a:latin typeface="Aptos" panose="020B0004020202020204" pitchFamily="34" charset="0"/>
              </a:rPr>
              <a:t>O desafio</a:t>
            </a:r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B2AC753A-4BCE-E12F-B485-8FF5470DE46A}"/>
              </a:ext>
            </a:extLst>
          </p:cNvPr>
          <p:cNvSpPr txBox="1"/>
          <p:nvPr/>
        </p:nvSpPr>
        <p:spPr>
          <a:xfrm>
            <a:off x="4563533" y="3390900"/>
            <a:ext cx="3064933" cy="73866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1600">
                <a:solidFill>
                  <a:srgbClr val="626A80"/>
                </a:solidFill>
                <a:latin typeface="Aptos" panose="020B0004020202020204" pitchFamily="34" charset="0"/>
              </a:rPr>
              <a:t>Mesmo com essas ferramentas, continuam esquecendo ou adiando responsabilidades.</a:t>
            </a:r>
          </a:p>
        </p:txBody>
      </p:sp>
      <p:sp>
        <p:nvSpPr>
          <p:cNvPr id="15" name="Retângulo: Cantos Arredondados 14">
            <a:extLst>
              <a:ext uri="{FF2B5EF4-FFF2-40B4-BE49-F238E27FC236}">
                <a16:creationId xmlns:a16="http://schemas.microsoft.com/office/drawing/2014/main" id="{FCD0D3CF-F51D-5B3A-3DE0-C1C3C591D64D}"/>
              </a:ext>
            </a:extLst>
          </p:cNvPr>
          <p:cNvSpPr/>
          <p:nvPr/>
        </p:nvSpPr>
        <p:spPr>
          <a:xfrm>
            <a:off x="8060267" y="2476500"/>
            <a:ext cx="3522133" cy="3759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6" name="CaixaDeTexto 15">
            <a:extLst>
              <a:ext uri="{FF2B5EF4-FFF2-40B4-BE49-F238E27FC236}">
                <a16:creationId xmlns:a16="http://schemas.microsoft.com/office/drawing/2014/main" id="{968A091B-30AC-C784-3025-9BF1220FAD09}"/>
              </a:ext>
            </a:extLst>
          </p:cNvPr>
          <p:cNvSpPr txBox="1"/>
          <p:nvPr/>
        </p:nvSpPr>
        <p:spPr>
          <a:xfrm>
            <a:off x="8288867" y="2717800"/>
            <a:ext cx="3064933" cy="2923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1900" b="1">
                <a:solidFill>
                  <a:srgbClr val="6550B5"/>
                </a:solidFill>
                <a:latin typeface="Aptos" panose="020B0004020202020204" pitchFamily="34" charset="0"/>
              </a:rPr>
              <a:t>A pergunta</a:t>
            </a:r>
          </a:p>
        </p:txBody>
      </p:sp>
      <p:sp>
        <p:nvSpPr>
          <p:cNvPr id="17" name="CaixaDeTexto 16">
            <a:extLst>
              <a:ext uri="{FF2B5EF4-FFF2-40B4-BE49-F238E27FC236}">
                <a16:creationId xmlns:a16="http://schemas.microsoft.com/office/drawing/2014/main" id="{C6BAFA0F-A629-7E49-6499-3E1E95A401A9}"/>
              </a:ext>
            </a:extLst>
          </p:cNvPr>
          <p:cNvSpPr txBox="1"/>
          <p:nvPr/>
        </p:nvSpPr>
        <p:spPr>
          <a:xfrm>
            <a:off x="8288867" y="3390900"/>
            <a:ext cx="3064933" cy="73866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1600">
                <a:solidFill>
                  <a:srgbClr val="626A80"/>
                </a:solidFill>
                <a:latin typeface="Aptos" panose="020B0004020202020204" pitchFamily="34" charset="0"/>
              </a:rPr>
              <a:t>Como ajudar a compreender, priorizar e concluir tarefas com conexão limitada?</a:t>
            </a:r>
          </a:p>
        </p:txBody>
      </p:sp>
    </p:spTree>
    <p:extLst>
      <p:ext uri="{BB962C8B-B14F-4D97-AF65-F5344CB8AC3E}">
        <p14:creationId xmlns:p14="http://schemas.microsoft.com/office/powerpoint/2010/main" val="402925077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0595EC71-5BDE-2FA6-7E19-1ECC315004D0}"/>
              </a:ext>
            </a:extLst>
          </p:cNvPr>
          <p:cNvSpPr/>
          <p:nvPr/>
        </p:nvSpPr>
        <p:spPr>
          <a:xfrm>
            <a:off x="609600" y="406400"/>
            <a:ext cx="63500" cy="254000"/>
          </a:xfrm>
          <a:prstGeom prst="rect">
            <a:avLst/>
          </a:prstGeom>
          <a:solidFill>
            <a:srgbClr val="7660D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30501CE4-905F-0B3A-4CBF-BDA2059C0676}"/>
              </a:ext>
            </a:extLst>
          </p:cNvPr>
          <p:cNvSpPr txBox="1"/>
          <p:nvPr/>
        </p:nvSpPr>
        <p:spPr>
          <a:xfrm>
            <a:off x="812800" y="431800"/>
            <a:ext cx="102235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1000" b="1">
                <a:solidFill>
                  <a:srgbClr val="7660D3"/>
                </a:solidFill>
                <a:latin typeface="Aptos" panose="020B0004020202020204" pitchFamily="34" charset="0"/>
              </a:rPr>
              <a:t>ETAPA 1 · PÚBLICO E NECESSIDADES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00D44892-140F-9785-934C-9BA496BA4A1F}"/>
              </a:ext>
            </a:extLst>
          </p:cNvPr>
          <p:cNvSpPr txBox="1"/>
          <p:nvPr/>
        </p:nvSpPr>
        <p:spPr>
          <a:xfrm>
            <a:off x="609600" y="889000"/>
            <a:ext cx="10985500" cy="44627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2900" b="1">
                <a:solidFill>
                  <a:srgbClr val="273047"/>
                </a:solidFill>
                <a:latin typeface="Aptos" panose="020B0004020202020204" pitchFamily="34" charset="0"/>
              </a:rPr>
              <a:t>O aluno conduz a jornada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0B2E9608-4E9C-2B1E-2EE7-096F3BA066EE}"/>
              </a:ext>
            </a:extLst>
          </p:cNvPr>
          <p:cNvSpPr txBox="1"/>
          <p:nvPr/>
        </p:nvSpPr>
        <p:spPr>
          <a:xfrm>
            <a:off x="609600" y="1816100"/>
            <a:ext cx="10998200" cy="2000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1300">
                <a:solidFill>
                  <a:srgbClr val="7B7F93"/>
                </a:solidFill>
                <a:latin typeface="Aptos" panose="020B0004020202020204" pitchFamily="34" charset="0"/>
              </a:rPr>
              <a:t>Professor e administração apoiam a experiência principal.</a:t>
            </a:r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9CEA49D3-D011-04F5-C73A-D00E2FFAE806}"/>
              </a:ext>
            </a:extLst>
          </p:cNvPr>
          <p:cNvSpPr/>
          <p:nvPr/>
        </p:nvSpPr>
        <p:spPr>
          <a:xfrm>
            <a:off x="609600" y="6426200"/>
            <a:ext cx="10972800" cy="12700"/>
          </a:xfrm>
          <a:prstGeom prst="rect">
            <a:avLst/>
          </a:prstGeom>
          <a:solidFill>
            <a:srgbClr val="E2DFE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B8C0F149-2B71-CBAC-10B7-6A62BFBCBB4F}"/>
              </a:ext>
            </a:extLst>
          </p:cNvPr>
          <p:cNvSpPr txBox="1"/>
          <p:nvPr/>
        </p:nvSpPr>
        <p:spPr>
          <a:xfrm>
            <a:off x="609600" y="6553200"/>
            <a:ext cx="9652000" cy="12311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800">
                <a:solidFill>
                  <a:srgbClr val="9690A5"/>
                </a:solidFill>
                <a:latin typeface="Aptos" panose="020B0004020202020204" pitchFamily="34" charset="0"/>
              </a:rPr>
              <a:t>Fonte: Etapa 1 · Quem é o usuário?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581C2E94-B1D9-D0D9-C6A1-60B35F988108}"/>
              </a:ext>
            </a:extLst>
          </p:cNvPr>
          <p:cNvSpPr txBox="1"/>
          <p:nvPr/>
        </p:nvSpPr>
        <p:spPr>
          <a:xfrm>
            <a:off x="10896600" y="6515100"/>
            <a:ext cx="7493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1000" b="1">
                <a:solidFill>
                  <a:srgbClr val="7660D3"/>
                </a:solidFill>
                <a:latin typeface="Aptos" panose="020B0004020202020204" pitchFamily="34" charset="0"/>
              </a:rPr>
              <a:t>04 / 40</a:t>
            </a:r>
          </a:p>
        </p:txBody>
      </p:sp>
      <p:sp>
        <p:nvSpPr>
          <p:cNvPr id="9" name="Retângulo: Cantos Arredondados 8">
            <a:extLst>
              <a:ext uri="{FF2B5EF4-FFF2-40B4-BE49-F238E27FC236}">
                <a16:creationId xmlns:a16="http://schemas.microsoft.com/office/drawing/2014/main" id="{E57DD336-F595-3BBA-2DF1-047999A7EE9F}"/>
              </a:ext>
            </a:extLst>
          </p:cNvPr>
          <p:cNvSpPr/>
          <p:nvPr/>
        </p:nvSpPr>
        <p:spPr>
          <a:xfrm>
            <a:off x="609600" y="2476500"/>
            <a:ext cx="3522133" cy="3759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6CBF4CDB-5F0D-24BB-0496-97073F7759B4}"/>
              </a:ext>
            </a:extLst>
          </p:cNvPr>
          <p:cNvSpPr txBox="1"/>
          <p:nvPr/>
        </p:nvSpPr>
        <p:spPr>
          <a:xfrm>
            <a:off x="838200" y="2717800"/>
            <a:ext cx="3064933" cy="2923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1900" b="1">
                <a:solidFill>
                  <a:srgbClr val="6550B5"/>
                </a:solidFill>
                <a:latin typeface="Aptos" panose="020B0004020202020204" pitchFamily="34" charset="0"/>
              </a:rPr>
              <a:t>Aluno · protagonista</a:t>
            </a:r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ACE61A1B-88CA-DCFD-BC93-00991085F793}"/>
              </a:ext>
            </a:extLst>
          </p:cNvPr>
          <p:cNvSpPr txBox="1"/>
          <p:nvPr/>
        </p:nvSpPr>
        <p:spPr>
          <a:xfrm>
            <a:off x="838200" y="3390900"/>
            <a:ext cx="3064933" cy="73866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1600">
                <a:solidFill>
                  <a:srgbClr val="626A80"/>
                </a:solidFill>
                <a:latin typeface="Aptos" panose="020B0004020202020204" pitchFamily="34" charset="0"/>
              </a:rPr>
              <a:t>Encontra prioridades, divide tarefas, registra progresso e organiza estudos.</a:t>
            </a:r>
          </a:p>
        </p:txBody>
      </p:sp>
      <p:sp>
        <p:nvSpPr>
          <p:cNvPr id="12" name="Retângulo: Cantos Arredondados 11">
            <a:extLst>
              <a:ext uri="{FF2B5EF4-FFF2-40B4-BE49-F238E27FC236}">
                <a16:creationId xmlns:a16="http://schemas.microsoft.com/office/drawing/2014/main" id="{017D61AC-9327-91CE-1E3A-04689A7F4C1F}"/>
              </a:ext>
            </a:extLst>
          </p:cNvPr>
          <p:cNvSpPr/>
          <p:nvPr/>
        </p:nvSpPr>
        <p:spPr>
          <a:xfrm>
            <a:off x="4334933" y="2476500"/>
            <a:ext cx="3522134" cy="3759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37F81897-3518-2605-B4B4-B920D7C56323}"/>
              </a:ext>
            </a:extLst>
          </p:cNvPr>
          <p:cNvSpPr txBox="1"/>
          <p:nvPr/>
        </p:nvSpPr>
        <p:spPr>
          <a:xfrm>
            <a:off x="4563533" y="2717800"/>
            <a:ext cx="3064933" cy="2923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1900" b="1">
                <a:solidFill>
                  <a:srgbClr val="6550B5"/>
                </a:solidFill>
                <a:latin typeface="Aptos" panose="020B0004020202020204" pitchFamily="34" charset="0"/>
              </a:rPr>
              <a:t>Professor · apoio</a:t>
            </a:r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01375229-6541-E726-7EAD-647C4BD49D15}"/>
              </a:ext>
            </a:extLst>
          </p:cNvPr>
          <p:cNvSpPr txBox="1"/>
          <p:nvPr/>
        </p:nvSpPr>
        <p:spPr>
          <a:xfrm>
            <a:off x="4563533" y="3390900"/>
            <a:ext cx="3064933" cy="73866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1600">
                <a:solidFill>
                  <a:srgbClr val="626A80"/>
                </a:solidFill>
                <a:latin typeface="Aptos" panose="020B0004020202020204" pitchFamily="34" charset="0"/>
              </a:rPr>
              <a:t>Publica atividades, esclarece orientações, acompanha entregas e comunica mudanças.</a:t>
            </a:r>
          </a:p>
        </p:txBody>
      </p:sp>
      <p:sp>
        <p:nvSpPr>
          <p:cNvPr id="15" name="Retângulo: Cantos Arredondados 14">
            <a:extLst>
              <a:ext uri="{FF2B5EF4-FFF2-40B4-BE49-F238E27FC236}">
                <a16:creationId xmlns:a16="http://schemas.microsoft.com/office/drawing/2014/main" id="{8B629B21-6878-FA94-8883-6660112CB731}"/>
              </a:ext>
            </a:extLst>
          </p:cNvPr>
          <p:cNvSpPr/>
          <p:nvPr/>
        </p:nvSpPr>
        <p:spPr>
          <a:xfrm>
            <a:off x="8060267" y="2476500"/>
            <a:ext cx="3522133" cy="3759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6" name="CaixaDeTexto 15">
            <a:extLst>
              <a:ext uri="{FF2B5EF4-FFF2-40B4-BE49-F238E27FC236}">
                <a16:creationId xmlns:a16="http://schemas.microsoft.com/office/drawing/2014/main" id="{0992ED20-5A65-E3C1-E5DC-EDB16556CE12}"/>
              </a:ext>
            </a:extLst>
          </p:cNvPr>
          <p:cNvSpPr txBox="1"/>
          <p:nvPr/>
        </p:nvSpPr>
        <p:spPr>
          <a:xfrm>
            <a:off x="8288867" y="2717800"/>
            <a:ext cx="3064933" cy="2923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1900" b="1">
                <a:solidFill>
                  <a:srgbClr val="6550B5"/>
                </a:solidFill>
                <a:latin typeface="Aptos" panose="020B0004020202020204" pitchFamily="34" charset="0"/>
              </a:rPr>
              <a:t>Administração · gestão</a:t>
            </a:r>
          </a:p>
        </p:txBody>
      </p:sp>
      <p:sp>
        <p:nvSpPr>
          <p:cNvPr id="17" name="CaixaDeTexto 16">
            <a:extLst>
              <a:ext uri="{FF2B5EF4-FFF2-40B4-BE49-F238E27FC236}">
                <a16:creationId xmlns:a16="http://schemas.microsoft.com/office/drawing/2014/main" id="{1A5EEF47-A713-A6F4-E23C-4B7498E1A521}"/>
              </a:ext>
            </a:extLst>
          </p:cNvPr>
          <p:cNvSpPr txBox="1"/>
          <p:nvPr/>
        </p:nvSpPr>
        <p:spPr>
          <a:xfrm>
            <a:off x="8288867" y="3390900"/>
            <a:ext cx="3064933" cy="73866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1600">
                <a:solidFill>
                  <a:srgbClr val="626A80"/>
                </a:solidFill>
                <a:latin typeface="Aptos" panose="020B0004020202020204" pitchFamily="34" charset="0"/>
              </a:rPr>
              <a:t>Organiza turmas, disciplinas e perfis fictícios no ambiente demonstrativo.</a:t>
            </a:r>
          </a:p>
        </p:txBody>
      </p:sp>
    </p:spTree>
    <p:extLst>
      <p:ext uri="{BB962C8B-B14F-4D97-AF65-F5344CB8AC3E}">
        <p14:creationId xmlns:p14="http://schemas.microsoft.com/office/powerpoint/2010/main" val="189228715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F427C981-F17E-E35C-EAA4-0C9C593B3F2C}"/>
              </a:ext>
            </a:extLst>
          </p:cNvPr>
          <p:cNvSpPr/>
          <p:nvPr/>
        </p:nvSpPr>
        <p:spPr>
          <a:xfrm>
            <a:off x="609600" y="406400"/>
            <a:ext cx="63500" cy="254000"/>
          </a:xfrm>
          <a:prstGeom prst="rect">
            <a:avLst/>
          </a:prstGeom>
          <a:solidFill>
            <a:srgbClr val="7660D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DF49C9C5-69F9-BFE8-73BD-542B42627B6C}"/>
              </a:ext>
            </a:extLst>
          </p:cNvPr>
          <p:cNvSpPr txBox="1"/>
          <p:nvPr/>
        </p:nvSpPr>
        <p:spPr>
          <a:xfrm>
            <a:off x="812800" y="431800"/>
            <a:ext cx="102235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1000" b="1">
                <a:solidFill>
                  <a:srgbClr val="7660D3"/>
                </a:solidFill>
                <a:latin typeface="Aptos" panose="020B0004020202020204" pitchFamily="34" charset="0"/>
              </a:rPr>
              <a:t>ETAPA 1 · HIPÓTESES A INVESTIGAR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29DBEC3F-841A-ADE3-FE9E-1F9D06A888FA}"/>
              </a:ext>
            </a:extLst>
          </p:cNvPr>
          <p:cNvSpPr txBox="1"/>
          <p:nvPr/>
        </p:nvSpPr>
        <p:spPr>
          <a:xfrm>
            <a:off x="609600" y="889000"/>
            <a:ext cx="10985500" cy="44627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2900" b="1">
                <a:solidFill>
                  <a:srgbClr val="273047"/>
                </a:solidFill>
                <a:latin typeface="Aptos" panose="020B0004020202020204" pitchFamily="34" charset="0"/>
              </a:rPr>
              <a:t>O atraso é visível. A causa precisa ser ouvida.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B653D2A6-17EC-AF95-A4FA-EA743E4C69C1}"/>
              </a:ext>
            </a:extLst>
          </p:cNvPr>
          <p:cNvSpPr txBox="1"/>
          <p:nvPr/>
        </p:nvSpPr>
        <p:spPr>
          <a:xfrm>
            <a:off x="609600" y="1816100"/>
            <a:ext cx="10998200" cy="2000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1300">
                <a:solidFill>
                  <a:srgbClr val="7B7F93"/>
                </a:solidFill>
                <a:latin typeface="Aptos" panose="020B0004020202020204" pitchFamily="34" charset="0"/>
              </a:rPr>
              <a:t>Hipóteses do documento; não conclusões validadas com estudantes.</a:t>
            </a:r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DD4824C2-4511-BBA0-E913-A81CE2EB8E2F}"/>
              </a:ext>
            </a:extLst>
          </p:cNvPr>
          <p:cNvSpPr/>
          <p:nvPr/>
        </p:nvSpPr>
        <p:spPr>
          <a:xfrm>
            <a:off x="609600" y="6426200"/>
            <a:ext cx="10972800" cy="12700"/>
          </a:xfrm>
          <a:prstGeom prst="rect">
            <a:avLst/>
          </a:prstGeom>
          <a:solidFill>
            <a:srgbClr val="E2DFE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2E1F882E-9B89-B5CE-8DA3-B8882B753022}"/>
              </a:ext>
            </a:extLst>
          </p:cNvPr>
          <p:cNvSpPr txBox="1"/>
          <p:nvPr/>
        </p:nvSpPr>
        <p:spPr>
          <a:xfrm>
            <a:off x="609600" y="6553200"/>
            <a:ext cx="9652000" cy="12311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800">
                <a:solidFill>
                  <a:srgbClr val="9690A5"/>
                </a:solidFill>
                <a:latin typeface="Aptos" panose="020B0004020202020204" pitchFamily="34" charset="0"/>
              </a:rPr>
              <a:t>Fonte: Etapa 1 · Problema aparente e problema real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90DAF79A-F11B-397D-BB31-874A05B269DE}"/>
              </a:ext>
            </a:extLst>
          </p:cNvPr>
          <p:cNvSpPr txBox="1"/>
          <p:nvPr/>
        </p:nvSpPr>
        <p:spPr>
          <a:xfrm>
            <a:off x="10896600" y="6515100"/>
            <a:ext cx="7493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1000" b="1">
                <a:solidFill>
                  <a:srgbClr val="7660D3"/>
                </a:solidFill>
                <a:latin typeface="Aptos" panose="020B0004020202020204" pitchFamily="34" charset="0"/>
              </a:rPr>
              <a:t>05 / 40</a:t>
            </a:r>
          </a:p>
        </p:txBody>
      </p:sp>
      <p:sp>
        <p:nvSpPr>
          <p:cNvPr id="9" name="Retângulo: Cantos Arredondados 8">
            <a:extLst>
              <a:ext uri="{FF2B5EF4-FFF2-40B4-BE49-F238E27FC236}">
                <a16:creationId xmlns:a16="http://schemas.microsoft.com/office/drawing/2014/main" id="{9ACA806A-55DD-85CC-8127-ACF425C460C0}"/>
              </a:ext>
            </a:extLst>
          </p:cNvPr>
          <p:cNvSpPr/>
          <p:nvPr/>
        </p:nvSpPr>
        <p:spPr>
          <a:xfrm>
            <a:off x="609600" y="2476500"/>
            <a:ext cx="5384800" cy="1778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ED73529C-7946-5650-20EC-BCA61AB28656}"/>
              </a:ext>
            </a:extLst>
          </p:cNvPr>
          <p:cNvSpPr txBox="1"/>
          <p:nvPr/>
        </p:nvSpPr>
        <p:spPr>
          <a:xfrm>
            <a:off x="838200" y="2717800"/>
            <a:ext cx="4927600" cy="2616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1700" b="1">
                <a:solidFill>
                  <a:srgbClr val="6550B5"/>
                </a:solidFill>
                <a:latin typeface="Aptos" panose="020B0004020202020204" pitchFamily="34" charset="0"/>
              </a:rPr>
              <a:t>Informação dispersa</a:t>
            </a:r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E2EF06C7-668C-668B-7E69-B66A8FA59C76}"/>
              </a:ext>
            </a:extLst>
          </p:cNvPr>
          <p:cNvSpPr txBox="1"/>
          <p:nvPr/>
        </p:nvSpPr>
        <p:spPr>
          <a:xfrm>
            <a:off x="838200" y="3390900"/>
            <a:ext cx="4927600" cy="43088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1400">
                <a:solidFill>
                  <a:srgbClr val="626A80"/>
                </a:solidFill>
                <a:latin typeface="Aptos" panose="020B0004020202020204" pitchFamily="34" charset="0"/>
              </a:rPr>
              <a:t>Diferentes canais dificultam localizar uma orientação e sua versão atualizada.</a:t>
            </a:r>
          </a:p>
        </p:txBody>
      </p:sp>
      <p:sp>
        <p:nvSpPr>
          <p:cNvPr id="12" name="Retângulo: Cantos Arredondados 11">
            <a:extLst>
              <a:ext uri="{FF2B5EF4-FFF2-40B4-BE49-F238E27FC236}">
                <a16:creationId xmlns:a16="http://schemas.microsoft.com/office/drawing/2014/main" id="{F35097D3-B452-A091-5598-01768FFE21CB}"/>
              </a:ext>
            </a:extLst>
          </p:cNvPr>
          <p:cNvSpPr/>
          <p:nvPr/>
        </p:nvSpPr>
        <p:spPr>
          <a:xfrm>
            <a:off x="6197600" y="2476500"/>
            <a:ext cx="5384800" cy="1778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B38D49A9-4E08-A388-3D40-B04783EDF19A}"/>
              </a:ext>
            </a:extLst>
          </p:cNvPr>
          <p:cNvSpPr txBox="1"/>
          <p:nvPr/>
        </p:nvSpPr>
        <p:spPr>
          <a:xfrm>
            <a:off x="6426200" y="2717800"/>
            <a:ext cx="4927600" cy="2616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1700" b="1">
                <a:solidFill>
                  <a:srgbClr val="6550B5"/>
                </a:solidFill>
                <a:latin typeface="Aptos" panose="020B0004020202020204" pitchFamily="34" charset="0"/>
              </a:rPr>
              <a:t>Execução pouco clara</a:t>
            </a:r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18FC5F9A-ECA8-1B3A-A86A-6780A4749EA0}"/>
              </a:ext>
            </a:extLst>
          </p:cNvPr>
          <p:cNvSpPr txBox="1"/>
          <p:nvPr/>
        </p:nvSpPr>
        <p:spPr>
          <a:xfrm>
            <a:off x="6426200" y="3390900"/>
            <a:ext cx="4927600" cy="43088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1400">
                <a:solidFill>
                  <a:srgbClr val="626A80"/>
                </a:solidFill>
                <a:latin typeface="Aptos" panose="020B0004020202020204" pitchFamily="34" charset="0"/>
              </a:rPr>
              <a:t>Um prazo não explica como começar nem como dividir um trabalho longo.</a:t>
            </a:r>
          </a:p>
        </p:txBody>
      </p:sp>
      <p:sp>
        <p:nvSpPr>
          <p:cNvPr id="15" name="Retângulo: Cantos Arredondados 14">
            <a:extLst>
              <a:ext uri="{FF2B5EF4-FFF2-40B4-BE49-F238E27FC236}">
                <a16:creationId xmlns:a16="http://schemas.microsoft.com/office/drawing/2014/main" id="{CB2EA699-73E8-FF64-5B20-C56722B48650}"/>
              </a:ext>
            </a:extLst>
          </p:cNvPr>
          <p:cNvSpPr/>
          <p:nvPr/>
        </p:nvSpPr>
        <p:spPr>
          <a:xfrm>
            <a:off x="609600" y="4457700"/>
            <a:ext cx="5384800" cy="1778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6" name="CaixaDeTexto 15">
            <a:extLst>
              <a:ext uri="{FF2B5EF4-FFF2-40B4-BE49-F238E27FC236}">
                <a16:creationId xmlns:a16="http://schemas.microsoft.com/office/drawing/2014/main" id="{13B62D0D-5A73-5A37-3B60-82E7836733DC}"/>
              </a:ext>
            </a:extLst>
          </p:cNvPr>
          <p:cNvSpPr txBox="1"/>
          <p:nvPr/>
        </p:nvSpPr>
        <p:spPr>
          <a:xfrm>
            <a:off x="838200" y="4699000"/>
            <a:ext cx="4927600" cy="2616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1700" b="1">
                <a:solidFill>
                  <a:srgbClr val="6550B5"/>
                </a:solidFill>
                <a:latin typeface="Aptos" panose="020B0004020202020204" pitchFamily="34" charset="0"/>
              </a:rPr>
              <a:t>Progresso invisível</a:t>
            </a:r>
          </a:p>
        </p:txBody>
      </p:sp>
      <p:sp>
        <p:nvSpPr>
          <p:cNvPr id="17" name="CaixaDeTexto 16">
            <a:extLst>
              <a:ext uri="{FF2B5EF4-FFF2-40B4-BE49-F238E27FC236}">
                <a16:creationId xmlns:a16="http://schemas.microsoft.com/office/drawing/2014/main" id="{E7A4F931-977B-8A5B-B49B-FF6DB9CFBFCC}"/>
              </a:ext>
            </a:extLst>
          </p:cNvPr>
          <p:cNvSpPr txBox="1"/>
          <p:nvPr/>
        </p:nvSpPr>
        <p:spPr>
          <a:xfrm>
            <a:off x="838200" y="5372100"/>
            <a:ext cx="4927600" cy="43088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1400">
                <a:solidFill>
                  <a:srgbClr val="626A80"/>
                </a:solidFill>
                <a:latin typeface="Aptos" panose="020B0004020202020204" pitchFamily="34" charset="0"/>
              </a:rPr>
              <a:t>Sem etapas, o aluno pode não perceber quanto avançou ou quanto falta.</a:t>
            </a:r>
          </a:p>
        </p:txBody>
      </p:sp>
      <p:sp>
        <p:nvSpPr>
          <p:cNvPr id="18" name="Retângulo: Cantos Arredondados 17">
            <a:extLst>
              <a:ext uri="{FF2B5EF4-FFF2-40B4-BE49-F238E27FC236}">
                <a16:creationId xmlns:a16="http://schemas.microsoft.com/office/drawing/2014/main" id="{263A3393-0D3C-06CF-C8CE-53710A8EA609}"/>
              </a:ext>
            </a:extLst>
          </p:cNvPr>
          <p:cNvSpPr/>
          <p:nvPr/>
        </p:nvSpPr>
        <p:spPr>
          <a:xfrm>
            <a:off x="6197600" y="4457700"/>
            <a:ext cx="5384800" cy="1778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9" name="CaixaDeTexto 18">
            <a:extLst>
              <a:ext uri="{FF2B5EF4-FFF2-40B4-BE49-F238E27FC236}">
                <a16:creationId xmlns:a16="http://schemas.microsoft.com/office/drawing/2014/main" id="{1DED7E57-8F8C-1DB1-A309-C69F2D6B6FD5}"/>
              </a:ext>
            </a:extLst>
          </p:cNvPr>
          <p:cNvSpPr txBox="1"/>
          <p:nvPr/>
        </p:nvSpPr>
        <p:spPr>
          <a:xfrm>
            <a:off x="6426200" y="4699000"/>
            <a:ext cx="4927600" cy="2616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1700" b="1">
                <a:solidFill>
                  <a:srgbClr val="6550B5"/>
                </a:solidFill>
                <a:latin typeface="Aptos" panose="020B0004020202020204" pitchFamily="34" charset="0"/>
              </a:rPr>
              <a:t>Barreiras de contexto</a:t>
            </a:r>
          </a:p>
        </p:txBody>
      </p:sp>
      <p:sp>
        <p:nvSpPr>
          <p:cNvPr id="20" name="CaixaDeTexto 19">
            <a:extLst>
              <a:ext uri="{FF2B5EF4-FFF2-40B4-BE49-F238E27FC236}">
                <a16:creationId xmlns:a16="http://schemas.microsoft.com/office/drawing/2014/main" id="{DCD48001-02A3-9D9B-4A37-1FC87F7B06B9}"/>
              </a:ext>
            </a:extLst>
          </p:cNvPr>
          <p:cNvSpPr txBox="1"/>
          <p:nvPr/>
        </p:nvSpPr>
        <p:spPr>
          <a:xfrm>
            <a:off x="6426200" y="5372100"/>
            <a:ext cx="4927600" cy="43088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1400">
                <a:solidFill>
                  <a:srgbClr val="626A80"/>
                </a:solidFill>
                <a:latin typeface="Aptos" panose="020B0004020202020204" pitchFamily="34" charset="0"/>
              </a:rPr>
              <a:t>Conexão limitada, alertas em excesso e políticas pouco flexíveis podem agravar a situação.</a:t>
            </a:r>
          </a:p>
        </p:txBody>
      </p:sp>
    </p:spTree>
    <p:extLst>
      <p:ext uri="{BB962C8B-B14F-4D97-AF65-F5344CB8AC3E}">
        <p14:creationId xmlns:p14="http://schemas.microsoft.com/office/powerpoint/2010/main" val="2550702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4959BC49-78DE-B0F3-1DD9-F1E2DE7EE4E8}"/>
              </a:ext>
            </a:extLst>
          </p:cNvPr>
          <p:cNvSpPr/>
          <p:nvPr/>
        </p:nvSpPr>
        <p:spPr>
          <a:xfrm>
            <a:off x="609600" y="406400"/>
            <a:ext cx="63500" cy="254000"/>
          </a:xfrm>
          <a:prstGeom prst="rect">
            <a:avLst/>
          </a:prstGeom>
          <a:solidFill>
            <a:srgbClr val="7660D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E63F87AB-AEEF-9EAF-5699-54DF65DCA3AA}"/>
              </a:ext>
            </a:extLst>
          </p:cNvPr>
          <p:cNvSpPr txBox="1"/>
          <p:nvPr/>
        </p:nvSpPr>
        <p:spPr>
          <a:xfrm>
            <a:off x="812800" y="431800"/>
            <a:ext cx="102235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1000" b="1">
                <a:solidFill>
                  <a:srgbClr val="7660D3"/>
                </a:solidFill>
                <a:latin typeface="Aptos" panose="020B0004020202020204" pitchFamily="34" charset="0"/>
              </a:rPr>
              <a:t>ETAPA 1 · INSIGHT CENTRAL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65B7288B-AA0C-7C18-CFCF-8D8118458D44}"/>
              </a:ext>
            </a:extLst>
          </p:cNvPr>
          <p:cNvSpPr txBox="1"/>
          <p:nvPr/>
        </p:nvSpPr>
        <p:spPr>
          <a:xfrm>
            <a:off x="609600" y="889000"/>
            <a:ext cx="10985500" cy="44627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2900" b="1">
                <a:solidFill>
                  <a:srgbClr val="273047"/>
                </a:solidFill>
                <a:latin typeface="Aptos" panose="020B0004020202020204" pitchFamily="34" charset="0"/>
              </a:rPr>
              <a:t>Saber quando vence não basta.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994D2312-1223-DEA6-0A26-C24689270426}"/>
              </a:ext>
            </a:extLst>
          </p:cNvPr>
          <p:cNvSpPr txBox="1"/>
          <p:nvPr/>
        </p:nvSpPr>
        <p:spPr>
          <a:xfrm>
            <a:off x="609600" y="1816100"/>
            <a:ext cx="10998200" cy="2000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1300">
                <a:solidFill>
                  <a:srgbClr val="7B7F93"/>
                </a:solidFill>
                <a:latin typeface="Aptos" panose="020B0004020202020204" pitchFamily="34" charset="0"/>
              </a:rPr>
              <a:t>O aluno precisa saber o que fazer agora, como avançar e quanto falta para terminar.</a:t>
            </a:r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ECEF6449-BA05-28BF-EBF1-ED74BF5D7EA3}"/>
              </a:ext>
            </a:extLst>
          </p:cNvPr>
          <p:cNvSpPr/>
          <p:nvPr/>
        </p:nvSpPr>
        <p:spPr>
          <a:xfrm>
            <a:off x="609600" y="6426200"/>
            <a:ext cx="10972800" cy="12700"/>
          </a:xfrm>
          <a:prstGeom prst="rect">
            <a:avLst/>
          </a:prstGeom>
          <a:solidFill>
            <a:srgbClr val="E2DFE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DEE2AF3B-6A63-6F58-3636-401B9A9548D6}"/>
              </a:ext>
            </a:extLst>
          </p:cNvPr>
          <p:cNvSpPr txBox="1"/>
          <p:nvPr/>
        </p:nvSpPr>
        <p:spPr>
          <a:xfrm>
            <a:off x="609600" y="6553200"/>
            <a:ext cx="9652000" cy="12311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800">
                <a:solidFill>
                  <a:srgbClr val="9690A5"/>
                </a:solidFill>
                <a:latin typeface="Aptos" panose="020B0004020202020204" pitchFamily="34" charset="0"/>
              </a:rPr>
              <a:t>Fonte: Etapa 1 · Insight central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D025D3A5-B88A-2746-A9DA-5042FA622931}"/>
              </a:ext>
            </a:extLst>
          </p:cNvPr>
          <p:cNvSpPr txBox="1"/>
          <p:nvPr/>
        </p:nvSpPr>
        <p:spPr>
          <a:xfrm>
            <a:off x="10896600" y="6515100"/>
            <a:ext cx="7493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1000" b="1">
                <a:solidFill>
                  <a:srgbClr val="7660D3"/>
                </a:solidFill>
                <a:latin typeface="Aptos" panose="020B0004020202020204" pitchFamily="34" charset="0"/>
              </a:rPr>
              <a:t>06 / 40</a:t>
            </a:r>
          </a:p>
        </p:txBody>
      </p:sp>
      <p:sp>
        <p:nvSpPr>
          <p:cNvPr id="9" name="Retângulo: Cantos Arredondados 8">
            <a:extLst>
              <a:ext uri="{FF2B5EF4-FFF2-40B4-BE49-F238E27FC236}">
                <a16:creationId xmlns:a16="http://schemas.microsoft.com/office/drawing/2014/main" id="{285B52B7-B9F1-8129-0F07-A2C79A8D6334}"/>
              </a:ext>
            </a:extLst>
          </p:cNvPr>
          <p:cNvSpPr/>
          <p:nvPr/>
        </p:nvSpPr>
        <p:spPr>
          <a:xfrm>
            <a:off x="609600" y="2463800"/>
            <a:ext cx="10972800" cy="2209800"/>
          </a:xfrm>
          <a:prstGeom prst="roundRect">
            <a:avLst>
              <a:gd name="adj" fmla="val 6000"/>
            </a:avLst>
          </a:prstGeom>
          <a:solidFill>
            <a:srgbClr val="EDE7F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A100E383-1BAE-CEB4-5EAB-22C5E273C46E}"/>
              </a:ext>
            </a:extLst>
          </p:cNvPr>
          <p:cNvSpPr txBox="1"/>
          <p:nvPr/>
        </p:nvSpPr>
        <p:spPr>
          <a:xfrm>
            <a:off x="965200" y="2781300"/>
            <a:ext cx="10287000" cy="86177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2800" b="1">
                <a:solidFill>
                  <a:srgbClr val="6550B5"/>
                </a:solidFill>
                <a:latin typeface="Aptos" panose="020B0004020202020204" pitchFamily="34" charset="0"/>
              </a:rPr>
              <a:t>O aluno precisa saber o que fazer agora, como avançar e quanto falta para terminar.</a:t>
            </a:r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FAA56D3A-8382-AC3F-0F54-1EBCCF12D8B3}"/>
              </a:ext>
            </a:extLst>
          </p:cNvPr>
          <p:cNvSpPr txBox="1"/>
          <p:nvPr/>
        </p:nvSpPr>
        <p:spPr>
          <a:xfrm>
            <a:off x="609600" y="5118100"/>
            <a:ext cx="35306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1200" b="1">
                <a:solidFill>
                  <a:srgbClr val="7660D3"/>
                </a:solidFill>
                <a:latin typeface="Aptos" panose="020B0004020202020204" pitchFamily="34" charset="0"/>
              </a:rPr>
              <a:t>O QUE FAZER AGORA</a:t>
            </a:r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F45E9473-44BE-6919-1BB8-09EB966A9245}"/>
              </a:ext>
            </a:extLst>
          </p:cNvPr>
          <p:cNvSpPr txBox="1"/>
          <p:nvPr/>
        </p:nvSpPr>
        <p:spPr>
          <a:xfrm>
            <a:off x="609600" y="5511800"/>
            <a:ext cx="3530600" cy="2923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1900" b="1">
                <a:solidFill>
                  <a:srgbClr val="273047"/>
                </a:solidFill>
                <a:latin typeface="Aptos" panose="020B0004020202020204" pitchFamily="34" charset="0"/>
              </a:rPr>
              <a:t>Prioridade explicável</a:t>
            </a:r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CB5FE26E-61B9-5DE2-FA08-AB3038A4D6BB}"/>
              </a:ext>
            </a:extLst>
          </p:cNvPr>
          <p:cNvSpPr txBox="1"/>
          <p:nvPr/>
        </p:nvSpPr>
        <p:spPr>
          <a:xfrm>
            <a:off x="4343400" y="5118100"/>
            <a:ext cx="35306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1200" b="1">
                <a:solidFill>
                  <a:srgbClr val="7660D3"/>
                </a:solidFill>
                <a:latin typeface="Aptos" panose="020B0004020202020204" pitchFamily="34" charset="0"/>
              </a:rPr>
              <a:t>COMO AVANÇAR</a:t>
            </a:r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C03C3523-0A54-BBA6-5DC3-4D02AC797C37}"/>
              </a:ext>
            </a:extLst>
          </p:cNvPr>
          <p:cNvSpPr txBox="1"/>
          <p:nvPr/>
        </p:nvSpPr>
        <p:spPr>
          <a:xfrm>
            <a:off x="4343400" y="5511800"/>
            <a:ext cx="3530600" cy="2923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1900" b="1">
                <a:solidFill>
                  <a:srgbClr val="273047"/>
                </a:solidFill>
                <a:latin typeface="Aptos" panose="020B0004020202020204" pitchFamily="34" charset="0"/>
              </a:rPr>
              <a:t>Pequenas etapas</a:t>
            </a:r>
          </a:p>
        </p:txBody>
      </p:sp>
      <p:sp>
        <p:nvSpPr>
          <p:cNvPr id="15" name="CaixaDeTexto 14">
            <a:extLst>
              <a:ext uri="{FF2B5EF4-FFF2-40B4-BE49-F238E27FC236}">
                <a16:creationId xmlns:a16="http://schemas.microsoft.com/office/drawing/2014/main" id="{53DE4F17-2E29-A85C-B6C0-2461D3975F1E}"/>
              </a:ext>
            </a:extLst>
          </p:cNvPr>
          <p:cNvSpPr txBox="1"/>
          <p:nvPr/>
        </p:nvSpPr>
        <p:spPr>
          <a:xfrm>
            <a:off x="8077200" y="5118100"/>
            <a:ext cx="35306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1200" b="1">
                <a:solidFill>
                  <a:srgbClr val="7660D3"/>
                </a:solidFill>
                <a:latin typeface="Aptos" panose="020B0004020202020204" pitchFamily="34" charset="0"/>
              </a:rPr>
              <a:t>QUANTO FALTA</a:t>
            </a:r>
          </a:p>
        </p:txBody>
      </p:sp>
      <p:sp>
        <p:nvSpPr>
          <p:cNvPr id="16" name="CaixaDeTexto 15">
            <a:extLst>
              <a:ext uri="{FF2B5EF4-FFF2-40B4-BE49-F238E27FC236}">
                <a16:creationId xmlns:a16="http://schemas.microsoft.com/office/drawing/2014/main" id="{ABBDF293-4EC1-1F47-F23A-C02872E970A9}"/>
              </a:ext>
            </a:extLst>
          </p:cNvPr>
          <p:cNvSpPr txBox="1"/>
          <p:nvPr/>
        </p:nvSpPr>
        <p:spPr>
          <a:xfrm>
            <a:off x="8077200" y="5511800"/>
            <a:ext cx="3530600" cy="2923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1900" b="1">
                <a:solidFill>
                  <a:srgbClr val="273047"/>
                </a:solidFill>
                <a:latin typeface="Aptos" panose="020B0004020202020204" pitchFamily="34" charset="0"/>
              </a:rPr>
              <a:t>Progresso visível</a:t>
            </a:r>
          </a:p>
        </p:txBody>
      </p:sp>
    </p:spTree>
    <p:extLst>
      <p:ext uri="{BB962C8B-B14F-4D97-AF65-F5344CB8AC3E}">
        <p14:creationId xmlns:p14="http://schemas.microsoft.com/office/powerpoint/2010/main" val="34744072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D7B98473-7520-05F3-7068-83A3E12D4B73}"/>
              </a:ext>
            </a:extLst>
          </p:cNvPr>
          <p:cNvSpPr/>
          <p:nvPr/>
        </p:nvSpPr>
        <p:spPr>
          <a:xfrm>
            <a:off x="609600" y="406400"/>
            <a:ext cx="63500" cy="254000"/>
          </a:xfrm>
          <a:prstGeom prst="rect">
            <a:avLst/>
          </a:prstGeom>
          <a:solidFill>
            <a:srgbClr val="7660D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A46980CE-7627-06D7-16E2-2E49DA7A7F6B}"/>
              </a:ext>
            </a:extLst>
          </p:cNvPr>
          <p:cNvSpPr txBox="1"/>
          <p:nvPr/>
        </p:nvSpPr>
        <p:spPr>
          <a:xfrm>
            <a:off x="812800" y="431800"/>
            <a:ext cx="102235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1000" b="1">
                <a:solidFill>
                  <a:srgbClr val="7660D3"/>
                </a:solidFill>
                <a:latin typeface="Aptos" panose="020B0004020202020204" pitchFamily="34" charset="0"/>
              </a:rPr>
              <a:t>ETAPA 2 · TEMPESTADE DAS IDEIAS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7861DCCC-99CF-8EA5-A4C6-4C5426352AB6}"/>
              </a:ext>
            </a:extLst>
          </p:cNvPr>
          <p:cNvSpPr txBox="1"/>
          <p:nvPr/>
        </p:nvSpPr>
        <p:spPr>
          <a:xfrm>
            <a:off x="609600" y="889000"/>
            <a:ext cx="10985500" cy="44627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2900" b="1">
                <a:solidFill>
                  <a:srgbClr val="273047"/>
                </a:solidFill>
                <a:latin typeface="Aptos" panose="020B0004020202020204" pitchFamily="34" charset="0"/>
              </a:rPr>
              <a:t>22 ideias. Cinco pilares de produto.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8A651E25-B359-22B8-D8A9-3F280C22C0B7}"/>
              </a:ext>
            </a:extLst>
          </p:cNvPr>
          <p:cNvSpPr txBox="1"/>
          <p:nvPr/>
        </p:nvSpPr>
        <p:spPr>
          <a:xfrm>
            <a:off x="609600" y="1816100"/>
            <a:ext cx="10998200" cy="2000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1300">
                <a:solidFill>
                  <a:srgbClr val="7B7F93"/>
                </a:solidFill>
                <a:latin typeface="Aptos" panose="020B0004020202020204" pitchFamily="34" charset="0"/>
              </a:rPr>
              <a:t>A criatividade ganha estrutura para orientar prioridades de implementação.</a:t>
            </a:r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E545CEB6-5CEC-6AFF-88F1-BD3AB0EE6E9F}"/>
              </a:ext>
            </a:extLst>
          </p:cNvPr>
          <p:cNvSpPr/>
          <p:nvPr/>
        </p:nvSpPr>
        <p:spPr>
          <a:xfrm>
            <a:off x="609600" y="6426200"/>
            <a:ext cx="10972800" cy="12700"/>
          </a:xfrm>
          <a:prstGeom prst="rect">
            <a:avLst/>
          </a:prstGeom>
          <a:solidFill>
            <a:srgbClr val="E2DFE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03DBB478-6920-E1FD-B614-D5B5BB860192}"/>
              </a:ext>
            </a:extLst>
          </p:cNvPr>
          <p:cNvSpPr txBox="1"/>
          <p:nvPr/>
        </p:nvSpPr>
        <p:spPr>
          <a:xfrm>
            <a:off x="609600" y="6553200"/>
            <a:ext cx="9652000" cy="12311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800">
                <a:solidFill>
                  <a:srgbClr val="9690A5"/>
                </a:solidFill>
                <a:latin typeface="Aptos" panose="020B0004020202020204" pitchFamily="34" charset="0"/>
              </a:rPr>
              <a:t>Fonte: Etapa 2 · Organização das ideias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953870F5-6158-CA9E-9D06-7C0E83AA020B}"/>
              </a:ext>
            </a:extLst>
          </p:cNvPr>
          <p:cNvSpPr txBox="1"/>
          <p:nvPr/>
        </p:nvSpPr>
        <p:spPr>
          <a:xfrm>
            <a:off x="10896600" y="6515100"/>
            <a:ext cx="7493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1000" b="1">
                <a:solidFill>
                  <a:srgbClr val="7660D3"/>
                </a:solidFill>
                <a:latin typeface="Aptos" panose="020B0004020202020204" pitchFamily="34" charset="0"/>
              </a:rPr>
              <a:t>07 / 40</a:t>
            </a:r>
          </a:p>
        </p:txBody>
      </p:sp>
      <p:sp>
        <p:nvSpPr>
          <p:cNvPr id="9" name="Retângulo: Cantos Arredondados 8">
            <a:extLst>
              <a:ext uri="{FF2B5EF4-FFF2-40B4-BE49-F238E27FC236}">
                <a16:creationId xmlns:a16="http://schemas.microsoft.com/office/drawing/2014/main" id="{9571223A-9973-C8DC-17D2-FE6119855452}"/>
              </a:ext>
            </a:extLst>
          </p:cNvPr>
          <p:cNvSpPr/>
          <p:nvPr/>
        </p:nvSpPr>
        <p:spPr>
          <a:xfrm>
            <a:off x="609600" y="2476500"/>
            <a:ext cx="3522133" cy="1778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81E3214D-ACFE-2774-80D5-04ACF2B5FC61}"/>
              </a:ext>
            </a:extLst>
          </p:cNvPr>
          <p:cNvSpPr txBox="1"/>
          <p:nvPr/>
        </p:nvSpPr>
        <p:spPr>
          <a:xfrm>
            <a:off x="838200" y="2717800"/>
            <a:ext cx="3064933" cy="2616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1700" b="1">
                <a:solidFill>
                  <a:srgbClr val="6550B5"/>
                </a:solidFill>
                <a:latin typeface="Aptos" panose="020B0004020202020204" pitchFamily="34" charset="0"/>
              </a:rPr>
              <a:t>Centralização</a:t>
            </a:r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4BE38471-0648-7BA5-8D13-DF14074BDB08}"/>
              </a:ext>
            </a:extLst>
          </p:cNvPr>
          <p:cNvSpPr txBox="1"/>
          <p:nvPr/>
        </p:nvSpPr>
        <p:spPr>
          <a:xfrm>
            <a:off x="838200" y="3390900"/>
            <a:ext cx="3064933" cy="43088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1400">
                <a:solidFill>
                  <a:srgbClr val="626A80"/>
                </a:solidFill>
                <a:latin typeface="Aptos" panose="020B0004020202020204" pitchFamily="34" charset="0"/>
              </a:rPr>
              <a:t>Tarefas, calendário, mural, notas e filtros. Ideias 3, 4, 15, 17 e 21.</a:t>
            </a:r>
          </a:p>
        </p:txBody>
      </p:sp>
      <p:sp>
        <p:nvSpPr>
          <p:cNvPr id="12" name="Retângulo: Cantos Arredondados 11">
            <a:extLst>
              <a:ext uri="{FF2B5EF4-FFF2-40B4-BE49-F238E27FC236}">
                <a16:creationId xmlns:a16="http://schemas.microsoft.com/office/drawing/2014/main" id="{85FFDB29-0B68-300D-CC3E-A2307BE6E863}"/>
              </a:ext>
            </a:extLst>
          </p:cNvPr>
          <p:cNvSpPr/>
          <p:nvPr/>
        </p:nvSpPr>
        <p:spPr>
          <a:xfrm>
            <a:off x="4334933" y="2476500"/>
            <a:ext cx="3522134" cy="1778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2C7D7B99-1682-4AA4-5C02-06E18D835595}"/>
              </a:ext>
            </a:extLst>
          </p:cNvPr>
          <p:cNvSpPr txBox="1"/>
          <p:nvPr/>
        </p:nvSpPr>
        <p:spPr>
          <a:xfrm>
            <a:off x="4563533" y="2717800"/>
            <a:ext cx="3064933" cy="2616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1700" b="1">
                <a:solidFill>
                  <a:srgbClr val="6550B5"/>
                </a:solidFill>
                <a:latin typeface="Aptos" panose="020B0004020202020204" pitchFamily="34" charset="0"/>
              </a:rPr>
              <a:t>Planejamento e apoio</a:t>
            </a:r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2BD39397-6D09-09A1-4E6C-B51052D8FEBF}"/>
              </a:ext>
            </a:extLst>
          </p:cNvPr>
          <p:cNvSpPr txBox="1"/>
          <p:nvPr/>
        </p:nvSpPr>
        <p:spPr>
          <a:xfrm>
            <a:off x="4563533" y="3390900"/>
            <a:ext cx="3064933" cy="43088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1400">
                <a:solidFill>
                  <a:srgbClr val="626A80"/>
                </a:solidFill>
                <a:latin typeface="Aptos" panose="020B0004020202020204" pitchFamily="34" charset="0"/>
              </a:rPr>
              <a:t>Alertas, lembretes, chatbot e revisão. Ideias 1, 8, 9, 10, 16 e 18.</a:t>
            </a:r>
          </a:p>
        </p:txBody>
      </p:sp>
      <p:sp>
        <p:nvSpPr>
          <p:cNvPr id="15" name="Retângulo: Cantos Arredondados 14">
            <a:extLst>
              <a:ext uri="{FF2B5EF4-FFF2-40B4-BE49-F238E27FC236}">
                <a16:creationId xmlns:a16="http://schemas.microsoft.com/office/drawing/2014/main" id="{1AB570B7-D300-C5AC-CECD-A1551332DFC7}"/>
              </a:ext>
            </a:extLst>
          </p:cNvPr>
          <p:cNvSpPr/>
          <p:nvPr/>
        </p:nvSpPr>
        <p:spPr>
          <a:xfrm>
            <a:off x="8060267" y="2476500"/>
            <a:ext cx="3522133" cy="1778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6" name="CaixaDeTexto 15">
            <a:extLst>
              <a:ext uri="{FF2B5EF4-FFF2-40B4-BE49-F238E27FC236}">
                <a16:creationId xmlns:a16="http://schemas.microsoft.com/office/drawing/2014/main" id="{65501545-7B4F-2E50-37EA-8D73F85DBE07}"/>
              </a:ext>
            </a:extLst>
          </p:cNvPr>
          <p:cNvSpPr txBox="1"/>
          <p:nvPr/>
        </p:nvSpPr>
        <p:spPr>
          <a:xfrm>
            <a:off x="8288867" y="2717800"/>
            <a:ext cx="3064933" cy="2616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1700" b="1">
                <a:solidFill>
                  <a:srgbClr val="6550B5"/>
                </a:solidFill>
                <a:latin typeface="Aptos" panose="020B0004020202020204" pitchFamily="34" charset="0"/>
              </a:rPr>
              <a:t>Motivação</a:t>
            </a:r>
          </a:p>
        </p:txBody>
      </p:sp>
      <p:sp>
        <p:nvSpPr>
          <p:cNvPr id="17" name="CaixaDeTexto 16">
            <a:extLst>
              <a:ext uri="{FF2B5EF4-FFF2-40B4-BE49-F238E27FC236}">
                <a16:creationId xmlns:a16="http://schemas.microsoft.com/office/drawing/2014/main" id="{0ED350F4-7634-E604-7CA8-973229754C2E}"/>
              </a:ext>
            </a:extLst>
          </p:cNvPr>
          <p:cNvSpPr txBox="1"/>
          <p:nvPr/>
        </p:nvSpPr>
        <p:spPr>
          <a:xfrm>
            <a:off x="8288867" y="3390900"/>
            <a:ext cx="3064933" cy="43088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1400">
                <a:solidFill>
                  <a:srgbClr val="626A80"/>
                </a:solidFill>
                <a:latin typeface="Aptos" panose="020B0004020202020204" pitchFamily="34" charset="0"/>
              </a:rPr>
              <a:t>XP, ranking opcional, chama e quiz. Ideias 6, 7, 12 e 14.</a:t>
            </a:r>
          </a:p>
        </p:txBody>
      </p:sp>
      <p:sp>
        <p:nvSpPr>
          <p:cNvPr id="18" name="Retângulo: Cantos Arredondados 17">
            <a:extLst>
              <a:ext uri="{FF2B5EF4-FFF2-40B4-BE49-F238E27FC236}">
                <a16:creationId xmlns:a16="http://schemas.microsoft.com/office/drawing/2014/main" id="{2B02F656-74A2-16C4-0303-F51B9DD3A8A0}"/>
              </a:ext>
            </a:extLst>
          </p:cNvPr>
          <p:cNvSpPr/>
          <p:nvPr/>
        </p:nvSpPr>
        <p:spPr>
          <a:xfrm>
            <a:off x="609600" y="4457700"/>
            <a:ext cx="3522133" cy="1778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9" name="CaixaDeTexto 18">
            <a:extLst>
              <a:ext uri="{FF2B5EF4-FFF2-40B4-BE49-F238E27FC236}">
                <a16:creationId xmlns:a16="http://schemas.microsoft.com/office/drawing/2014/main" id="{EC58D0F0-6AAB-0C8C-2CDA-D46722F80B50}"/>
              </a:ext>
            </a:extLst>
          </p:cNvPr>
          <p:cNvSpPr txBox="1"/>
          <p:nvPr/>
        </p:nvSpPr>
        <p:spPr>
          <a:xfrm>
            <a:off x="838200" y="4699000"/>
            <a:ext cx="3064933" cy="2616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1700" b="1">
                <a:solidFill>
                  <a:srgbClr val="6550B5"/>
                </a:solidFill>
                <a:latin typeface="Aptos" panose="020B0004020202020204" pitchFamily="34" charset="0"/>
              </a:rPr>
              <a:t>Acesso inclusivo</a:t>
            </a:r>
          </a:p>
        </p:txBody>
      </p:sp>
      <p:sp>
        <p:nvSpPr>
          <p:cNvPr id="20" name="CaixaDeTexto 19">
            <a:extLst>
              <a:ext uri="{FF2B5EF4-FFF2-40B4-BE49-F238E27FC236}">
                <a16:creationId xmlns:a16="http://schemas.microsoft.com/office/drawing/2014/main" id="{0A545D59-D0FB-6DE2-A2E6-16D1B094399C}"/>
              </a:ext>
            </a:extLst>
          </p:cNvPr>
          <p:cNvSpPr txBox="1"/>
          <p:nvPr/>
        </p:nvSpPr>
        <p:spPr>
          <a:xfrm>
            <a:off x="838200" y="5372100"/>
            <a:ext cx="3064933" cy="43088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1400">
                <a:solidFill>
                  <a:srgbClr val="626A80"/>
                </a:solidFill>
                <a:latin typeface="Aptos" panose="020B0004020202020204" pitchFamily="34" charset="0"/>
              </a:rPr>
              <a:t>Acessibilidade, tour, offline e navegação simples. Ideias 11 e 22.</a:t>
            </a:r>
          </a:p>
        </p:txBody>
      </p:sp>
      <p:sp>
        <p:nvSpPr>
          <p:cNvPr id="21" name="Retângulo: Cantos Arredondados 20">
            <a:extLst>
              <a:ext uri="{FF2B5EF4-FFF2-40B4-BE49-F238E27FC236}">
                <a16:creationId xmlns:a16="http://schemas.microsoft.com/office/drawing/2014/main" id="{095FA61F-25DB-FEE4-4876-BDF1F15BBDDF}"/>
              </a:ext>
            </a:extLst>
          </p:cNvPr>
          <p:cNvSpPr/>
          <p:nvPr/>
        </p:nvSpPr>
        <p:spPr>
          <a:xfrm>
            <a:off x="4334933" y="4457700"/>
            <a:ext cx="3522134" cy="1778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2" name="CaixaDeTexto 21">
            <a:extLst>
              <a:ext uri="{FF2B5EF4-FFF2-40B4-BE49-F238E27FC236}">
                <a16:creationId xmlns:a16="http://schemas.microsoft.com/office/drawing/2014/main" id="{FF3E524C-4AEC-A57F-CFCB-CF39CFC911A7}"/>
              </a:ext>
            </a:extLst>
          </p:cNvPr>
          <p:cNvSpPr txBox="1"/>
          <p:nvPr/>
        </p:nvSpPr>
        <p:spPr>
          <a:xfrm>
            <a:off x="4563533" y="4699000"/>
            <a:ext cx="3064933" cy="2616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1700" b="1">
                <a:solidFill>
                  <a:srgbClr val="6550B5"/>
                </a:solidFill>
                <a:latin typeface="Aptos" panose="020B0004020202020204" pitchFamily="34" charset="0"/>
              </a:rPr>
              <a:t>Colaboração e gestão</a:t>
            </a:r>
          </a:p>
        </p:txBody>
      </p:sp>
      <p:sp>
        <p:nvSpPr>
          <p:cNvPr id="23" name="CaixaDeTexto 22">
            <a:extLst>
              <a:ext uri="{FF2B5EF4-FFF2-40B4-BE49-F238E27FC236}">
                <a16:creationId xmlns:a16="http://schemas.microsoft.com/office/drawing/2014/main" id="{C1F3E918-6070-CDFB-58A4-9D75AAA4E0FC}"/>
              </a:ext>
            </a:extLst>
          </p:cNvPr>
          <p:cNvSpPr txBox="1"/>
          <p:nvPr/>
        </p:nvSpPr>
        <p:spPr>
          <a:xfrm>
            <a:off x="4563533" y="5372100"/>
            <a:ext cx="3064933" cy="43088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1400">
                <a:solidFill>
                  <a:srgbClr val="626A80"/>
                </a:solidFill>
                <a:latin typeface="Aptos" panose="020B0004020202020204" pitchFamily="34" charset="0"/>
              </a:rPr>
              <a:t>Docentes, comunidade, prazos, perfis e totem. Ideias 2, 5, 19 e 20.</a:t>
            </a:r>
          </a:p>
        </p:txBody>
      </p:sp>
    </p:spTree>
    <p:extLst>
      <p:ext uri="{BB962C8B-B14F-4D97-AF65-F5344CB8AC3E}">
        <p14:creationId xmlns:p14="http://schemas.microsoft.com/office/powerpoint/2010/main" val="328841504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4933FAEE-D99C-7957-2170-0C53EEDEB66C}"/>
              </a:ext>
            </a:extLst>
          </p:cNvPr>
          <p:cNvSpPr/>
          <p:nvPr/>
        </p:nvSpPr>
        <p:spPr>
          <a:xfrm>
            <a:off x="609600" y="406400"/>
            <a:ext cx="63500" cy="254000"/>
          </a:xfrm>
          <a:prstGeom prst="rect">
            <a:avLst/>
          </a:prstGeom>
          <a:solidFill>
            <a:srgbClr val="7660D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743495A7-5955-F0F6-7CB1-8F03E2FA4F96}"/>
              </a:ext>
            </a:extLst>
          </p:cNvPr>
          <p:cNvSpPr txBox="1"/>
          <p:nvPr/>
        </p:nvSpPr>
        <p:spPr>
          <a:xfrm>
            <a:off x="812800" y="431800"/>
            <a:ext cx="102235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1000" b="1">
                <a:solidFill>
                  <a:srgbClr val="7660D3"/>
                </a:solidFill>
                <a:latin typeface="Aptos" panose="020B0004020202020204" pitchFamily="34" charset="0"/>
              </a:rPr>
              <a:t>ETAPA 2 · CENTRALIZAÇÃO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4CE2BD72-F691-58DB-03EC-730C7D3A20D0}"/>
              </a:ext>
            </a:extLst>
          </p:cNvPr>
          <p:cNvSpPr txBox="1"/>
          <p:nvPr/>
        </p:nvSpPr>
        <p:spPr>
          <a:xfrm>
            <a:off x="609600" y="889000"/>
            <a:ext cx="10985500" cy="44627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2900" b="1">
                <a:solidFill>
                  <a:srgbClr val="273047"/>
                </a:solidFill>
                <a:latin typeface="Aptos" panose="020B0004020202020204" pitchFamily="34" charset="0"/>
              </a:rPr>
              <a:t>As responsabilidades se encontram em um lugar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F7DCCC64-9EDA-B95F-6F38-A6A5FF718F00}"/>
              </a:ext>
            </a:extLst>
          </p:cNvPr>
          <p:cNvSpPr txBox="1"/>
          <p:nvPr/>
        </p:nvSpPr>
        <p:spPr>
          <a:xfrm>
            <a:off x="609600" y="1816100"/>
            <a:ext cx="10998200" cy="2000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1300">
                <a:solidFill>
                  <a:srgbClr val="7B7F93"/>
                </a:solidFill>
                <a:latin typeface="Aptos" panose="020B0004020202020204" pitchFamily="34" charset="0"/>
              </a:rPr>
              <a:t>Atividades reais alimentam filtros, prazos e calendário.</a:t>
            </a:r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E2DBD319-87C2-A79E-5CAC-CF0BAC07F8E5}"/>
              </a:ext>
            </a:extLst>
          </p:cNvPr>
          <p:cNvSpPr/>
          <p:nvPr/>
        </p:nvSpPr>
        <p:spPr>
          <a:xfrm>
            <a:off x="609600" y="6426200"/>
            <a:ext cx="10972800" cy="12700"/>
          </a:xfrm>
          <a:prstGeom prst="rect">
            <a:avLst/>
          </a:prstGeom>
          <a:solidFill>
            <a:srgbClr val="E2DFE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C561C677-331B-579D-9446-565FBAED29A9}"/>
              </a:ext>
            </a:extLst>
          </p:cNvPr>
          <p:cNvSpPr txBox="1"/>
          <p:nvPr/>
        </p:nvSpPr>
        <p:spPr>
          <a:xfrm>
            <a:off x="609600" y="6553200"/>
            <a:ext cx="9652000" cy="12311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800">
                <a:solidFill>
                  <a:srgbClr val="9690A5"/>
                </a:solidFill>
                <a:latin typeface="Aptos" panose="020B0004020202020204" pitchFamily="34" charset="0"/>
              </a:rPr>
              <a:t>Fonte: Etapa 2 · Ideias 3, 4, 15, 17 e 21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041FCC23-9F4A-B3A5-A2D1-086325D839B4}"/>
              </a:ext>
            </a:extLst>
          </p:cNvPr>
          <p:cNvSpPr txBox="1"/>
          <p:nvPr/>
        </p:nvSpPr>
        <p:spPr>
          <a:xfrm>
            <a:off x="10896600" y="6515100"/>
            <a:ext cx="7493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1000" b="1">
                <a:solidFill>
                  <a:srgbClr val="7660D3"/>
                </a:solidFill>
                <a:latin typeface="Aptos" panose="020B0004020202020204" pitchFamily="34" charset="0"/>
              </a:rPr>
              <a:t>08 / 40</a:t>
            </a:r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B42EA4AB-0D72-D6CD-FEFA-164668F85B40}"/>
              </a:ext>
            </a:extLst>
          </p:cNvPr>
          <p:cNvSpPr/>
          <p:nvPr/>
        </p:nvSpPr>
        <p:spPr>
          <a:xfrm>
            <a:off x="609600" y="2527300"/>
            <a:ext cx="63500" cy="368300"/>
          </a:xfrm>
          <a:prstGeom prst="rect">
            <a:avLst/>
          </a:prstGeom>
          <a:solidFill>
            <a:srgbClr val="C7B7E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16D76F80-0B97-700B-B599-3149EA54C329}"/>
              </a:ext>
            </a:extLst>
          </p:cNvPr>
          <p:cNvSpPr txBox="1"/>
          <p:nvPr/>
        </p:nvSpPr>
        <p:spPr>
          <a:xfrm>
            <a:off x="838200" y="2501900"/>
            <a:ext cx="31496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1600" b="1">
                <a:solidFill>
                  <a:srgbClr val="6550B5"/>
                </a:solidFill>
                <a:latin typeface="Aptos" panose="020B0004020202020204" pitchFamily="34" charset="0"/>
              </a:rPr>
              <a:t>Registrar e encontrar</a:t>
            </a:r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0EF48D11-2210-766E-9AE7-D0B19B641867}"/>
              </a:ext>
            </a:extLst>
          </p:cNvPr>
          <p:cNvSpPr txBox="1"/>
          <p:nvPr/>
        </p:nvSpPr>
        <p:spPr>
          <a:xfrm>
            <a:off x="838200" y="3009900"/>
            <a:ext cx="3149600" cy="19236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1250">
                <a:solidFill>
                  <a:srgbClr val="697187"/>
                </a:solidFill>
                <a:latin typeface="Aptos" panose="020B0004020202020204" pitchFamily="34" charset="0"/>
              </a:rPr>
              <a:t>Criar, editar, excluir e pesquisar atividades.</a:t>
            </a:r>
          </a:p>
        </p:txBody>
      </p:sp>
      <p:sp>
        <p:nvSpPr>
          <p:cNvPr id="12" name="Retângulo 11">
            <a:extLst>
              <a:ext uri="{FF2B5EF4-FFF2-40B4-BE49-F238E27FC236}">
                <a16:creationId xmlns:a16="http://schemas.microsoft.com/office/drawing/2014/main" id="{6F5D779F-9F95-0DE3-7F88-031A1A0E5D19}"/>
              </a:ext>
            </a:extLst>
          </p:cNvPr>
          <p:cNvSpPr/>
          <p:nvPr/>
        </p:nvSpPr>
        <p:spPr>
          <a:xfrm>
            <a:off x="609600" y="3733800"/>
            <a:ext cx="63500" cy="368300"/>
          </a:xfrm>
          <a:prstGeom prst="rect">
            <a:avLst/>
          </a:prstGeom>
          <a:solidFill>
            <a:srgbClr val="C7B7E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741FDD98-3845-9ADA-4BCD-AADED3F92203}"/>
              </a:ext>
            </a:extLst>
          </p:cNvPr>
          <p:cNvSpPr txBox="1"/>
          <p:nvPr/>
        </p:nvSpPr>
        <p:spPr>
          <a:xfrm>
            <a:off x="838200" y="3708400"/>
            <a:ext cx="31496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1600" b="1">
                <a:solidFill>
                  <a:srgbClr val="6550B5"/>
                </a:solidFill>
                <a:latin typeface="Aptos" panose="020B0004020202020204" pitchFamily="34" charset="0"/>
              </a:rPr>
              <a:t>Filtrar com contexto</a:t>
            </a:r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96258CAD-1851-D2D9-3AD2-26E6DE47DFD0}"/>
              </a:ext>
            </a:extLst>
          </p:cNvPr>
          <p:cNvSpPr txBox="1"/>
          <p:nvPr/>
        </p:nvSpPr>
        <p:spPr>
          <a:xfrm>
            <a:off x="838200" y="4216400"/>
            <a:ext cx="3149600" cy="19236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1250">
                <a:solidFill>
                  <a:srgbClr val="697187"/>
                </a:solidFill>
                <a:latin typeface="Aptos" panose="020B0004020202020204" pitchFamily="34" charset="0"/>
              </a:rPr>
              <a:t>Disciplina, prioridade, status e prazo.</a:t>
            </a:r>
          </a:p>
        </p:txBody>
      </p:sp>
      <p:sp>
        <p:nvSpPr>
          <p:cNvPr id="15" name="Retângulo 14">
            <a:extLst>
              <a:ext uri="{FF2B5EF4-FFF2-40B4-BE49-F238E27FC236}">
                <a16:creationId xmlns:a16="http://schemas.microsoft.com/office/drawing/2014/main" id="{68F18E61-1305-1ECC-02E9-AED87918F40E}"/>
              </a:ext>
            </a:extLst>
          </p:cNvPr>
          <p:cNvSpPr/>
          <p:nvPr/>
        </p:nvSpPr>
        <p:spPr>
          <a:xfrm>
            <a:off x="609600" y="4940300"/>
            <a:ext cx="63500" cy="368300"/>
          </a:xfrm>
          <a:prstGeom prst="rect">
            <a:avLst/>
          </a:prstGeom>
          <a:solidFill>
            <a:srgbClr val="C7B7E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6" name="CaixaDeTexto 15">
            <a:extLst>
              <a:ext uri="{FF2B5EF4-FFF2-40B4-BE49-F238E27FC236}">
                <a16:creationId xmlns:a16="http://schemas.microsoft.com/office/drawing/2014/main" id="{8832794B-BAB4-578E-8258-61012675E417}"/>
              </a:ext>
            </a:extLst>
          </p:cNvPr>
          <p:cNvSpPr txBox="1"/>
          <p:nvPr/>
        </p:nvSpPr>
        <p:spPr>
          <a:xfrm>
            <a:off x="838200" y="4914900"/>
            <a:ext cx="31496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1600" b="1">
                <a:solidFill>
                  <a:srgbClr val="6550B5"/>
                </a:solidFill>
                <a:latin typeface="Aptos" panose="020B0004020202020204" pitchFamily="34" charset="0"/>
              </a:rPr>
              <a:t>Conectar informações</a:t>
            </a:r>
          </a:p>
        </p:txBody>
      </p:sp>
      <p:sp>
        <p:nvSpPr>
          <p:cNvPr id="17" name="CaixaDeTexto 16">
            <a:extLst>
              <a:ext uri="{FF2B5EF4-FFF2-40B4-BE49-F238E27FC236}">
                <a16:creationId xmlns:a16="http://schemas.microsoft.com/office/drawing/2014/main" id="{21EEBB19-481A-5293-B7A9-B7FC15635685}"/>
              </a:ext>
            </a:extLst>
          </p:cNvPr>
          <p:cNvSpPr txBox="1"/>
          <p:nvPr/>
        </p:nvSpPr>
        <p:spPr>
          <a:xfrm>
            <a:off x="838200" y="5422900"/>
            <a:ext cx="3149600" cy="3847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1250">
                <a:solidFill>
                  <a:srgbClr val="697187"/>
                </a:solidFill>
                <a:latin typeface="Aptos" panose="020B0004020202020204" pitchFamily="34" charset="0"/>
              </a:rPr>
              <a:t>Sem duplicar atividades entre lista e calendário.</a:t>
            </a:r>
          </a:p>
        </p:txBody>
      </p:sp>
      <p:sp>
        <p:nvSpPr>
          <p:cNvPr id="18" name="Retângulo: Cantos Arredondados 17">
            <a:extLst>
              <a:ext uri="{FF2B5EF4-FFF2-40B4-BE49-F238E27FC236}">
                <a16:creationId xmlns:a16="http://schemas.microsoft.com/office/drawing/2014/main" id="{9C2C127C-C744-4669-C54B-49D68EE7D422}"/>
              </a:ext>
            </a:extLst>
          </p:cNvPr>
          <p:cNvSpPr/>
          <p:nvPr/>
        </p:nvSpPr>
        <p:spPr>
          <a:xfrm>
            <a:off x="4241800" y="2463800"/>
            <a:ext cx="7340600" cy="3771900"/>
          </a:xfrm>
          <a:prstGeom prst="roundRect">
            <a:avLst>
              <a:gd name="adj" fmla="val 6000"/>
            </a:avLst>
          </a:prstGeom>
          <a:solidFill>
            <a:srgbClr val="EDE8F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9" name="Retângulo: Cantos Arredondados 18">
            <a:extLst>
              <a:ext uri="{FF2B5EF4-FFF2-40B4-BE49-F238E27FC236}">
                <a16:creationId xmlns:a16="http://schemas.microsoft.com/office/drawing/2014/main" id="{27F63106-F6BC-26C8-ABAC-B52D595C1BD1}"/>
              </a:ext>
            </a:extLst>
          </p:cNvPr>
          <p:cNvSpPr/>
          <p:nvPr/>
        </p:nvSpPr>
        <p:spPr>
          <a:xfrm>
            <a:off x="4318000" y="2826147"/>
            <a:ext cx="3543300" cy="247570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21" name="Imagem 20" descr="Atividades, prioridade e progresso">
            <a:extLst>
              <a:ext uri="{FF2B5EF4-FFF2-40B4-BE49-F238E27FC236}">
                <a16:creationId xmlns:a16="http://schemas.microsoft.com/office/drawing/2014/main" id="{F1D173D7-DD25-35BF-E123-5EBBE118330E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81500" y="2889647"/>
            <a:ext cx="3416300" cy="2348706"/>
          </a:xfrm>
          <a:prstGeom prst="rect">
            <a:avLst/>
          </a:prstGeom>
        </p:spPr>
      </p:pic>
      <p:sp>
        <p:nvSpPr>
          <p:cNvPr id="22" name="CaixaDeTexto 21">
            <a:extLst>
              <a:ext uri="{FF2B5EF4-FFF2-40B4-BE49-F238E27FC236}">
                <a16:creationId xmlns:a16="http://schemas.microsoft.com/office/drawing/2014/main" id="{0C26EC67-168C-9CB7-165B-C1048D9781CB}"/>
              </a:ext>
            </a:extLst>
          </p:cNvPr>
          <p:cNvSpPr txBox="1"/>
          <p:nvPr/>
        </p:nvSpPr>
        <p:spPr>
          <a:xfrm>
            <a:off x="4381500" y="5537200"/>
            <a:ext cx="33909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1100" b="1">
                <a:solidFill>
                  <a:srgbClr val="75668D"/>
                </a:solidFill>
                <a:latin typeface="Aptos" panose="020B0004020202020204" pitchFamily="34" charset="0"/>
              </a:rPr>
              <a:t>Atividades, prioridade e progresso</a:t>
            </a:r>
          </a:p>
        </p:txBody>
      </p:sp>
      <p:sp>
        <p:nvSpPr>
          <p:cNvPr id="23" name="Retângulo: Cantos Arredondados 22">
            <a:extLst>
              <a:ext uri="{FF2B5EF4-FFF2-40B4-BE49-F238E27FC236}">
                <a16:creationId xmlns:a16="http://schemas.microsoft.com/office/drawing/2014/main" id="{7C799988-78B3-A742-2F80-892AC5651A15}"/>
              </a:ext>
            </a:extLst>
          </p:cNvPr>
          <p:cNvSpPr/>
          <p:nvPr/>
        </p:nvSpPr>
        <p:spPr>
          <a:xfrm>
            <a:off x="7924800" y="2826147"/>
            <a:ext cx="3543300" cy="247570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25" name="Imagem 24" descr="Calendário com as mesmas entregas">
            <a:extLst>
              <a:ext uri="{FF2B5EF4-FFF2-40B4-BE49-F238E27FC236}">
                <a16:creationId xmlns:a16="http://schemas.microsoft.com/office/drawing/2014/main" id="{7015537E-6BD3-7944-99B6-1BC10C625205}"/>
              </a:ext>
            </a:extLst>
          </p:cNvPr>
          <p:cNvPicPr>
            <a:picLocks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88300" y="2889647"/>
            <a:ext cx="3416300" cy="2348706"/>
          </a:xfrm>
          <a:prstGeom prst="rect">
            <a:avLst/>
          </a:prstGeom>
        </p:spPr>
      </p:pic>
      <p:sp>
        <p:nvSpPr>
          <p:cNvPr id="26" name="CaixaDeTexto 25">
            <a:extLst>
              <a:ext uri="{FF2B5EF4-FFF2-40B4-BE49-F238E27FC236}">
                <a16:creationId xmlns:a16="http://schemas.microsoft.com/office/drawing/2014/main" id="{14E6B740-CC75-F7CA-65B4-F42E44051E1B}"/>
              </a:ext>
            </a:extLst>
          </p:cNvPr>
          <p:cNvSpPr txBox="1"/>
          <p:nvPr/>
        </p:nvSpPr>
        <p:spPr>
          <a:xfrm>
            <a:off x="7988300" y="5537200"/>
            <a:ext cx="33909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1100" b="1">
                <a:solidFill>
                  <a:srgbClr val="75668D"/>
                </a:solidFill>
                <a:latin typeface="Aptos" panose="020B0004020202020204" pitchFamily="34" charset="0"/>
              </a:rPr>
              <a:t>Calendário com as mesmas entregas</a:t>
            </a:r>
          </a:p>
        </p:txBody>
      </p:sp>
    </p:spTree>
    <p:extLst>
      <p:ext uri="{BB962C8B-B14F-4D97-AF65-F5344CB8AC3E}">
        <p14:creationId xmlns:p14="http://schemas.microsoft.com/office/powerpoint/2010/main" val="212013645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94EE782-5A33-9662-3E42-142FED96CEFA}"/>
              </a:ext>
            </a:extLst>
          </p:cNvPr>
          <p:cNvSpPr/>
          <p:nvPr/>
        </p:nvSpPr>
        <p:spPr>
          <a:xfrm>
            <a:off x="609600" y="406400"/>
            <a:ext cx="63500" cy="254000"/>
          </a:xfrm>
          <a:prstGeom prst="rect">
            <a:avLst/>
          </a:prstGeom>
          <a:solidFill>
            <a:srgbClr val="7660D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9EAE67B2-FD39-2EE5-A174-21F74CCCE22B}"/>
              </a:ext>
            </a:extLst>
          </p:cNvPr>
          <p:cNvSpPr txBox="1"/>
          <p:nvPr/>
        </p:nvSpPr>
        <p:spPr>
          <a:xfrm>
            <a:off x="812800" y="431800"/>
            <a:ext cx="102235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1000" b="1">
                <a:solidFill>
                  <a:srgbClr val="7660D3"/>
                </a:solidFill>
                <a:latin typeface="Aptos" panose="020B0004020202020204" pitchFamily="34" charset="0"/>
              </a:rPr>
              <a:t>ETAPA 2 · PLANEJAMENTO E APOIO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321233C2-6AEB-4DEC-9DF8-D4A5924B6C31}"/>
              </a:ext>
            </a:extLst>
          </p:cNvPr>
          <p:cNvSpPr txBox="1"/>
          <p:nvPr/>
        </p:nvSpPr>
        <p:spPr>
          <a:xfrm>
            <a:off x="609600" y="889000"/>
            <a:ext cx="10985500" cy="44627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2900" b="1">
                <a:solidFill>
                  <a:srgbClr val="273047"/>
                </a:solidFill>
                <a:latin typeface="Aptos" panose="020B0004020202020204" pitchFamily="34" charset="0"/>
              </a:rPr>
              <a:t>Apoio contextual para decidir o próximo passo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7B4D05F0-6F59-A68E-3C02-E909DB382119}"/>
              </a:ext>
            </a:extLst>
          </p:cNvPr>
          <p:cNvSpPr txBox="1"/>
          <p:nvPr/>
        </p:nvSpPr>
        <p:spPr>
          <a:xfrm>
            <a:off x="609600" y="1816100"/>
            <a:ext cx="10998200" cy="2000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1300">
                <a:solidFill>
                  <a:srgbClr val="7B7F93"/>
                </a:solidFill>
                <a:latin typeface="Aptos" panose="020B0004020202020204" pitchFamily="34" charset="0"/>
              </a:rPr>
              <a:t>Sugestões locais consultam os dados reais da aplicação.</a:t>
            </a:r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443D7C4B-0D36-2884-4B3E-E774F66045D1}"/>
              </a:ext>
            </a:extLst>
          </p:cNvPr>
          <p:cNvSpPr/>
          <p:nvPr/>
        </p:nvSpPr>
        <p:spPr>
          <a:xfrm>
            <a:off x="609600" y="6426200"/>
            <a:ext cx="10972800" cy="12700"/>
          </a:xfrm>
          <a:prstGeom prst="rect">
            <a:avLst/>
          </a:prstGeom>
          <a:solidFill>
            <a:srgbClr val="E2DFE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FEBAD907-E138-16EA-4971-B6E7181D29F6}"/>
              </a:ext>
            </a:extLst>
          </p:cNvPr>
          <p:cNvSpPr txBox="1"/>
          <p:nvPr/>
        </p:nvSpPr>
        <p:spPr>
          <a:xfrm>
            <a:off x="609600" y="6553200"/>
            <a:ext cx="9652000" cy="12311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800">
                <a:solidFill>
                  <a:srgbClr val="9690A5"/>
                </a:solidFill>
                <a:latin typeface="Aptos" panose="020B0004020202020204" pitchFamily="34" charset="0"/>
              </a:rPr>
              <a:t>Fonte: Etapa 2 · Ideias 1, 8, 9, 10, 16 e 18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088A93B5-9618-2B33-2C85-24C1D85696F1}"/>
              </a:ext>
            </a:extLst>
          </p:cNvPr>
          <p:cNvSpPr txBox="1"/>
          <p:nvPr/>
        </p:nvSpPr>
        <p:spPr>
          <a:xfrm>
            <a:off x="10896600" y="6515100"/>
            <a:ext cx="7493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1000" b="1">
                <a:solidFill>
                  <a:srgbClr val="7660D3"/>
                </a:solidFill>
                <a:latin typeface="Aptos" panose="020B0004020202020204" pitchFamily="34" charset="0"/>
              </a:rPr>
              <a:t>09 / 40</a:t>
            </a:r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2A879953-749F-F4A3-3427-D2D5AB6BEAFE}"/>
              </a:ext>
            </a:extLst>
          </p:cNvPr>
          <p:cNvSpPr/>
          <p:nvPr/>
        </p:nvSpPr>
        <p:spPr>
          <a:xfrm>
            <a:off x="609600" y="2527300"/>
            <a:ext cx="63500" cy="368300"/>
          </a:xfrm>
          <a:prstGeom prst="rect">
            <a:avLst/>
          </a:prstGeom>
          <a:solidFill>
            <a:srgbClr val="C7B7E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4996A718-EB2B-787E-66FA-339690D115A3}"/>
              </a:ext>
            </a:extLst>
          </p:cNvPr>
          <p:cNvSpPr txBox="1"/>
          <p:nvPr/>
        </p:nvSpPr>
        <p:spPr>
          <a:xfrm>
            <a:off x="838200" y="2501900"/>
            <a:ext cx="31496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1600" b="1">
                <a:solidFill>
                  <a:srgbClr val="6550B5"/>
                </a:solidFill>
                <a:latin typeface="Aptos" panose="020B0004020202020204" pitchFamily="34" charset="0"/>
              </a:rPr>
              <a:t>Perguntas úteis</a:t>
            </a:r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CB98A7F0-AD75-B436-FAF6-4E66C1621AE3}"/>
              </a:ext>
            </a:extLst>
          </p:cNvPr>
          <p:cNvSpPr txBox="1"/>
          <p:nvPr/>
        </p:nvSpPr>
        <p:spPr>
          <a:xfrm>
            <a:off x="838200" y="3009900"/>
            <a:ext cx="3149600" cy="3847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1250">
                <a:solidFill>
                  <a:srgbClr val="697187"/>
                </a:solidFill>
                <a:latin typeface="Aptos" panose="020B0004020202020204" pitchFamily="34" charset="0"/>
              </a:rPr>
              <a:t>Semana, atrasos, prioridade e plano de estudo.</a:t>
            </a:r>
          </a:p>
        </p:txBody>
      </p:sp>
      <p:sp>
        <p:nvSpPr>
          <p:cNvPr id="12" name="Retângulo 11">
            <a:extLst>
              <a:ext uri="{FF2B5EF4-FFF2-40B4-BE49-F238E27FC236}">
                <a16:creationId xmlns:a16="http://schemas.microsoft.com/office/drawing/2014/main" id="{A0719063-A5EC-C8A1-0D7D-E75857FC3B5C}"/>
              </a:ext>
            </a:extLst>
          </p:cNvPr>
          <p:cNvSpPr/>
          <p:nvPr/>
        </p:nvSpPr>
        <p:spPr>
          <a:xfrm>
            <a:off x="609600" y="3733800"/>
            <a:ext cx="63500" cy="368300"/>
          </a:xfrm>
          <a:prstGeom prst="rect">
            <a:avLst/>
          </a:prstGeom>
          <a:solidFill>
            <a:srgbClr val="C7B7E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19B80039-E240-4C4E-8330-7F1C7B5ACA73}"/>
              </a:ext>
            </a:extLst>
          </p:cNvPr>
          <p:cNvSpPr txBox="1"/>
          <p:nvPr/>
        </p:nvSpPr>
        <p:spPr>
          <a:xfrm>
            <a:off x="838200" y="3708400"/>
            <a:ext cx="31496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1600" b="1">
                <a:solidFill>
                  <a:srgbClr val="6550B5"/>
                </a:solidFill>
                <a:latin typeface="Aptos" panose="020B0004020202020204" pitchFamily="34" charset="0"/>
              </a:rPr>
              <a:t>Resposta explicável</a:t>
            </a:r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F3460534-6AD0-7F11-0B6B-00E63801E39E}"/>
              </a:ext>
            </a:extLst>
          </p:cNvPr>
          <p:cNvSpPr txBox="1"/>
          <p:nvPr/>
        </p:nvSpPr>
        <p:spPr>
          <a:xfrm>
            <a:off x="838200" y="4216400"/>
            <a:ext cx="3149600" cy="19236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1250">
                <a:solidFill>
                  <a:srgbClr val="697187"/>
                </a:solidFill>
                <a:latin typeface="Aptos" panose="020B0004020202020204" pitchFamily="34" charset="0"/>
              </a:rPr>
              <a:t>Considera prazo, etapas pendentes e esforço.</a:t>
            </a:r>
          </a:p>
        </p:txBody>
      </p:sp>
      <p:sp>
        <p:nvSpPr>
          <p:cNvPr id="15" name="Retângulo 14">
            <a:extLst>
              <a:ext uri="{FF2B5EF4-FFF2-40B4-BE49-F238E27FC236}">
                <a16:creationId xmlns:a16="http://schemas.microsoft.com/office/drawing/2014/main" id="{23359053-9B7E-050C-70A7-A6A75C3AE846}"/>
              </a:ext>
            </a:extLst>
          </p:cNvPr>
          <p:cNvSpPr/>
          <p:nvPr/>
        </p:nvSpPr>
        <p:spPr>
          <a:xfrm>
            <a:off x="609600" y="4940300"/>
            <a:ext cx="63500" cy="368300"/>
          </a:xfrm>
          <a:prstGeom prst="rect">
            <a:avLst/>
          </a:prstGeom>
          <a:solidFill>
            <a:srgbClr val="C7B7E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6" name="CaixaDeTexto 15">
            <a:extLst>
              <a:ext uri="{FF2B5EF4-FFF2-40B4-BE49-F238E27FC236}">
                <a16:creationId xmlns:a16="http://schemas.microsoft.com/office/drawing/2014/main" id="{6CD59BAA-C212-3345-8ADF-AFF63FC49B58}"/>
              </a:ext>
            </a:extLst>
          </p:cNvPr>
          <p:cNvSpPr txBox="1"/>
          <p:nvPr/>
        </p:nvSpPr>
        <p:spPr>
          <a:xfrm>
            <a:off x="838200" y="4914900"/>
            <a:ext cx="31496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1600" b="1">
                <a:solidFill>
                  <a:srgbClr val="6550B5"/>
                </a:solidFill>
                <a:latin typeface="Aptos" panose="020B0004020202020204" pitchFamily="34" charset="0"/>
              </a:rPr>
              <a:t>Evolução futura</a:t>
            </a:r>
          </a:p>
        </p:txBody>
      </p:sp>
      <p:sp>
        <p:nvSpPr>
          <p:cNvPr id="17" name="CaixaDeTexto 16">
            <a:extLst>
              <a:ext uri="{FF2B5EF4-FFF2-40B4-BE49-F238E27FC236}">
                <a16:creationId xmlns:a16="http://schemas.microsoft.com/office/drawing/2014/main" id="{8DA752F6-BDD5-978B-D562-26B4D2837012}"/>
              </a:ext>
            </a:extLst>
          </p:cNvPr>
          <p:cNvSpPr txBox="1"/>
          <p:nvPr/>
        </p:nvSpPr>
        <p:spPr>
          <a:xfrm>
            <a:off x="838200" y="5422900"/>
            <a:ext cx="3149600" cy="3847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1250">
                <a:solidFill>
                  <a:srgbClr val="697187"/>
                </a:solidFill>
                <a:latin typeface="Aptos" panose="020B0004020202020204" pitchFamily="34" charset="0"/>
              </a:rPr>
              <a:t>Voz, IA generativa e notificações externas não estão integradas.</a:t>
            </a:r>
          </a:p>
        </p:txBody>
      </p:sp>
      <p:sp>
        <p:nvSpPr>
          <p:cNvPr id="18" name="Retângulo: Cantos Arredondados 17">
            <a:extLst>
              <a:ext uri="{FF2B5EF4-FFF2-40B4-BE49-F238E27FC236}">
                <a16:creationId xmlns:a16="http://schemas.microsoft.com/office/drawing/2014/main" id="{3B73C93B-4963-309A-F020-F1306F714DEF}"/>
              </a:ext>
            </a:extLst>
          </p:cNvPr>
          <p:cNvSpPr/>
          <p:nvPr/>
        </p:nvSpPr>
        <p:spPr>
          <a:xfrm>
            <a:off x="4241800" y="2463800"/>
            <a:ext cx="7340600" cy="3771900"/>
          </a:xfrm>
          <a:prstGeom prst="roundRect">
            <a:avLst>
              <a:gd name="adj" fmla="val 6000"/>
            </a:avLst>
          </a:prstGeom>
          <a:solidFill>
            <a:srgbClr val="EDE8F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9" name="Retângulo: Cantos Arredondados 18">
            <a:extLst>
              <a:ext uri="{FF2B5EF4-FFF2-40B4-BE49-F238E27FC236}">
                <a16:creationId xmlns:a16="http://schemas.microsoft.com/office/drawing/2014/main" id="{58AD4B98-8BF7-995F-39CC-A102BAA4F815}"/>
              </a:ext>
            </a:extLst>
          </p:cNvPr>
          <p:cNvSpPr/>
          <p:nvPr/>
        </p:nvSpPr>
        <p:spPr>
          <a:xfrm>
            <a:off x="5447145" y="2527300"/>
            <a:ext cx="4929910" cy="3429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21" name="Imagem 20" descr="Assistente demonstrativo por regras locais">
            <a:extLst>
              <a:ext uri="{FF2B5EF4-FFF2-40B4-BE49-F238E27FC236}">
                <a16:creationId xmlns:a16="http://schemas.microsoft.com/office/drawing/2014/main" id="{64B7519A-8C50-EAF8-4CBF-183FCBE6F31E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10645" y="2590800"/>
            <a:ext cx="4802909" cy="3302000"/>
          </a:xfrm>
          <a:prstGeom prst="rect">
            <a:avLst/>
          </a:prstGeom>
        </p:spPr>
      </p:pic>
      <p:sp>
        <p:nvSpPr>
          <p:cNvPr id="22" name="CaixaDeTexto 21">
            <a:extLst>
              <a:ext uri="{FF2B5EF4-FFF2-40B4-BE49-F238E27FC236}">
                <a16:creationId xmlns:a16="http://schemas.microsoft.com/office/drawing/2014/main" id="{133E4FC8-1C22-A212-070E-3797A3C2C56C}"/>
              </a:ext>
            </a:extLst>
          </p:cNvPr>
          <p:cNvSpPr txBox="1"/>
          <p:nvPr/>
        </p:nvSpPr>
        <p:spPr>
          <a:xfrm>
            <a:off x="4470400" y="5994400"/>
            <a:ext cx="68961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900">
                <a:solidFill>
                  <a:srgbClr val="8B7CA6"/>
                </a:solidFill>
                <a:latin typeface="Aptos" panose="020B0004020202020204" pitchFamily="34" charset="0"/>
              </a:rPr>
              <a:t>Assistente demonstrativo por regras locais</a:t>
            </a:r>
          </a:p>
        </p:txBody>
      </p:sp>
    </p:spTree>
    <p:extLst>
      <p:ext uri="{BB962C8B-B14F-4D97-AF65-F5344CB8AC3E}">
        <p14:creationId xmlns:p14="http://schemas.microsoft.com/office/powerpoint/2010/main" val="2621010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8B69241A-20B5-B43B-D769-4C89FC7038E2}"/>
              </a:ext>
            </a:extLst>
          </p:cNvPr>
          <p:cNvSpPr/>
          <p:nvPr/>
        </p:nvSpPr>
        <p:spPr>
          <a:xfrm>
            <a:off x="609600" y="406400"/>
            <a:ext cx="63500" cy="254000"/>
          </a:xfrm>
          <a:prstGeom prst="rect">
            <a:avLst/>
          </a:prstGeom>
          <a:solidFill>
            <a:srgbClr val="7660D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16CCF8E9-0EEB-913B-5B37-7B53603771D1}"/>
              </a:ext>
            </a:extLst>
          </p:cNvPr>
          <p:cNvSpPr txBox="1"/>
          <p:nvPr/>
        </p:nvSpPr>
        <p:spPr>
          <a:xfrm>
            <a:off x="812800" y="431800"/>
            <a:ext cx="102235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1000" b="1">
                <a:solidFill>
                  <a:srgbClr val="7660D3"/>
                </a:solidFill>
                <a:latin typeface="Aptos" panose="020B0004020202020204" pitchFamily="34" charset="0"/>
              </a:rPr>
              <a:t>ETAPA 2 · MOTIVAÇÃO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E220293E-B3C2-4836-2AA5-131DB11E5402}"/>
              </a:ext>
            </a:extLst>
          </p:cNvPr>
          <p:cNvSpPr txBox="1"/>
          <p:nvPr/>
        </p:nvSpPr>
        <p:spPr>
          <a:xfrm>
            <a:off x="609600" y="889000"/>
            <a:ext cx="10985500" cy="44627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2900" b="1">
                <a:solidFill>
                  <a:srgbClr val="273047"/>
                </a:solidFill>
                <a:latin typeface="Aptos" panose="020B0004020202020204" pitchFamily="34" charset="0"/>
              </a:rPr>
              <a:t>Reconhecer avanços, sem confundir XP com notas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3F0228C5-19B2-429D-54C4-A06DE6F667D3}"/>
              </a:ext>
            </a:extLst>
          </p:cNvPr>
          <p:cNvSpPr txBox="1"/>
          <p:nvPr/>
        </p:nvSpPr>
        <p:spPr>
          <a:xfrm>
            <a:off x="609600" y="1816100"/>
            <a:ext cx="10998200" cy="2000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1300">
                <a:solidFill>
                  <a:srgbClr val="7B7F93"/>
                </a:solidFill>
                <a:latin typeface="Aptos" panose="020B0004020202020204" pitchFamily="34" charset="0"/>
              </a:rPr>
              <a:t>Medalhas, metas pessoais e chama acompanham ações reais.</a:t>
            </a:r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96FC7E5E-FC38-B6D2-BBC6-EEE59DBC80BC}"/>
              </a:ext>
            </a:extLst>
          </p:cNvPr>
          <p:cNvSpPr/>
          <p:nvPr/>
        </p:nvSpPr>
        <p:spPr>
          <a:xfrm>
            <a:off x="609600" y="6426200"/>
            <a:ext cx="10972800" cy="12700"/>
          </a:xfrm>
          <a:prstGeom prst="rect">
            <a:avLst/>
          </a:prstGeom>
          <a:solidFill>
            <a:srgbClr val="E2DFE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C302AAAF-F235-205A-49CD-DC89F957DB30}"/>
              </a:ext>
            </a:extLst>
          </p:cNvPr>
          <p:cNvSpPr txBox="1"/>
          <p:nvPr/>
        </p:nvSpPr>
        <p:spPr>
          <a:xfrm>
            <a:off x="609600" y="6553200"/>
            <a:ext cx="9652000" cy="12311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800">
                <a:solidFill>
                  <a:srgbClr val="9690A5"/>
                </a:solidFill>
                <a:latin typeface="Aptos" panose="020B0004020202020204" pitchFamily="34" charset="0"/>
              </a:rPr>
              <a:t>Fonte: Etapa 2 · Ideias 6, 7, 12 e 14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2282B2D0-9045-2CFF-787A-E5D10A3DFE21}"/>
              </a:ext>
            </a:extLst>
          </p:cNvPr>
          <p:cNvSpPr txBox="1"/>
          <p:nvPr/>
        </p:nvSpPr>
        <p:spPr>
          <a:xfrm>
            <a:off x="10896600" y="6515100"/>
            <a:ext cx="7493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1000" b="1">
                <a:solidFill>
                  <a:srgbClr val="7660D3"/>
                </a:solidFill>
                <a:latin typeface="Aptos" panose="020B0004020202020204" pitchFamily="34" charset="0"/>
              </a:rPr>
              <a:t>10 / 40</a:t>
            </a:r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5D767DCA-AF06-231D-AFB6-4506AD317D45}"/>
              </a:ext>
            </a:extLst>
          </p:cNvPr>
          <p:cNvSpPr/>
          <p:nvPr/>
        </p:nvSpPr>
        <p:spPr>
          <a:xfrm>
            <a:off x="609600" y="2527300"/>
            <a:ext cx="63500" cy="368300"/>
          </a:xfrm>
          <a:prstGeom prst="rect">
            <a:avLst/>
          </a:prstGeom>
          <a:solidFill>
            <a:srgbClr val="C7B7E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F6A510BA-518C-B762-6917-B7EEE4EA422C}"/>
              </a:ext>
            </a:extLst>
          </p:cNvPr>
          <p:cNvSpPr txBox="1"/>
          <p:nvPr/>
        </p:nvSpPr>
        <p:spPr>
          <a:xfrm>
            <a:off x="838200" y="2501900"/>
            <a:ext cx="31496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1600" b="1">
                <a:solidFill>
                  <a:srgbClr val="6550B5"/>
                </a:solidFill>
                <a:latin typeface="Aptos" panose="020B0004020202020204" pitchFamily="34" charset="0"/>
              </a:rPr>
              <a:t>XP por participação</a:t>
            </a:r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C3543D47-6A85-45B5-9877-4B23F28CD019}"/>
              </a:ext>
            </a:extLst>
          </p:cNvPr>
          <p:cNvSpPr txBox="1"/>
          <p:nvPr/>
        </p:nvSpPr>
        <p:spPr>
          <a:xfrm>
            <a:off x="838200" y="3009900"/>
            <a:ext cx="3149600" cy="19236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1250">
                <a:solidFill>
                  <a:srgbClr val="697187"/>
                </a:solidFill>
                <a:latin typeface="Aptos" panose="020B0004020202020204" pitchFamily="34" charset="0"/>
              </a:rPr>
              <a:t>Etapas e atividades concluídas geram pontos.</a:t>
            </a:r>
          </a:p>
        </p:txBody>
      </p:sp>
      <p:sp>
        <p:nvSpPr>
          <p:cNvPr id="12" name="Retângulo 11">
            <a:extLst>
              <a:ext uri="{FF2B5EF4-FFF2-40B4-BE49-F238E27FC236}">
                <a16:creationId xmlns:a16="http://schemas.microsoft.com/office/drawing/2014/main" id="{FE9A40F4-A9A9-DD4A-2774-3894F90D8E95}"/>
              </a:ext>
            </a:extLst>
          </p:cNvPr>
          <p:cNvSpPr/>
          <p:nvPr/>
        </p:nvSpPr>
        <p:spPr>
          <a:xfrm>
            <a:off x="609600" y="3733800"/>
            <a:ext cx="63500" cy="368300"/>
          </a:xfrm>
          <a:prstGeom prst="rect">
            <a:avLst/>
          </a:prstGeom>
          <a:solidFill>
            <a:srgbClr val="C7B7E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2A8D56AD-FCA0-22D1-1B08-D2E0BD5E9572}"/>
              </a:ext>
            </a:extLst>
          </p:cNvPr>
          <p:cNvSpPr txBox="1"/>
          <p:nvPr/>
        </p:nvSpPr>
        <p:spPr>
          <a:xfrm>
            <a:off x="838200" y="3708400"/>
            <a:ext cx="31496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1600" b="1">
                <a:solidFill>
                  <a:srgbClr val="6550B5"/>
                </a:solidFill>
                <a:latin typeface="Aptos" panose="020B0004020202020204" pitchFamily="34" charset="0"/>
              </a:rPr>
              <a:t>Constância acolhedora</a:t>
            </a:r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536DAEED-568B-52BD-4A09-EE85215F1E42}"/>
              </a:ext>
            </a:extLst>
          </p:cNvPr>
          <p:cNvSpPr txBox="1"/>
          <p:nvPr/>
        </p:nvSpPr>
        <p:spPr>
          <a:xfrm>
            <a:off x="838200" y="4216400"/>
            <a:ext cx="3149600" cy="19236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1250">
                <a:solidFill>
                  <a:srgbClr val="697187"/>
                </a:solidFill>
                <a:latin typeface="Aptos" panose="020B0004020202020204" pitchFamily="34" charset="0"/>
              </a:rPr>
              <a:t>Meta semanal sem punição por pausas.</a:t>
            </a:r>
          </a:p>
        </p:txBody>
      </p:sp>
      <p:sp>
        <p:nvSpPr>
          <p:cNvPr id="15" name="Retângulo 14">
            <a:extLst>
              <a:ext uri="{FF2B5EF4-FFF2-40B4-BE49-F238E27FC236}">
                <a16:creationId xmlns:a16="http://schemas.microsoft.com/office/drawing/2014/main" id="{BCF823D6-8303-50E0-D25F-689E72EF5C27}"/>
              </a:ext>
            </a:extLst>
          </p:cNvPr>
          <p:cNvSpPr/>
          <p:nvPr/>
        </p:nvSpPr>
        <p:spPr>
          <a:xfrm>
            <a:off x="609600" y="4940300"/>
            <a:ext cx="63500" cy="368300"/>
          </a:xfrm>
          <a:prstGeom prst="rect">
            <a:avLst/>
          </a:prstGeom>
          <a:solidFill>
            <a:srgbClr val="C7B7E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6" name="CaixaDeTexto 15">
            <a:extLst>
              <a:ext uri="{FF2B5EF4-FFF2-40B4-BE49-F238E27FC236}">
                <a16:creationId xmlns:a16="http://schemas.microsoft.com/office/drawing/2014/main" id="{E21B154D-103E-F37E-943F-8D0DFF39ED05}"/>
              </a:ext>
            </a:extLst>
          </p:cNvPr>
          <p:cNvSpPr txBox="1"/>
          <p:nvPr/>
        </p:nvSpPr>
        <p:spPr>
          <a:xfrm>
            <a:off x="838200" y="4914900"/>
            <a:ext cx="31496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1600" b="1">
                <a:solidFill>
                  <a:srgbClr val="6550B5"/>
                </a:solidFill>
                <a:latin typeface="Aptos" panose="020B0004020202020204" pitchFamily="34" charset="0"/>
              </a:rPr>
              <a:t>Ranking é opcional</a:t>
            </a:r>
          </a:p>
        </p:txBody>
      </p:sp>
      <p:sp>
        <p:nvSpPr>
          <p:cNvPr id="17" name="CaixaDeTexto 16">
            <a:extLst>
              <a:ext uri="{FF2B5EF4-FFF2-40B4-BE49-F238E27FC236}">
                <a16:creationId xmlns:a16="http://schemas.microsoft.com/office/drawing/2014/main" id="{3057621B-26E4-7A71-2152-D65C3B837CBA}"/>
              </a:ext>
            </a:extLst>
          </p:cNvPr>
          <p:cNvSpPr txBox="1"/>
          <p:nvPr/>
        </p:nvSpPr>
        <p:spPr>
          <a:xfrm>
            <a:off x="838200" y="5422900"/>
            <a:ext cx="3149600" cy="3847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1250">
                <a:solidFill>
                  <a:srgbClr val="697187"/>
                </a:solidFill>
                <a:latin typeface="Aptos" panose="020B0004020202020204" pitchFamily="34" charset="0"/>
              </a:rPr>
              <a:t>Não incluído no protótipo; nunca deve expor notas ou dificuldades.</a:t>
            </a:r>
          </a:p>
        </p:txBody>
      </p:sp>
      <p:sp>
        <p:nvSpPr>
          <p:cNvPr id="18" name="Retângulo: Cantos Arredondados 17">
            <a:extLst>
              <a:ext uri="{FF2B5EF4-FFF2-40B4-BE49-F238E27FC236}">
                <a16:creationId xmlns:a16="http://schemas.microsoft.com/office/drawing/2014/main" id="{61D25D1F-A450-59DA-2321-C30257C21D37}"/>
              </a:ext>
            </a:extLst>
          </p:cNvPr>
          <p:cNvSpPr/>
          <p:nvPr/>
        </p:nvSpPr>
        <p:spPr>
          <a:xfrm>
            <a:off x="4241800" y="2463800"/>
            <a:ext cx="7340600" cy="3771900"/>
          </a:xfrm>
          <a:prstGeom prst="roundRect">
            <a:avLst>
              <a:gd name="adj" fmla="val 6000"/>
            </a:avLst>
          </a:prstGeom>
          <a:solidFill>
            <a:srgbClr val="EDE8F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9" name="Retângulo: Cantos Arredondados 18">
            <a:extLst>
              <a:ext uri="{FF2B5EF4-FFF2-40B4-BE49-F238E27FC236}">
                <a16:creationId xmlns:a16="http://schemas.microsoft.com/office/drawing/2014/main" id="{AFAAC921-FFD4-D875-011D-29023F51BE10}"/>
              </a:ext>
            </a:extLst>
          </p:cNvPr>
          <p:cNvSpPr/>
          <p:nvPr/>
        </p:nvSpPr>
        <p:spPr>
          <a:xfrm>
            <a:off x="5447145" y="2527300"/>
            <a:ext cx="4929910" cy="3429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21" name="Imagem 20" descr="Evolução e conquistas calculadas a partir do progresso">
            <a:extLst>
              <a:ext uri="{FF2B5EF4-FFF2-40B4-BE49-F238E27FC236}">
                <a16:creationId xmlns:a16="http://schemas.microsoft.com/office/drawing/2014/main" id="{9CE48CEB-C465-4BFE-9FD4-8FF3D1E9487C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10645" y="2590800"/>
            <a:ext cx="4802909" cy="3302000"/>
          </a:xfrm>
          <a:prstGeom prst="rect">
            <a:avLst/>
          </a:prstGeom>
        </p:spPr>
      </p:pic>
      <p:sp>
        <p:nvSpPr>
          <p:cNvPr id="22" name="CaixaDeTexto 21">
            <a:extLst>
              <a:ext uri="{FF2B5EF4-FFF2-40B4-BE49-F238E27FC236}">
                <a16:creationId xmlns:a16="http://schemas.microsoft.com/office/drawing/2014/main" id="{EEE70242-9C37-B5EB-E922-9EDD0071846A}"/>
              </a:ext>
            </a:extLst>
          </p:cNvPr>
          <p:cNvSpPr txBox="1"/>
          <p:nvPr/>
        </p:nvSpPr>
        <p:spPr>
          <a:xfrm>
            <a:off x="4470400" y="5994400"/>
            <a:ext cx="68961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900">
                <a:solidFill>
                  <a:srgbClr val="8B7CA6"/>
                </a:solidFill>
                <a:latin typeface="Aptos" panose="020B0004020202020204" pitchFamily="34" charset="0"/>
              </a:rPr>
              <a:t>Evolução e conquistas calculadas a partir do progresso</a:t>
            </a:r>
          </a:p>
        </p:txBody>
      </p:sp>
    </p:spTree>
    <p:extLst>
      <p:ext uri="{BB962C8B-B14F-4D97-AF65-F5344CB8AC3E}">
        <p14:creationId xmlns:p14="http://schemas.microsoft.com/office/powerpoint/2010/main" val="174512790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3EF150E2-00C6-EEC2-9725-E9388D25B35A}"/>
              </a:ext>
            </a:extLst>
          </p:cNvPr>
          <p:cNvSpPr/>
          <p:nvPr/>
        </p:nvSpPr>
        <p:spPr>
          <a:xfrm>
            <a:off x="609600" y="406400"/>
            <a:ext cx="63500" cy="254000"/>
          </a:xfrm>
          <a:prstGeom prst="rect">
            <a:avLst/>
          </a:prstGeom>
          <a:solidFill>
            <a:srgbClr val="7660D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E4883F41-826B-DB24-4DC6-D6EBE6E0FA6B}"/>
              </a:ext>
            </a:extLst>
          </p:cNvPr>
          <p:cNvSpPr txBox="1"/>
          <p:nvPr/>
        </p:nvSpPr>
        <p:spPr>
          <a:xfrm>
            <a:off x="812800" y="431800"/>
            <a:ext cx="102235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1000" b="1">
                <a:solidFill>
                  <a:srgbClr val="7660D3"/>
                </a:solidFill>
                <a:latin typeface="Aptos" panose="020B0004020202020204" pitchFamily="34" charset="0"/>
              </a:rPr>
              <a:t>ETAPA 2 · ACESSO INCLUSIVO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7526FCF2-BF16-0B20-1E53-5AAAB9B9A683}"/>
              </a:ext>
            </a:extLst>
          </p:cNvPr>
          <p:cNvSpPr txBox="1"/>
          <p:nvPr/>
        </p:nvSpPr>
        <p:spPr>
          <a:xfrm>
            <a:off x="609600" y="889000"/>
            <a:ext cx="10985500" cy="44627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2900" b="1">
                <a:solidFill>
                  <a:srgbClr val="273047"/>
                </a:solidFill>
                <a:latin typeface="Aptos" panose="020B0004020202020204" pitchFamily="34" charset="0"/>
              </a:rPr>
              <a:t>Uma experiência simples, também no celular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8B60C31B-BA7B-2CEE-0E42-4A62FEBCB880}"/>
              </a:ext>
            </a:extLst>
          </p:cNvPr>
          <p:cNvSpPr txBox="1"/>
          <p:nvPr/>
        </p:nvSpPr>
        <p:spPr>
          <a:xfrm>
            <a:off x="609600" y="1816100"/>
            <a:ext cx="10998200" cy="2000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1300">
                <a:solidFill>
                  <a:srgbClr val="7B7F93"/>
                </a:solidFill>
                <a:latin typeface="Aptos" panose="020B0004020202020204" pitchFamily="34" charset="0"/>
              </a:rPr>
              <a:t>A navegação essencial não depende do tour nem de uma resposta de IA.</a:t>
            </a:r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F59B4C58-F449-D7B5-889B-0529D1A62760}"/>
              </a:ext>
            </a:extLst>
          </p:cNvPr>
          <p:cNvSpPr/>
          <p:nvPr/>
        </p:nvSpPr>
        <p:spPr>
          <a:xfrm>
            <a:off x="609600" y="6426200"/>
            <a:ext cx="10972800" cy="12700"/>
          </a:xfrm>
          <a:prstGeom prst="rect">
            <a:avLst/>
          </a:prstGeom>
          <a:solidFill>
            <a:srgbClr val="E2DFE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256BCC41-18E9-6CCA-48F5-9189BD3B8781}"/>
              </a:ext>
            </a:extLst>
          </p:cNvPr>
          <p:cNvSpPr txBox="1"/>
          <p:nvPr/>
        </p:nvSpPr>
        <p:spPr>
          <a:xfrm>
            <a:off x="609600" y="6553200"/>
            <a:ext cx="9652000" cy="12311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800">
                <a:solidFill>
                  <a:srgbClr val="9690A5"/>
                </a:solidFill>
                <a:latin typeface="Aptos" panose="020B0004020202020204" pitchFamily="34" charset="0"/>
              </a:rPr>
              <a:t>Fonte: Etapa 2 · Ideias 11 e 22 + Etapa 3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18578FD1-B7ED-3418-1202-A5A998D157D3}"/>
              </a:ext>
            </a:extLst>
          </p:cNvPr>
          <p:cNvSpPr txBox="1"/>
          <p:nvPr/>
        </p:nvSpPr>
        <p:spPr>
          <a:xfrm>
            <a:off x="10896600" y="6515100"/>
            <a:ext cx="7493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1000" b="1">
                <a:solidFill>
                  <a:srgbClr val="7660D3"/>
                </a:solidFill>
                <a:latin typeface="Aptos" panose="020B0004020202020204" pitchFamily="34" charset="0"/>
              </a:rPr>
              <a:t>11 / 40</a:t>
            </a:r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9B0DF38B-1D0A-E613-EE63-A52B3412BAB5}"/>
              </a:ext>
            </a:extLst>
          </p:cNvPr>
          <p:cNvSpPr/>
          <p:nvPr/>
        </p:nvSpPr>
        <p:spPr>
          <a:xfrm>
            <a:off x="609600" y="2527300"/>
            <a:ext cx="63500" cy="368300"/>
          </a:xfrm>
          <a:prstGeom prst="rect">
            <a:avLst/>
          </a:prstGeom>
          <a:solidFill>
            <a:srgbClr val="C7B7E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C9D10623-BEC0-A94D-AEC9-EFE7724F7B72}"/>
              </a:ext>
            </a:extLst>
          </p:cNvPr>
          <p:cNvSpPr txBox="1"/>
          <p:nvPr/>
        </p:nvSpPr>
        <p:spPr>
          <a:xfrm>
            <a:off x="838200" y="2501900"/>
            <a:ext cx="31496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1600" b="1">
                <a:solidFill>
                  <a:srgbClr val="6550B5"/>
                </a:solidFill>
                <a:latin typeface="Aptos" panose="020B0004020202020204" pitchFamily="34" charset="0"/>
              </a:rPr>
              <a:t>Linguagem direta</a:t>
            </a:r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2C7D4E3F-9F7C-2283-6AF2-3F03CF1129EF}"/>
              </a:ext>
            </a:extLst>
          </p:cNvPr>
          <p:cNvSpPr txBox="1"/>
          <p:nvPr/>
        </p:nvSpPr>
        <p:spPr>
          <a:xfrm>
            <a:off x="838200" y="3009900"/>
            <a:ext cx="3149600" cy="19236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1250">
                <a:solidFill>
                  <a:srgbClr val="697187"/>
                </a:solidFill>
                <a:latin typeface="Aptos" panose="020B0004020202020204" pitchFamily="34" charset="0"/>
              </a:rPr>
              <a:t>Ações claras e progresso fácil de interpretar.</a:t>
            </a:r>
          </a:p>
        </p:txBody>
      </p:sp>
      <p:sp>
        <p:nvSpPr>
          <p:cNvPr id="12" name="Retângulo 11">
            <a:extLst>
              <a:ext uri="{FF2B5EF4-FFF2-40B4-BE49-F238E27FC236}">
                <a16:creationId xmlns:a16="http://schemas.microsoft.com/office/drawing/2014/main" id="{FAE4A107-1FEC-C88A-3047-F2149E462972}"/>
              </a:ext>
            </a:extLst>
          </p:cNvPr>
          <p:cNvSpPr/>
          <p:nvPr/>
        </p:nvSpPr>
        <p:spPr>
          <a:xfrm>
            <a:off x="609600" y="3733800"/>
            <a:ext cx="63500" cy="368300"/>
          </a:xfrm>
          <a:prstGeom prst="rect">
            <a:avLst/>
          </a:prstGeom>
          <a:solidFill>
            <a:srgbClr val="C7B7E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2BA3333E-18F9-68A6-9143-A1F5B7ECBADF}"/>
              </a:ext>
            </a:extLst>
          </p:cNvPr>
          <p:cNvSpPr txBox="1"/>
          <p:nvPr/>
        </p:nvSpPr>
        <p:spPr>
          <a:xfrm>
            <a:off x="838200" y="3708400"/>
            <a:ext cx="31496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1600" b="1">
                <a:solidFill>
                  <a:srgbClr val="6550B5"/>
                </a:solidFill>
                <a:latin typeface="Aptos" panose="020B0004020202020204" pitchFamily="34" charset="0"/>
              </a:rPr>
              <a:t>Controles acessíveis</a:t>
            </a:r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91C15A2D-D6A0-B0F1-8D45-60660E2CC400}"/>
              </a:ext>
            </a:extLst>
          </p:cNvPr>
          <p:cNvSpPr txBox="1"/>
          <p:nvPr/>
        </p:nvSpPr>
        <p:spPr>
          <a:xfrm>
            <a:off x="838200" y="4216400"/>
            <a:ext cx="3149600" cy="19236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1250">
                <a:solidFill>
                  <a:srgbClr val="697187"/>
                </a:solidFill>
                <a:latin typeface="Aptos" panose="020B0004020202020204" pitchFamily="34" charset="0"/>
              </a:rPr>
              <a:t>Texto maior, contraste e movimento reduzido.</a:t>
            </a:r>
          </a:p>
        </p:txBody>
      </p:sp>
      <p:sp>
        <p:nvSpPr>
          <p:cNvPr id="15" name="Retângulo 14">
            <a:extLst>
              <a:ext uri="{FF2B5EF4-FFF2-40B4-BE49-F238E27FC236}">
                <a16:creationId xmlns:a16="http://schemas.microsoft.com/office/drawing/2014/main" id="{B96CCE75-5166-EF6C-8A0E-978754D38F01}"/>
              </a:ext>
            </a:extLst>
          </p:cNvPr>
          <p:cNvSpPr/>
          <p:nvPr/>
        </p:nvSpPr>
        <p:spPr>
          <a:xfrm>
            <a:off x="609600" y="4940300"/>
            <a:ext cx="63500" cy="368300"/>
          </a:xfrm>
          <a:prstGeom prst="rect">
            <a:avLst/>
          </a:prstGeom>
          <a:solidFill>
            <a:srgbClr val="C7B7E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6" name="CaixaDeTexto 15">
            <a:extLst>
              <a:ext uri="{FF2B5EF4-FFF2-40B4-BE49-F238E27FC236}">
                <a16:creationId xmlns:a16="http://schemas.microsoft.com/office/drawing/2014/main" id="{50A16300-7E73-0FDF-F47D-AD59B81E61D4}"/>
              </a:ext>
            </a:extLst>
          </p:cNvPr>
          <p:cNvSpPr txBox="1"/>
          <p:nvPr/>
        </p:nvSpPr>
        <p:spPr>
          <a:xfrm>
            <a:off x="838200" y="4914900"/>
            <a:ext cx="31496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1600" b="1">
                <a:solidFill>
                  <a:srgbClr val="6550B5"/>
                </a:solidFill>
                <a:latin typeface="Aptos" panose="020B0004020202020204" pitchFamily="34" charset="0"/>
              </a:rPr>
              <a:t>Teclado e feedback</a:t>
            </a:r>
          </a:p>
        </p:txBody>
      </p:sp>
      <p:sp>
        <p:nvSpPr>
          <p:cNvPr id="17" name="CaixaDeTexto 16">
            <a:extLst>
              <a:ext uri="{FF2B5EF4-FFF2-40B4-BE49-F238E27FC236}">
                <a16:creationId xmlns:a16="http://schemas.microsoft.com/office/drawing/2014/main" id="{1AFF6CA3-4AA0-0E2E-B516-6FEAA6E69B63}"/>
              </a:ext>
            </a:extLst>
          </p:cNvPr>
          <p:cNvSpPr txBox="1"/>
          <p:nvPr/>
        </p:nvSpPr>
        <p:spPr>
          <a:xfrm>
            <a:off x="838200" y="5422900"/>
            <a:ext cx="3149600" cy="3847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1250">
                <a:solidFill>
                  <a:srgbClr val="697187"/>
                </a:solidFill>
                <a:latin typeface="Aptos" panose="020B0004020202020204" pitchFamily="34" charset="0"/>
              </a:rPr>
              <a:t>Foco visível, diálogos e confirmação de ações.</a:t>
            </a:r>
          </a:p>
        </p:txBody>
      </p:sp>
      <p:sp>
        <p:nvSpPr>
          <p:cNvPr id="18" name="Retângulo: Cantos Arredondados 17">
            <a:extLst>
              <a:ext uri="{FF2B5EF4-FFF2-40B4-BE49-F238E27FC236}">
                <a16:creationId xmlns:a16="http://schemas.microsoft.com/office/drawing/2014/main" id="{637816E7-9C2E-9F3C-9698-791E6CBA6F9E}"/>
              </a:ext>
            </a:extLst>
          </p:cNvPr>
          <p:cNvSpPr/>
          <p:nvPr/>
        </p:nvSpPr>
        <p:spPr>
          <a:xfrm>
            <a:off x="4241800" y="2463800"/>
            <a:ext cx="7340600" cy="3771900"/>
          </a:xfrm>
          <a:prstGeom prst="roundRect">
            <a:avLst>
              <a:gd name="adj" fmla="val 6000"/>
            </a:avLst>
          </a:prstGeom>
          <a:solidFill>
            <a:srgbClr val="EDE8F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9" name="Retângulo: Cantos Arredondados 18">
            <a:extLst>
              <a:ext uri="{FF2B5EF4-FFF2-40B4-BE49-F238E27FC236}">
                <a16:creationId xmlns:a16="http://schemas.microsoft.com/office/drawing/2014/main" id="{BA21BB5C-2FCC-D881-13A4-17D779068F27}"/>
              </a:ext>
            </a:extLst>
          </p:cNvPr>
          <p:cNvSpPr/>
          <p:nvPr/>
        </p:nvSpPr>
        <p:spPr>
          <a:xfrm>
            <a:off x="4449966" y="2540000"/>
            <a:ext cx="1641068" cy="3403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21" name="Imagem 20" descr="Interface mobile">
            <a:extLst>
              <a:ext uri="{FF2B5EF4-FFF2-40B4-BE49-F238E27FC236}">
                <a16:creationId xmlns:a16="http://schemas.microsoft.com/office/drawing/2014/main" id="{3F2D100B-FB9F-8654-92AA-F40913BD8864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13466" y="2603500"/>
            <a:ext cx="1514069" cy="3276600"/>
          </a:xfrm>
          <a:prstGeom prst="rect">
            <a:avLst/>
          </a:prstGeom>
        </p:spPr>
      </p:pic>
      <p:sp>
        <p:nvSpPr>
          <p:cNvPr id="22" name="Retângulo: Cantos Arredondados 21">
            <a:extLst>
              <a:ext uri="{FF2B5EF4-FFF2-40B4-BE49-F238E27FC236}">
                <a16:creationId xmlns:a16="http://schemas.microsoft.com/office/drawing/2014/main" id="{8053616D-BBF8-7623-4AA2-32491AB7DA2B}"/>
              </a:ext>
            </a:extLst>
          </p:cNvPr>
          <p:cNvSpPr/>
          <p:nvPr/>
        </p:nvSpPr>
        <p:spPr>
          <a:xfrm>
            <a:off x="6643254" y="2603500"/>
            <a:ext cx="4468091" cy="31115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24" name="Imagem 23" descr="Tour opcional e controles de acessibilidade">
            <a:extLst>
              <a:ext uri="{FF2B5EF4-FFF2-40B4-BE49-F238E27FC236}">
                <a16:creationId xmlns:a16="http://schemas.microsoft.com/office/drawing/2014/main" id="{30CCB690-0AB3-629E-4F45-7B7359F92FB2}"/>
              </a:ext>
            </a:extLst>
          </p:cNvPr>
          <p:cNvPicPr>
            <a:picLocks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06754" y="2667000"/>
            <a:ext cx="4341091" cy="2984500"/>
          </a:xfrm>
          <a:prstGeom prst="rect">
            <a:avLst/>
          </a:prstGeom>
        </p:spPr>
      </p:pic>
      <p:sp>
        <p:nvSpPr>
          <p:cNvPr id="25" name="CaixaDeTexto 24">
            <a:extLst>
              <a:ext uri="{FF2B5EF4-FFF2-40B4-BE49-F238E27FC236}">
                <a16:creationId xmlns:a16="http://schemas.microsoft.com/office/drawing/2014/main" id="{D13617D6-C042-290A-125C-A717282B42DF}"/>
              </a:ext>
            </a:extLst>
          </p:cNvPr>
          <p:cNvSpPr txBox="1"/>
          <p:nvPr/>
        </p:nvSpPr>
        <p:spPr>
          <a:xfrm>
            <a:off x="4381500" y="5981700"/>
            <a:ext cx="1905000" cy="12311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800">
                <a:solidFill>
                  <a:srgbClr val="8B7CA6"/>
                </a:solidFill>
                <a:latin typeface="Aptos" panose="020B0004020202020204" pitchFamily="34" charset="0"/>
              </a:rPr>
              <a:t>Interface mobile</a:t>
            </a:r>
          </a:p>
        </p:txBody>
      </p:sp>
      <p:sp>
        <p:nvSpPr>
          <p:cNvPr id="26" name="CaixaDeTexto 25">
            <a:extLst>
              <a:ext uri="{FF2B5EF4-FFF2-40B4-BE49-F238E27FC236}">
                <a16:creationId xmlns:a16="http://schemas.microsoft.com/office/drawing/2014/main" id="{18ED4FBE-B398-D909-01E6-E983CE623588}"/>
              </a:ext>
            </a:extLst>
          </p:cNvPr>
          <p:cNvSpPr txBox="1"/>
          <p:nvPr/>
        </p:nvSpPr>
        <p:spPr>
          <a:xfrm>
            <a:off x="6375400" y="5791200"/>
            <a:ext cx="50038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900">
                <a:solidFill>
                  <a:srgbClr val="8B7CA6"/>
                </a:solidFill>
                <a:latin typeface="Aptos" panose="020B0004020202020204" pitchFamily="34" charset="0"/>
              </a:rPr>
              <a:t>Tour opcional e controles de acessibilidade</a:t>
            </a:r>
          </a:p>
        </p:txBody>
      </p:sp>
    </p:spTree>
    <p:extLst>
      <p:ext uri="{BB962C8B-B14F-4D97-AF65-F5344CB8AC3E}">
        <p14:creationId xmlns:p14="http://schemas.microsoft.com/office/powerpoint/2010/main" val="136731476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7A871ED5-2AF3-6270-1EE7-F6B69A00249D}"/>
              </a:ext>
            </a:extLst>
          </p:cNvPr>
          <p:cNvSpPr/>
          <p:nvPr/>
        </p:nvSpPr>
        <p:spPr>
          <a:xfrm>
            <a:off x="609600" y="406400"/>
            <a:ext cx="63500" cy="254000"/>
          </a:xfrm>
          <a:prstGeom prst="rect">
            <a:avLst/>
          </a:prstGeom>
          <a:solidFill>
            <a:srgbClr val="7660D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36045655-56FF-8131-2435-3146CABB168D}"/>
              </a:ext>
            </a:extLst>
          </p:cNvPr>
          <p:cNvSpPr txBox="1"/>
          <p:nvPr/>
        </p:nvSpPr>
        <p:spPr>
          <a:xfrm>
            <a:off x="812800" y="431800"/>
            <a:ext cx="102235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1000" b="1">
                <a:solidFill>
                  <a:srgbClr val="7660D3"/>
                </a:solidFill>
                <a:latin typeface="Aptos" panose="020B0004020202020204" pitchFamily="34" charset="0"/>
              </a:rPr>
              <a:t>ETAPA 2 · COLABORAÇÃO E GESTÃO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C57DA50D-005C-65C8-2B4B-CF10EAA36120}"/>
              </a:ext>
            </a:extLst>
          </p:cNvPr>
          <p:cNvSpPr txBox="1"/>
          <p:nvPr/>
        </p:nvSpPr>
        <p:spPr>
          <a:xfrm>
            <a:off x="609600" y="889000"/>
            <a:ext cx="10985500" cy="44627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2900" b="1">
                <a:solidFill>
                  <a:srgbClr val="273047"/>
                </a:solidFill>
                <a:latin typeface="Aptos" panose="020B0004020202020204" pitchFamily="34" charset="0"/>
              </a:rPr>
              <a:t>A turma compartilha responsabilidades e orientações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77959A30-7FA3-4FD6-9E75-5CB4C12560E6}"/>
              </a:ext>
            </a:extLst>
          </p:cNvPr>
          <p:cNvSpPr txBox="1"/>
          <p:nvPr/>
        </p:nvSpPr>
        <p:spPr>
          <a:xfrm>
            <a:off x="609600" y="1816100"/>
            <a:ext cx="10998200" cy="2000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1300">
                <a:solidFill>
                  <a:srgbClr val="7B7F93"/>
                </a:solidFill>
                <a:latin typeface="Aptos" panose="020B0004020202020204" pitchFamily="34" charset="0"/>
              </a:rPr>
              <a:t>Interações demonstrativas no mesmo dispositivo e navegador.</a:t>
            </a:r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973FD197-D905-339A-0F27-36C309FFD62A}"/>
              </a:ext>
            </a:extLst>
          </p:cNvPr>
          <p:cNvSpPr/>
          <p:nvPr/>
        </p:nvSpPr>
        <p:spPr>
          <a:xfrm>
            <a:off x="609600" y="6426200"/>
            <a:ext cx="10972800" cy="12700"/>
          </a:xfrm>
          <a:prstGeom prst="rect">
            <a:avLst/>
          </a:prstGeom>
          <a:solidFill>
            <a:srgbClr val="E2DFE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D97D4493-B7E2-6F65-CCEC-ABAEE0E0AE53}"/>
              </a:ext>
            </a:extLst>
          </p:cNvPr>
          <p:cNvSpPr txBox="1"/>
          <p:nvPr/>
        </p:nvSpPr>
        <p:spPr>
          <a:xfrm>
            <a:off x="609600" y="6553200"/>
            <a:ext cx="9652000" cy="12311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800">
                <a:solidFill>
                  <a:srgbClr val="9690A5"/>
                </a:solidFill>
                <a:latin typeface="Aptos" panose="020B0004020202020204" pitchFamily="34" charset="0"/>
              </a:rPr>
              <a:t>Fonte: Etapa 2 · Ideias 2, 5, 19 e 20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B1E5749B-0DED-BF5B-F59B-1D70F6753A2C}"/>
              </a:ext>
            </a:extLst>
          </p:cNvPr>
          <p:cNvSpPr txBox="1"/>
          <p:nvPr/>
        </p:nvSpPr>
        <p:spPr>
          <a:xfrm>
            <a:off x="10896600" y="6515100"/>
            <a:ext cx="7493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1000" b="1">
                <a:solidFill>
                  <a:srgbClr val="7660D3"/>
                </a:solidFill>
                <a:latin typeface="Aptos" panose="020B0004020202020204" pitchFamily="34" charset="0"/>
              </a:rPr>
              <a:t>12 / 40</a:t>
            </a:r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52F45252-B97C-93EA-5139-973B7F679BAD}"/>
              </a:ext>
            </a:extLst>
          </p:cNvPr>
          <p:cNvSpPr/>
          <p:nvPr/>
        </p:nvSpPr>
        <p:spPr>
          <a:xfrm>
            <a:off x="609600" y="2527300"/>
            <a:ext cx="63500" cy="368300"/>
          </a:xfrm>
          <a:prstGeom prst="rect">
            <a:avLst/>
          </a:prstGeom>
          <a:solidFill>
            <a:srgbClr val="C7B7E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5445ED06-C379-5E5B-980F-422143513504}"/>
              </a:ext>
            </a:extLst>
          </p:cNvPr>
          <p:cNvSpPr txBox="1"/>
          <p:nvPr/>
        </p:nvSpPr>
        <p:spPr>
          <a:xfrm>
            <a:off x="838200" y="2501900"/>
            <a:ext cx="31496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1600" b="1">
                <a:solidFill>
                  <a:srgbClr val="6550B5"/>
                </a:solidFill>
                <a:latin typeface="Aptos" panose="020B0004020202020204" pitchFamily="34" charset="0"/>
              </a:rPr>
              <a:t>Comunidade</a:t>
            </a:r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578C2536-6198-6432-D346-6C33F91A9377}"/>
              </a:ext>
            </a:extLst>
          </p:cNvPr>
          <p:cNvSpPr txBox="1"/>
          <p:nvPr/>
        </p:nvSpPr>
        <p:spPr>
          <a:xfrm>
            <a:off x="838200" y="3009900"/>
            <a:ext cx="3149600" cy="3847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1250">
                <a:solidFill>
                  <a:srgbClr val="697187"/>
                </a:solidFill>
                <a:latin typeface="Aptos" panose="020B0004020202020204" pitchFamily="34" charset="0"/>
              </a:rPr>
              <a:t>Publicações, respostas e exclusão de conteúdo próprio.</a:t>
            </a:r>
          </a:p>
        </p:txBody>
      </p:sp>
      <p:sp>
        <p:nvSpPr>
          <p:cNvPr id="12" name="Retângulo 11">
            <a:extLst>
              <a:ext uri="{FF2B5EF4-FFF2-40B4-BE49-F238E27FC236}">
                <a16:creationId xmlns:a16="http://schemas.microsoft.com/office/drawing/2014/main" id="{14F6333F-0D60-5BB6-10DD-BCC451941ED6}"/>
              </a:ext>
            </a:extLst>
          </p:cNvPr>
          <p:cNvSpPr/>
          <p:nvPr/>
        </p:nvSpPr>
        <p:spPr>
          <a:xfrm>
            <a:off x="609600" y="3733800"/>
            <a:ext cx="63500" cy="368300"/>
          </a:xfrm>
          <a:prstGeom prst="rect">
            <a:avLst/>
          </a:prstGeom>
          <a:solidFill>
            <a:srgbClr val="C7B7E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6A05F928-6BBF-4E05-79C3-E7448B37F8ED}"/>
              </a:ext>
            </a:extLst>
          </p:cNvPr>
          <p:cNvSpPr txBox="1"/>
          <p:nvPr/>
        </p:nvSpPr>
        <p:spPr>
          <a:xfrm>
            <a:off x="838200" y="3708400"/>
            <a:ext cx="31496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1600" b="1">
                <a:solidFill>
                  <a:srgbClr val="6550B5"/>
                </a:solidFill>
                <a:latin typeface="Aptos" panose="020B0004020202020204" pitchFamily="34" charset="0"/>
              </a:rPr>
              <a:t>Professor</a:t>
            </a:r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0DEB02C4-DE6F-223D-979C-A9109A4105A0}"/>
              </a:ext>
            </a:extLst>
          </p:cNvPr>
          <p:cNvSpPr txBox="1"/>
          <p:nvPr/>
        </p:nvSpPr>
        <p:spPr>
          <a:xfrm>
            <a:off x="838200" y="4216400"/>
            <a:ext cx="3149600" cy="3847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1250">
                <a:solidFill>
                  <a:srgbClr val="697187"/>
                </a:solidFill>
                <a:latin typeface="Aptos" panose="020B0004020202020204" pitchFamily="34" charset="0"/>
              </a:rPr>
              <a:t>Atividades, comunicados e decisão sobre prorrogações.</a:t>
            </a:r>
          </a:p>
        </p:txBody>
      </p:sp>
      <p:sp>
        <p:nvSpPr>
          <p:cNvPr id="15" name="Retângulo 14">
            <a:extLst>
              <a:ext uri="{FF2B5EF4-FFF2-40B4-BE49-F238E27FC236}">
                <a16:creationId xmlns:a16="http://schemas.microsoft.com/office/drawing/2014/main" id="{C27499DB-D7B7-FB33-C39B-D0F9E37AA9B1}"/>
              </a:ext>
            </a:extLst>
          </p:cNvPr>
          <p:cNvSpPr/>
          <p:nvPr/>
        </p:nvSpPr>
        <p:spPr>
          <a:xfrm>
            <a:off x="609600" y="4940300"/>
            <a:ext cx="63500" cy="368300"/>
          </a:xfrm>
          <a:prstGeom prst="rect">
            <a:avLst/>
          </a:prstGeom>
          <a:solidFill>
            <a:srgbClr val="C7B7E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6" name="CaixaDeTexto 15">
            <a:extLst>
              <a:ext uri="{FF2B5EF4-FFF2-40B4-BE49-F238E27FC236}">
                <a16:creationId xmlns:a16="http://schemas.microsoft.com/office/drawing/2014/main" id="{BAB43BEB-0285-19DB-7524-B0F5CADF9CE6}"/>
              </a:ext>
            </a:extLst>
          </p:cNvPr>
          <p:cNvSpPr txBox="1"/>
          <p:nvPr/>
        </p:nvSpPr>
        <p:spPr>
          <a:xfrm>
            <a:off x="838200" y="4914900"/>
            <a:ext cx="31496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1600" b="1">
                <a:solidFill>
                  <a:srgbClr val="6550B5"/>
                </a:solidFill>
                <a:latin typeface="Aptos" panose="020B0004020202020204" pitchFamily="34" charset="0"/>
              </a:rPr>
              <a:t>Gestão complementar</a:t>
            </a:r>
          </a:p>
        </p:txBody>
      </p:sp>
      <p:sp>
        <p:nvSpPr>
          <p:cNvPr id="17" name="CaixaDeTexto 16">
            <a:extLst>
              <a:ext uri="{FF2B5EF4-FFF2-40B4-BE49-F238E27FC236}">
                <a16:creationId xmlns:a16="http://schemas.microsoft.com/office/drawing/2014/main" id="{103BB972-0102-7FAF-BA88-9A45EBBE3ECD}"/>
              </a:ext>
            </a:extLst>
          </p:cNvPr>
          <p:cNvSpPr txBox="1"/>
          <p:nvPr/>
        </p:nvSpPr>
        <p:spPr>
          <a:xfrm>
            <a:off x="838200" y="5422900"/>
            <a:ext cx="3149600" cy="3847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1250">
                <a:solidFill>
                  <a:srgbClr val="697187"/>
                </a:solidFill>
                <a:latin typeface="Aptos" panose="020B0004020202020204" pitchFamily="34" charset="0"/>
              </a:rPr>
              <a:t>Turmas, disciplinas, usuários e totem demonstrativo.</a:t>
            </a:r>
          </a:p>
        </p:txBody>
      </p:sp>
      <p:sp>
        <p:nvSpPr>
          <p:cNvPr id="18" name="Retângulo: Cantos Arredondados 17">
            <a:extLst>
              <a:ext uri="{FF2B5EF4-FFF2-40B4-BE49-F238E27FC236}">
                <a16:creationId xmlns:a16="http://schemas.microsoft.com/office/drawing/2014/main" id="{75A35F52-A8A4-8CD7-70A1-F83AD851C375}"/>
              </a:ext>
            </a:extLst>
          </p:cNvPr>
          <p:cNvSpPr/>
          <p:nvPr/>
        </p:nvSpPr>
        <p:spPr>
          <a:xfrm>
            <a:off x="4241800" y="2463800"/>
            <a:ext cx="7340600" cy="3771900"/>
          </a:xfrm>
          <a:prstGeom prst="roundRect">
            <a:avLst>
              <a:gd name="adj" fmla="val 6000"/>
            </a:avLst>
          </a:prstGeom>
          <a:solidFill>
            <a:srgbClr val="EDE8F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9" name="Retângulo: Cantos Arredondados 18">
            <a:extLst>
              <a:ext uri="{FF2B5EF4-FFF2-40B4-BE49-F238E27FC236}">
                <a16:creationId xmlns:a16="http://schemas.microsoft.com/office/drawing/2014/main" id="{FD5EE3BD-D3C6-38BE-A0FF-0CE20AD2B4C2}"/>
              </a:ext>
            </a:extLst>
          </p:cNvPr>
          <p:cNvSpPr/>
          <p:nvPr/>
        </p:nvSpPr>
        <p:spPr>
          <a:xfrm>
            <a:off x="4318000" y="2826147"/>
            <a:ext cx="3543300" cy="247570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21" name="Imagem 20" descr="Discussões locais por turma">
            <a:extLst>
              <a:ext uri="{FF2B5EF4-FFF2-40B4-BE49-F238E27FC236}">
                <a16:creationId xmlns:a16="http://schemas.microsoft.com/office/drawing/2014/main" id="{DC667843-3EFC-B932-E050-C2F4A6458BBD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81500" y="2889647"/>
            <a:ext cx="3416300" cy="2348706"/>
          </a:xfrm>
          <a:prstGeom prst="rect">
            <a:avLst/>
          </a:prstGeom>
        </p:spPr>
      </p:pic>
      <p:sp>
        <p:nvSpPr>
          <p:cNvPr id="22" name="CaixaDeTexto 21">
            <a:extLst>
              <a:ext uri="{FF2B5EF4-FFF2-40B4-BE49-F238E27FC236}">
                <a16:creationId xmlns:a16="http://schemas.microsoft.com/office/drawing/2014/main" id="{19328A2C-07BF-1425-19C1-9B5FE735E772}"/>
              </a:ext>
            </a:extLst>
          </p:cNvPr>
          <p:cNvSpPr txBox="1"/>
          <p:nvPr/>
        </p:nvSpPr>
        <p:spPr>
          <a:xfrm>
            <a:off x="4381500" y="5537200"/>
            <a:ext cx="33909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1100" b="1">
                <a:solidFill>
                  <a:srgbClr val="75668D"/>
                </a:solidFill>
                <a:latin typeface="Aptos" panose="020B0004020202020204" pitchFamily="34" charset="0"/>
              </a:rPr>
              <a:t>Discussões locais por turma</a:t>
            </a:r>
          </a:p>
        </p:txBody>
      </p:sp>
      <p:sp>
        <p:nvSpPr>
          <p:cNvPr id="23" name="Retângulo: Cantos Arredondados 22">
            <a:extLst>
              <a:ext uri="{FF2B5EF4-FFF2-40B4-BE49-F238E27FC236}">
                <a16:creationId xmlns:a16="http://schemas.microsoft.com/office/drawing/2014/main" id="{EFB87C5F-404E-4A45-2F62-AC6FA6CE1FD5}"/>
              </a:ext>
            </a:extLst>
          </p:cNvPr>
          <p:cNvSpPr/>
          <p:nvPr/>
        </p:nvSpPr>
        <p:spPr>
          <a:xfrm>
            <a:off x="7924800" y="2826147"/>
            <a:ext cx="3543300" cy="247570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25" name="Imagem 24" descr="Progresso individual no painel docente">
            <a:extLst>
              <a:ext uri="{FF2B5EF4-FFF2-40B4-BE49-F238E27FC236}">
                <a16:creationId xmlns:a16="http://schemas.microsoft.com/office/drawing/2014/main" id="{FF75433B-E801-98CC-45DA-FBACF49F2583}"/>
              </a:ext>
            </a:extLst>
          </p:cNvPr>
          <p:cNvPicPr>
            <a:picLocks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88300" y="2889647"/>
            <a:ext cx="3416300" cy="2348706"/>
          </a:xfrm>
          <a:prstGeom prst="rect">
            <a:avLst/>
          </a:prstGeom>
        </p:spPr>
      </p:pic>
      <p:sp>
        <p:nvSpPr>
          <p:cNvPr id="26" name="CaixaDeTexto 25">
            <a:extLst>
              <a:ext uri="{FF2B5EF4-FFF2-40B4-BE49-F238E27FC236}">
                <a16:creationId xmlns:a16="http://schemas.microsoft.com/office/drawing/2014/main" id="{1415A237-51C3-4CD5-EB06-0D95EA22DD88}"/>
              </a:ext>
            </a:extLst>
          </p:cNvPr>
          <p:cNvSpPr txBox="1"/>
          <p:nvPr/>
        </p:nvSpPr>
        <p:spPr>
          <a:xfrm>
            <a:off x="7988300" y="5537200"/>
            <a:ext cx="33909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1100" b="1">
                <a:solidFill>
                  <a:srgbClr val="75668D"/>
                </a:solidFill>
                <a:latin typeface="Aptos" panose="020B0004020202020204" pitchFamily="34" charset="0"/>
              </a:rPr>
              <a:t>Progresso individual no painel docente</a:t>
            </a:r>
          </a:p>
        </p:txBody>
      </p:sp>
    </p:spTree>
    <p:extLst>
      <p:ext uri="{BB962C8B-B14F-4D97-AF65-F5344CB8AC3E}">
        <p14:creationId xmlns:p14="http://schemas.microsoft.com/office/powerpoint/2010/main" val="350538011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C8216476-F923-995F-6F0E-C27F1D483EE2}"/>
              </a:ext>
            </a:extLst>
          </p:cNvPr>
          <p:cNvSpPr/>
          <p:nvPr/>
        </p:nvSpPr>
        <p:spPr>
          <a:xfrm>
            <a:off x="609600" y="406400"/>
            <a:ext cx="63500" cy="254000"/>
          </a:xfrm>
          <a:prstGeom prst="rect">
            <a:avLst/>
          </a:prstGeom>
          <a:solidFill>
            <a:srgbClr val="7660D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CA859B6C-C404-B82C-F322-EACC17716C05}"/>
              </a:ext>
            </a:extLst>
          </p:cNvPr>
          <p:cNvSpPr txBox="1"/>
          <p:nvPr/>
        </p:nvSpPr>
        <p:spPr>
          <a:xfrm>
            <a:off x="812800" y="431800"/>
            <a:ext cx="102235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1000" b="1">
                <a:solidFill>
                  <a:srgbClr val="7660D3"/>
                </a:solidFill>
                <a:latin typeface="Aptos" panose="020B0004020202020204" pitchFamily="34" charset="0"/>
              </a:rPr>
              <a:t>ETAPA 2 · TRÊS DIFERENCIAIS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96CFBCA9-CE85-6644-758F-2C506FD4FF86}"/>
              </a:ext>
            </a:extLst>
          </p:cNvPr>
          <p:cNvSpPr txBox="1"/>
          <p:nvPr/>
        </p:nvSpPr>
        <p:spPr>
          <a:xfrm>
            <a:off x="609600" y="889000"/>
            <a:ext cx="10985500" cy="44627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2900" b="1">
                <a:solidFill>
                  <a:srgbClr val="273047"/>
                </a:solidFill>
                <a:latin typeface="Aptos" panose="020B0004020202020204" pitchFamily="34" charset="0"/>
              </a:rPr>
              <a:t>Da lista de prazos à execução guiada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68BBD76B-B04C-6D9C-2A4C-54E597BEC04F}"/>
              </a:ext>
            </a:extLst>
          </p:cNvPr>
          <p:cNvSpPr txBox="1"/>
          <p:nvPr/>
        </p:nvSpPr>
        <p:spPr>
          <a:xfrm>
            <a:off x="609600" y="1816100"/>
            <a:ext cx="10998200" cy="2000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1300">
                <a:solidFill>
                  <a:srgbClr val="7B7F93"/>
                </a:solidFill>
                <a:latin typeface="Aptos" panose="020B0004020202020204" pitchFamily="34" charset="0"/>
              </a:rPr>
              <a:t>As três melhorias adicionais conectam decisão, ação e recuperação.</a:t>
            </a:r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23D2827E-6A10-9DC9-0394-7D66846C0B90}"/>
              </a:ext>
            </a:extLst>
          </p:cNvPr>
          <p:cNvSpPr/>
          <p:nvPr/>
        </p:nvSpPr>
        <p:spPr>
          <a:xfrm>
            <a:off x="609600" y="6426200"/>
            <a:ext cx="10972800" cy="12700"/>
          </a:xfrm>
          <a:prstGeom prst="rect">
            <a:avLst/>
          </a:prstGeom>
          <a:solidFill>
            <a:srgbClr val="E2DFE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04F643E5-1E7F-8763-0AC2-C739144E6054}"/>
              </a:ext>
            </a:extLst>
          </p:cNvPr>
          <p:cNvSpPr txBox="1"/>
          <p:nvPr/>
        </p:nvSpPr>
        <p:spPr>
          <a:xfrm>
            <a:off x="609600" y="6553200"/>
            <a:ext cx="9652000" cy="12311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800">
                <a:solidFill>
                  <a:srgbClr val="9690A5"/>
                </a:solidFill>
                <a:latin typeface="Aptos" panose="020B0004020202020204" pitchFamily="34" charset="0"/>
              </a:rPr>
              <a:t>Fonte: Etapa 2 · Ideias adicionais após a tempestade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AF0D95EA-2FD2-3154-895D-6D5FFE6CDC8D}"/>
              </a:ext>
            </a:extLst>
          </p:cNvPr>
          <p:cNvSpPr txBox="1"/>
          <p:nvPr/>
        </p:nvSpPr>
        <p:spPr>
          <a:xfrm>
            <a:off x="10896600" y="6515100"/>
            <a:ext cx="7493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1000" b="1">
                <a:solidFill>
                  <a:srgbClr val="7660D3"/>
                </a:solidFill>
                <a:latin typeface="Aptos" panose="020B0004020202020204" pitchFamily="34" charset="0"/>
              </a:rPr>
              <a:t>13 / 40</a:t>
            </a:r>
          </a:p>
        </p:txBody>
      </p:sp>
      <p:sp>
        <p:nvSpPr>
          <p:cNvPr id="9" name="Retângulo: Cantos Arredondados 8">
            <a:extLst>
              <a:ext uri="{FF2B5EF4-FFF2-40B4-BE49-F238E27FC236}">
                <a16:creationId xmlns:a16="http://schemas.microsoft.com/office/drawing/2014/main" id="{809D46C2-0A80-12C5-54EF-D93B529809DD}"/>
              </a:ext>
            </a:extLst>
          </p:cNvPr>
          <p:cNvSpPr/>
          <p:nvPr/>
        </p:nvSpPr>
        <p:spPr>
          <a:xfrm>
            <a:off x="609600" y="2476500"/>
            <a:ext cx="3522133" cy="3759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06953C8A-E0AA-38CF-D538-EEAA1AD7B77B}"/>
              </a:ext>
            </a:extLst>
          </p:cNvPr>
          <p:cNvSpPr txBox="1"/>
          <p:nvPr/>
        </p:nvSpPr>
        <p:spPr>
          <a:xfrm>
            <a:off x="838200" y="2717800"/>
            <a:ext cx="3064933" cy="2923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1900" b="1">
                <a:solidFill>
                  <a:srgbClr val="6550B5"/>
                </a:solidFill>
                <a:latin typeface="Aptos" panose="020B0004020202020204" pitchFamily="34" charset="0"/>
              </a:rPr>
              <a:t>Prioridade explicável</a:t>
            </a:r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284640C8-A087-226D-C943-E5D648584AA6}"/>
              </a:ext>
            </a:extLst>
          </p:cNvPr>
          <p:cNvSpPr txBox="1"/>
          <p:nvPr/>
        </p:nvSpPr>
        <p:spPr>
          <a:xfrm>
            <a:off x="838200" y="3390900"/>
            <a:ext cx="3064933" cy="73866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1600">
                <a:solidFill>
                  <a:srgbClr val="626A80"/>
                </a:solidFill>
                <a:latin typeface="Aptos" panose="020B0004020202020204" pitchFamily="34" charset="0"/>
              </a:rPr>
              <a:t>Mostra urgência e motivo: prazo, esforço e quantidade de etapas pendentes.</a:t>
            </a:r>
          </a:p>
        </p:txBody>
      </p:sp>
      <p:sp>
        <p:nvSpPr>
          <p:cNvPr id="12" name="Retângulo: Cantos Arredondados 11">
            <a:extLst>
              <a:ext uri="{FF2B5EF4-FFF2-40B4-BE49-F238E27FC236}">
                <a16:creationId xmlns:a16="http://schemas.microsoft.com/office/drawing/2014/main" id="{86C4FF45-E9C7-D41B-36E9-0B2516B76644}"/>
              </a:ext>
            </a:extLst>
          </p:cNvPr>
          <p:cNvSpPr/>
          <p:nvPr/>
        </p:nvSpPr>
        <p:spPr>
          <a:xfrm>
            <a:off x="4334933" y="2476500"/>
            <a:ext cx="3522134" cy="3759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26F5AF96-E9BA-8354-9835-5D38B55E0A23}"/>
              </a:ext>
            </a:extLst>
          </p:cNvPr>
          <p:cNvSpPr txBox="1"/>
          <p:nvPr/>
        </p:nvSpPr>
        <p:spPr>
          <a:xfrm>
            <a:off x="4563533" y="2717800"/>
            <a:ext cx="3064933" cy="2923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1900" b="1">
                <a:solidFill>
                  <a:srgbClr val="6550B5"/>
                </a:solidFill>
                <a:latin typeface="Aptos" panose="020B0004020202020204" pitchFamily="34" charset="0"/>
              </a:rPr>
              <a:t>Planejamento por etapas</a:t>
            </a:r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1EE9934B-3BC5-1614-2B22-31A95B712689}"/>
              </a:ext>
            </a:extLst>
          </p:cNvPr>
          <p:cNvSpPr txBox="1"/>
          <p:nvPr/>
        </p:nvSpPr>
        <p:spPr>
          <a:xfrm>
            <a:off x="4563533" y="3390900"/>
            <a:ext cx="3064933" cy="73866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1600">
                <a:solidFill>
                  <a:srgbClr val="626A80"/>
                </a:solidFill>
                <a:latin typeface="Aptos" panose="020B0004020202020204" pitchFamily="34" charset="0"/>
              </a:rPr>
              <a:t>Transforma uma entrega longa em ações menores com estimativas de tempo.</a:t>
            </a:r>
          </a:p>
        </p:txBody>
      </p:sp>
      <p:sp>
        <p:nvSpPr>
          <p:cNvPr id="15" name="Retângulo: Cantos Arredondados 14">
            <a:extLst>
              <a:ext uri="{FF2B5EF4-FFF2-40B4-BE49-F238E27FC236}">
                <a16:creationId xmlns:a16="http://schemas.microsoft.com/office/drawing/2014/main" id="{C09971B4-8387-4F34-8B2E-E2048EEA4850}"/>
              </a:ext>
            </a:extLst>
          </p:cNvPr>
          <p:cNvSpPr/>
          <p:nvPr/>
        </p:nvSpPr>
        <p:spPr>
          <a:xfrm>
            <a:off x="8060267" y="2476500"/>
            <a:ext cx="3522133" cy="3759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6" name="CaixaDeTexto 15">
            <a:extLst>
              <a:ext uri="{FF2B5EF4-FFF2-40B4-BE49-F238E27FC236}">
                <a16:creationId xmlns:a16="http://schemas.microsoft.com/office/drawing/2014/main" id="{466F685D-73AC-2682-A759-543423DC5A56}"/>
              </a:ext>
            </a:extLst>
          </p:cNvPr>
          <p:cNvSpPr txBox="1"/>
          <p:nvPr/>
        </p:nvSpPr>
        <p:spPr>
          <a:xfrm>
            <a:off x="8288867" y="2717800"/>
            <a:ext cx="3064933" cy="2923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1900" b="1">
                <a:solidFill>
                  <a:srgbClr val="6550B5"/>
                </a:solidFill>
                <a:latin typeface="Aptos" panose="020B0004020202020204" pitchFamily="34" charset="0"/>
              </a:rPr>
              <a:t>Plano de recuperação</a:t>
            </a:r>
          </a:p>
        </p:txBody>
      </p:sp>
      <p:sp>
        <p:nvSpPr>
          <p:cNvPr id="17" name="CaixaDeTexto 16">
            <a:extLst>
              <a:ext uri="{FF2B5EF4-FFF2-40B4-BE49-F238E27FC236}">
                <a16:creationId xmlns:a16="http://schemas.microsoft.com/office/drawing/2014/main" id="{FE093C96-8FC1-4C03-5DA3-6B0AC966FB74}"/>
              </a:ext>
            </a:extLst>
          </p:cNvPr>
          <p:cNvSpPr txBox="1"/>
          <p:nvPr/>
        </p:nvSpPr>
        <p:spPr>
          <a:xfrm>
            <a:off x="8288867" y="3390900"/>
            <a:ext cx="3064933" cy="49244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1600">
                <a:solidFill>
                  <a:srgbClr val="626A80"/>
                </a:solidFill>
                <a:latin typeface="Aptos" panose="020B0004020202020204" pitchFamily="34" charset="0"/>
              </a:rPr>
              <a:t>Reorganiza pendências em dias de estudo sem alterar prazos oficiais.</a:t>
            </a:r>
          </a:p>
        </p:txBody>
      </p:sp>
    </p:spTree>
    <p:extLst>
      <p:ext uri="{BB962C8B-B14F-4D97-AF65-F5344CB8AC3E}">
        <p14:creationId xmlns:p14="http://schemas.microsoft.com/office/powerpoint/2010/main" val="268569316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E718BB87-F8E5-B564-9305-19DC70AF23D3}"/>
              </a:ext>
            </a:extLst>
          </p:cNvPr>
          <p:cNvSpPr/>
          <p:nvPr/>
        </p:nvSpPr>
        <p:spPr>
          <a:xfrm>
            <a:off x="609600" y="406400"/>
            <a:ext cx="63500" cy="254000"/>
          </a:xfrm>
          <a:prstGeom prst="rect">
            <a:avLst/>
          </a:prstGeom>
          <a:solidFill>
            <a:srgbClr val="7660D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7F2E8A02-F59F-615F-B637-E5FC0470886E}"/>
              </a:ext>
            </a:extLst>
          </p:cNvPr>
          <p:cNvSpPr txBox="1"/>
          <p:nvPr/>
        </p:nvSpPr>
        <p:spPr>
          <a:xfrm>
            <a:off x="812800" y="431800"/>
            <a:ext cx="102235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1000" b="1">
                <a:solidFill>
                  <a:srgbClr val="7660D3"/>
                </a:solidFill>
                <a:latin typeface="Aptos" panose="020B0004020202020204" pitchFamily="34" charset="0"/>
              </a:rPr>
              <a:t>ETAPA 3 · RESTRIÇÃO 1 · OFFLINE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570B9978-2B69-9A63-7345-53603DC79470}"/>
              </a:ext>
            </a:extLst>
          </p:cNvPr>
          <p:cNvSpPr txBox="1"/>
          <p:nvPr/>
        </p:nvSpPr>
        <p:spPr>
          <a:xfrm>
            <a:off x="609600" y="889000"/>
            <a:ext cx="10985500" cy="44627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2900" b="1">
                <a:solidFill>
                  <a:srgbClr val="273047"/>
                </a:solidFill>
                <a:latin typeface="Aptos" panose="020B0004020202020204" pitchFamily="34" charset="0"/>
              </a:rPr>
              <a:t>A jornada continua com conexão limitada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68508C2A-CDEC-480C-3597-5150A0A53075}"/>
              </a:ext>
            </a:extLst>
          </p:cNvPr>
          <p:cNvSpPr txBox="1"/>
          <p:nvPr/>
        </p:nvSpPr>
        <p:spPr>
          <a:xfrm>
            <a:off x="609600" y="1816100"/>
            <a:ext cx="10998200" cy="2000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1300">
                <a:solidFill>
                  <a:srgbClr val="7B7F93"/>
                </a:solidFill>
                <a:latin typeface="Aptos" panose="020B0004020202020204" pitchFamily="34" charset="0"/>
              </a:rPr>
              <a:t>Dados locais e cache da aplicação sustentam as ações essenciais.</a:t>
            </a:r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60C68496-47AD-5CD9-9593-3B4FA611059E}"/>
              </a:ext>
            </a:extLst>
          </p:cNvPr>
          <p:cNvSpPr/>
          <p:nvPr/>
        </p:nvSpPr>
        <p:spPr>
          <a:xfrm>
            <a:off x="609600" y="6426200"/>
            <a:ext cx="10972800" cy="12700"/>
          </a:xfrm>
          <a:prstGeom prst="rect">
            <a:avLst/>
          </a:prstGeom>
          <a:solidFill>
            <a:srgbClr val="E2DFE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7277578C-4D70-02ED-AB06-794EE2D6D3A3}"/>
              </a:ext>
            </a:extLst>
          </p:cNvPr>
          <p:cNvSpPr txBox="1"/>
          <p:nvPr/>
        </p:nvSpPr>
        <p:spPr>
          <a:xfrm>
            <a:off x="609600" y="6553200"/>
            <a:ext cx="9652000" cy="12311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800">
                <a:solidFill>
                  <a:srgbClr val="9690A5"/>
                </a:solidFill>
                <a:latin typeface="Aptos" panose="020B0004020202020204" pitchFamily="34" charset="0"/>
              </a:rPr>
              <a:t>Fonte: Etapa 3 · Offline-first e critérios de aceitação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BA6CE9E9-0DAE-274D-20CE-613656FEEDA7}"/>
              </a:ext>
            </a:extLst>
          </p:cNvPr>
          <p:cNvSpPr txBox="1"/>
          <p:nvPr/>
        </p:nvSpPr>
        <p:spPr>
          <a:xfrm>
            <a:off x="10896600" y="6515100"/>
            <a:ext cx="7493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1000" b="1">
                <a:solidFill>
                  <a:srgbClr val="7660D3"/>
                </a:solidFill>
                <a:latin typeface="Aptos" panose="020B0004020202020204" pitchFamily="34" charset="0"/>
              </a:rPr>
              <a:t>14 / 40</a:t>
            </a:r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7633020C-9F7D-9A30-A6D5-24FBFD8537D9}"/>
              </a:ext>
            </a:extLst>
          </p:cNvPr>
          <p:cNvSpPr/>
          <p:nvPr/>
        </p:nvSpPr>
        <p:spPr>
          <a:xfrm>
            <a:off x="609600" y="2527300"/>
            <a:ext cx="63500" cy="368300"/>
          </a:xfrm>
          <a:prstGeom prst="rect">
            <a:avLst/>
          </a:prstGeom>
          <a:solidFill>
            <a:srgbClr val="C7B7E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021C6100-2BBD-A9ED-C3A4-D967D86FB41F}"/>
              </a:ext>
            </a:extLst>
          </p:cNvPr>
          <p:cNvSpPr txBox="1"/>
          <p:nvPr/>
        </p:nvSpPr>
        <p:spPr>
          <a:xfrm>
            <a:off x="838200" y="2501900"/>
            <a:ext cx="31496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1600" b="1">
                <a:solidFill>
                  <a:srgbClr val="6550B5"/>
                </a:solidFill>
                <a:latin typeface="Aptos" panose="020B0004020202020204" pitchFamily="34" charset="0"/>
              </a:rPr>
              <a:t>IndexedDB</a:t>
            </a:r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C26F8F19-FFF0-CA21-7896-1C6AF026DCC0}"/>
              </a:ext>
            </a:extLst>
          </p:cNvPr>
          <p:cNvSpPr txBox="1"/>
          <p:nvPr/>
        </p:nvSpPr>
        <p:spPr>
          <a:xfrm>
            <a:off x="838200" y="3009900"/>
            <a:ext cx="3149600" cy="3847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1250">
                <a:solidFill>
                  <a:srgbClr val="697187"/>
                </a:solidFill>
                <a:latin typeface="Aptos" panose="020B0004020202020204" pitchFamily="34" charset="0"/>
              </a:rPr>
              <a:t>Atividades, progresso, notas e demais registros.</a:t>
            </a:r>
          </a:p>
        </p:txBody>
      </p:sp>
      <p:sp>
        <p:nvSpPr>
          <p:cNvPr id="12" name="Retângulo 11">
            <a:extLst>
              <a:ext uri="{FF2B5EF4-FFF2-40B4-BE49-F238E27FC236}">
                <a16:creationId xmlns:a16="http://schemas.microsoft.com/office/drawing/2014/main" id="{700B1830-D354-0BE5-DC49-36C2706D4F58}"/>
              </a:ext>
            </a:extLst>
          </p:cNvPr>
          <p:cNvSpPr/>
          <p:nvPr/>
        </p:nvSpPr>
        <p:spPr>
          <a:xfrm>
            <a:off x="609600" y="3733800"/>
            <a:ext cx="63500" cy="368300"/>
          </a:xfrm>
          <a:prstGeom prst="rect">
            <a:avLst/>
          </a:prstGeom>
          <a:solidFill>
            <a:srgbClr val="C7B7E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2B53B8DC-9B44-9070-FCB3-9E672DBC6458}"/>
              </a:ext>
            </a:extLst>
          </p:cNvPr>
          <p:cNvSpPr txBox="1"/>
          <p:nvPr/>
        </p:nvSpPr>
        <p:spPr>
          <a:xfrm>
            <a:off x="838200" y="3708400"/>
            <a:ext cx="31496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1600" b="1">
                <a:solidFill>
                  <a:srgbClr val="6550B5"/>
                </a:solidFill>
                <a:latin typeface="Aptos" panose="020B0004020202020204" pitchFamily="34" charset="0"/>
              </a:rPr>
              <a:t>PWA + cache</a:t>
            </a:r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1A50E9DC-6FC8-0B9E-8964-F16720C7DF22}"/>
              </a:ext>
            </a:extLst>
          </p:cNvPr>
          <p:cNvSpPr txBox="1"/>
          <p:nvPr/>
        </p:nvSpPr>
        <p:spPr>
          <a:xfrm>
            <a:off x="838200" y="4216400"/>
            <a:ext cx="3149600" cy="3847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1250">
                <a:solidFill>
                  <a:srgbClr val="697187"/>
                </a:solidFill>
                <a:latin typeface="Aptos" panose="020B0004020202020204" pitchFamily="34" charset="0"/>
              </a:rPr>
              <a:t>Recarga sem rede após uma visita à versão de produção.</a:t>
            </a:r>
          </a:p>
        </p:txBody>
      </p:sp>
      <p:sp>
        <p:nvSpPr>
          <p:cNvPr id="15" name="Retângulo 14">
            <a:extLst>
              <a:ext uri="{FF2B5EF4-FFF2-40B4-BE49-F238E27FC236}">
                <a16:creationId xmlns:a16="http://schemas.microsoft.com/office/drawing/2014/main" id="{9E9E3EFB-31F5-8213-F257-3845245C3CA9}"/>
              </a:ext>
            </a:extLst>
          </p:cNvPr>
          <p:cNvSpPr/>
          <p:nvPr/>
        </p:nvSpPr>
        <p:spPr>
          <a:xfrm>
            <a:off x="609600" y="4940300"/>
            <a:ext cx="63500" cy="368300"/>
          </a:xfrm>
          <a:prstGeom prst="rect">
            <a:avLst/>
          </a:prstGeom>
          <a:solidFill>
            <a:srgbClr val="C7B7E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6" name="CaixaDeTexto 15">
            <a:extLst>
              <a:ext uri="{FF2B5EF4-FFF2-40B4-BE49-F238E27FC236}">
                <a16:creationId xmlns:a16="http://schemas.microsoft.com/office/drawing/2014/main" id="{47D673BE-E9EC-894C-BCF3-621CC55C6DF9}"/>
              </a:ext>
            </a:extLst>
          </p:cNvPr>
          <p:cNvSpPr txBox="1"/>
          <p:nvPr/>
        </p:nvSpPr>
        <p:spPr>
          <a:xfrm>
            <a:off x="838200" y="4914900"/>
            <a:ext cx="31496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1600" b="1">
                <a:solidFill>
                  <a:srgbClr val="6550B5"/>
                </a:solidFill>
                <a:latin typeface="Aptos" panose="020B0004020202020204" pitchFamily="34" charset="0"/>
              </a:rPr>
              <a:t>Limite atual</a:t>
            </a:r>
          </a:p>
        </p:txBody>
      </p:sp>
      <p:sp>
        <p:nvSpPr>
          <p:cNvPr id="17" name="CaixaDeTexto 16">
            <a:extLst>
              <a:ext uri="{FF2B5EF4-FFF2-40B4-BE49-F238E27FC236}">
                <a16:creationId xmlns:a16="http://schemas.microsoft.com/office/drawing/2014/main" id="{62F550F0-6807-C6C4-87F7-058079DC0791}"/>
              </a:ext>
            </a:extLst>
          </p:cNvPr>
          <p:cNvSpPr txBox="1"/>
          <p:nvPr/>
        </p:nvSpPr>
        <p:spPr>
          <a:xfrm>
            <a:off x="838200" y="5422900"/>
            <a:ext cx="3149600" cy="3847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1250">
                <a:solidFill>
                  <a:srgbClr val="697187"/>
                </a:solidFill>
                <a:latin typeface="Aptos" panose="020B0004020202020204" pitchFamily="34" charset="0"/>
              </a:rPr>
              <a:t>Nenhum servidor conectado; não há novidades remotas nem sincronização real.</a:t>
            </a:r>
          </a:p>
        </p:txBody>
      </p:sp>
      <p:sp>
        <p:nvSpPr>
          <p:cNvPr id="18" name="Retângulo: Cantos Arredondados 17">
            <a:extLst>
              <a:ext uri="{FF2B5EF4-FFF2-40B4-BE49-F238E27FC236}">
                <a16:creationId xmlns:a16="http://schemas.microsoft.com/office/drawing/2014/main" id="{0E092D66-C2CF-2891-8974-778B95520229}"/>
              </a:ext>
            </a:extLst>
          </p:cNvPr>
          <p:cNvSpPr/>
          <p:nvPr/>
        </p:nvSpPr>
        <p:spPr>
          <a:xfrm>
            <a:off x="4241800" y="2463800"/>
            <a:ext cx="7340600" cy="3771900"/>
          </a:xfrm>
          <a:prstGeom prst="roundRect">
            <a:avLst>
              <a:gd name="adj" fmla="val 6000"/>
            </a:avLst>
          </a:prstGeom>
          <a:solidFill>
            <a:srgbClr val="EDE8F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9" name="Retângulo: Cantos Arredondados 18">
            <a:extLst>
              <a:ext uri="{FF2B5EF4-FFF2-40B4-BE49-F238E27FC236}">
                <a16:creationId xmlns:a16="http://schemas.microsoft.com/office/drawing/2014/main" id="{16759212-F558-90C6-61BD-C802DB9AF37D}"/>
              </a:ext>
            </a:extLst>
          </p:cNvPr>
          <p:cNvSpPr/>
          <p:nvPr/>
        </p:nvSpPr>
        <p:spPr>
          <a:xfrm>
            <a:off x="5447145" y="2527300"/>
            <a:ext cx="4929910" cy="3429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21" name="Imagem 20" descr="Indicador local e simulação offline explicitamente identificada">
            <a:extLst>
              <a:ext uri="{FF2B5EF4-FFF2-40B4-BE49-F238E27FC236}">
                <a16:creationId xmlns:a16="http://schemas.microsoft.com/office/drawing/2014/main" id="{3D3D2383-DEDD-1BB6-3DDC-ED757D6F41D0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10645" y="2590800"/>
            <a:ext cx="4802909" cy="3302000"/>
          </a:xfrm>
          <a:prstGeom prst="rect">
            <a:avLst/>
          </a:prstGeom>
        </p:spPr>
      </p:pic>
      <p:sp>
        <p:nvSpPr>
          <p:cNvPr id="22" name="CaixaDeTexto 21">
            <a:extLst>
              <a:ext uri="{FF2B5EF4-FFF2-40B4-BE49-F238E27FC236}">
                <a16:creationId xmlns:a16="http://schemas.microsoft.com/office/drawing/2014/main" id="{BC89CD17-29C1-1360-2ED0-FC2035B51DDD}"/>
              </a:ext>
            </a:extLst>
          </p:cNvPr>
          <p:cNvSpPr txBox="1"/>
          <p:nvPr/>
        </p:nvSpPr>
        <p:spPr>
          <a:xfrm>
            <a:off x="4470400" y="5994400"/>
            <a:ext cx="68961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900">
                <a:solidFill>
                  <a:srgbClr val="8B7CA6"/>
                </a:solidFill>
                <a:latin typeface="Aptos" panose="020B0004020202020204" pitchFamily="34" charset="0"/>
              </a:rPr>
              <a:t>Indicador local e simulação offline explicitamente identificada</a:t>
            </a:r>
          </a:p>
        </p:txBody>
      </p:sp>
    </p:spTree>
    <p:extLst>
      <p:ext uri="{BB962C8B-B14F-4D97-AF65-F5344CB8AC3E}">
        <p14:creationId xmlns:p14="http://schemas.microsoft.com/office/powerpoint/2010/main" val="404071699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A686342F-505F-2217-86AC-D9B63AA435B1}"/>
              </a:ext>
            </a:extLst>
          </p:cNvPr>
          <p:cNvSpPr/>
          <p:nvPr/>
        </p:nvSpPr>
        <p:spPr>
          <a:xfrm>
            <a:off x="609600" y="406400"/>
            <a:ext cx="63500" cy="254000"/>
          </a:xfrm>
          <a:prstGeom prst="rect">
            <a:avLst/>
          </a:prstGeom>
          <a:solidFill>
            <a:srgbClr val="7660D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AFBF211F-E97F-8B32-2CEB-CAD124987513}"/>
              </a:ext>
            </a:extLst>
          </p:cNvPr>
          <p:cNvSpPr txBox="1"/>
          <p:nvPr/>
        </p:nvSpPr>
        <p:spPr>
          <a:xfrm>
            <a:off x="812800" y="431800"/>
            <a:ext cx="102235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1000" b="1">
                <a:solidFill>
                  <a:srgbClr val="7660D3"/>
                </a:solidFill>
                <a:latin typeface="Aptos" panose="020B0004020202020204" pitchFamily="34" charset="0"/>
              </a:rPr>
              <a:t>ETAPA 3 · RESTRIÇÃO 2 · GAMIFICAÇÃO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CB9B8F68-5E65-4EA1-CD30-25C4FA89FB33}"/>
              </a:ext>
            </a:extLst>
          </p:cNvPr>
          <p:cNvSpPr txBox="1"/>
          <p:nvPr/>
        </p:nvSpPr>
        <p:spPr>
          <a:xfrm>
            <a:off x="609600" y="889000"/>
            <a:ext cx="10985500" cy="44627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2900" b="1">
                <a:solidFill>
                  <a:srgbClr val="273047"/>
                </a:solidFill>
                <a:latin typeface="Aptos" panose="020B0004020202020204" pitchFamily="34" charset="0"/>
              </a:rPr>
              <a:t>Uma ação real. Um progresso verificável.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1B9EB0B5-661A-3ADD-5D07-88DD127EF93A}"/>
              </a:ext>
            </a:extLst>
          </p:cNvPr>
          <p:cNvSpPr txBox="1"/>
          <p:nvPr/>
        </p:nvSpPr>
        <p:spPr>
          <a:xfrm>
            <a:off x="609600" y="1816100"/>
            <a:ext cx="10998200" cy="2000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1300">
                <a:solidFill>
                  <a:srgbClr val="7B7F93"/>
                </a:solidFill>
                <a:latin typeface="Aptos" panose="020B0004020202020204" pitchFamily="34" charset="0"/>
              </a:rPr>
              <a:t>Marcar uma etapa altera progresso e XP; desfazer recalcula ambos.</a:t>
            </a:r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A13C7217-02FE-B4A1-00DE-CFFEB539194F}"/>
              </a:ext>
            </a:extLst>
          </p:cNvPr>
          <p:cNvSpPr/>
          <p:nvPr/>
        </p:nvSpPr>
        <p:spPr>
          <a:xfrm>
            <a:off x="609600" y="6426200"/>
            <a:ext cx="10972800" cy="12700"/>
          </a:xfrm>
          <a:prstGeom prst="rect">
            <a:avLst/>
          </a:prstGeom>
          <a:solidFill>
            <a:srgbClr val="E2DFE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2B74E2EB-F33A-0B90-F3CF-6CAD434A356D}"/>
              </a:ext>
            </a:extLst>
          </p:cNvPr>
          <p:cNvSpPr txBox="1"/>
          <p:nvPr/>
        </p:nvSpPr>
        <p:spPr>
          <a:xfrm>
            <a:off x="609600" y="6553200"/>
            <a:ext cx="9652000" cy="12311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800">
                <a:solidFill>
                  <a:srgbClr val="9690A5"/>
                </a:solidFill>
                <a:latin typeface="Aptos" panose="020B0004020202020204" pitchFamily="34" charset="0"/>
              </a:rPr>
              <a:t>Fonte: Etapa 3 · Gamificação funcional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0133FDBB-4CAB-3735-C632-A2E469BCF46E}"/>
              </a:ext>
            </a:extLst>
          </p:cNvPr>
          <p:cNvSpPr txBox="1"/>
          <p:nvPr/>
        </p:nvSpPr>
        <p:spPr>
          <a:xfrm>
            <a:off x="10896600" y="6515100"/>
            <a:ext cx="7493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1000" b="1">
                <a:solidFill>
                  <a:srgbClr val="7660D3"/>
                </a:solidFill>
                <a:latin typeface="Aptos" panose="020B0004020202020204" pitchFamily="34" charset="0"/>
              </a:rPr>
              <a:t>15 / 40</a:t>
            </a:r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1FEF46EB-DD66-FD22-D2DD-3B5243C1FB65}"/>
              </a:ext>
            </a:extLst>
          </p:cNvPr>
          <p:cNvSpPr/>
          <p:nvPr/>
        </p:nvSpPr>
        <p:spPr>
          <a:xfrm>
            <a:off x="609600" y="2527300"/>
            <a:ext cx="63500" cy="368300"/>
          </a:xfrm>
          <a:prstGeom prst="rect">
            <a:avLst/>
          </a:prstGeom>
          <a:solidFill>
            <a:srgbClr val="C7B7E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E2C2B0A2-8B18-5EF3-5C56-86E1C74010A1}"/>
              </a:ext>
            </a:extLst>
          </p:cNvPr>
          <p:cNvSpPr txBox="1"/>
          <p:nvPr/>
        </p:nvSpPr>
        <p:spPr>
          <a:xfrm>
            <a:off x="838200" y="2501900"/>
            <a:ext cx="31496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1600" b="1">
                <a:solidFill>
                  <a:srgbClr val="6550B5"/>
                </a:solidFill>
                <a:latin typeface="Aptos" panose="020B0004020202020204" pitchFamily="34" charset="0"/>
              </a:rPr>
              <a:t>+10 XP</a:t>
            </a:r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58C18548-80D6-6FD7-E1B0-5D14C0B74EBD}"/>
              </a:ext>
            </a:extLst>
          </p:cNvPr>
          <p:cNvSpPr txBox="1"/>
          <p:nvPr/>
        </p:nvSpPr>
        <p:spPr>
          <a:xfrm>
            <a:off x="838200" y="3009900"/>
            <a:ext cx="3149600" cy="19236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1250">
                <a:solidFill>
                  <a:srgbClr val="697187"/>
                </a:solidFill>
                <a:latin typeface="Aptos" panose="020B0004020202020204" pitchFamily="34" charset="0"/>
              </a:rPr>
              <a:t>Por etapa concluída.</a:t>
            </a:r>
          </a:p>
        </p:txBody>
      </p:sp>
      <p:sp>
        <p:nvSpPr>
          <p:cNvPr id="12" name="Retângulo 11">
            <a:extLst>
              <a:ext uri="{FF2B5EF4-FFF2-40B4-BE49-F238E27FC236}">
                <a16:creationId xmlns:a16="http://schemas.microsoft.com/office/drawing/2014/main" id="{2944C467-3EC5-263C-BD07-6DCD8655A119}"/>
              </a:ext>
            </a:extLst>
          </p:cNvPr>
          <p:cNvSpPr/>
          <p:nvPr/>
        </p:nvSpPr>
        <p:spPr>
          <a:xfrm>
            <a:off x="609600" y="3733800"/>
            <a:ext cx="63500" cy="368300"/>
          </a:xfrm>
          <a:prstGeom prst="rect">
            <a:avLst/>
          </a:prstGeom>
          <a:solidFill>
            <a:srgbClr val="C7B7E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3DB00A50-AC5D-4CE4-9936-706312E89C22}"/>
              </a:ext>
            </a:extLst>
          </p:cNvPr>
          <p:cNvSpPr txBox="1"/>
          <p:nvPr/>
        </p:nvSpPr>
        <p:spPr>
          <a:xfrm>
            <a:off x="838200" y="3708400"/>
            <a:ext cx="31496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1600" b="1">
                <a:solidFill>
                  <a:srgbClr val="6550B5"/>
                </a:solidFill>
                <a:latin typeface="Aptos" panose="020B0004020202020204" pitchFamily="34" charset="0"/>
              </a:rPr>
              <a:t>+30 XP e +20 XP</a:t>
            </a:r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FA377497-6F2A-81A6-AEA4-5B140624A1CF}"/>
              </a:ext>
            </a:extLst>
          </p:cNvPr>
          <p:cNvSpPr txBox="1"/>
          <p:nvPr/>
        </p:nvSpPr>
        <p:spPr>
          <a:xfrm>
            <a:off x="838200" y="4216400"/>
            <a:ext cx="3149600" cy="19236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1250">
                <a:solidFill>
                  <a:srgbClr val="697187"/>
                </a:solidFill>
                <a:latin typeface="Aptos" panose="020B0004020202020204" pitchFamily="34" charset="0"/>
              </a:rPr>
              <a:t>Por atividade e bônus de conclusão no prazo.</a:t>
            </a:r>
          </a:p>
        </p:txBody>
      </p:sp>
      <p:sp>
        <p:nvSpPr>
          <p:cNvPr id="15" name="Retângulo 14">
            <a:extLst>
              <a:ext uri="{FF2B5EF4-FFF2-40B4-BE49-F238E27FC236}">
                <a16:creationId xmlns:a16="http://schemas.microsoft.com/office/drawing/2014/main" id="{80243A34-1C3E-422B-F474-31794124F0FD}"/>
              </a:ext>
            </a:extLst>
          </p:cNvPr>
          <p:cNvSpPr/>
          <p:nvPr/>
        </p:nvSpPr>
        <p:spPr>
          <a:xfrm>
            <a:off x="609600" y="4940300"/>
            <a:ext cx="63500" cy="368300"/>
          </a:xfrm>
          <a:prstGeom prst="rect">
            <a:avLst/>
          </a:prstGeom>
          <a:solidFill>
            <a:srgbClr val="C7B7E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6" name="CaixaDeTexto 15">
            <a:extLst>
              <a:ext uri="{FF2B5EF4-FFF2-40B4-BE49-F238E27FC236}">
                <a16:creationId xmlns:a16="http://schemas.microsoft.com/office/drawing/2014/main" id="{C20A75BD-28CB-9D9B-6DC8-E52C9E672602}"/>
              </a:ext>
            </a:extLst>
          </p:cNvPr>
          <p:cNvSpPr txBox="1"/>
          <p:nvPr/>
        </p:nvSpPr>
        <p:spPr>
          <a:xfrm>
            <a:off x="838200" y="4914900"/>
            <a:ext cx="31496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1600" b="1">
                <a:solidFill>
                  <a:srgbClr val="6550B5"/>
                </a:solidFill>
                <a:latin typeface="Aptos" panose="020B0004020202020204" pitchFamily="34" charset="0"/>
              </a:rPr>
              <a:t>Sem duplicação</a:t>
            </a:r>
          </a:p>
        </p:txBody>
      </p:sp>
      <p:sp>
        <p:nvSpPr>
          <p:cNvPr id="17" name="CaixaDeTexto 16">
            <a:extLst>
              <a:ext uri="{FF2B5EF4-FFF2-40B4-BE49-F238E27FC236}">
                <a16:creationId xmlns:a16="http://schemas.microsoft.com/office/drawing/2014/main" id="{96EE1E5A-EDD5-9DDF-F026-F3EDE1AF995B}"/>
              </a:ext>
            </a:extLst>
          </p:cNvPr>
          <p:cNvSpPr txBox="1"/>
          <p:nvPr/>
        </p:nvSpPr>
        <p:spPr>
          <a:xfrm>
            <a:off x="838200" y="5422900"/>
            <a:ext cx="3149600" cy="3847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1250">
                <a:solidFill>
                  <a:srgbClr val="697187"/>
                </a:solidFill>
                <a:latin typeface="Aptos" panose="020B0004020202020204" pitchFamily="34" charset="0"/>
              </a:rPr>
              <a:t>Desmarcar e remarcar mantém a pontuação coerente.</a:t>
            </a:r>
          </a:p>
        </p:txBody>
      </p:sp>
      <p:sp>
        <p:nvSpPr>
          <p:cNvPr id="18" name="Retângulo: Cantos Arredondados 17">
            <a:extLst>
              <a:ext uri="{FF2B5EF4-FFF2-40B4-BE49-F238E27FC236}">
                <a16:creationId xmlns:a16="http://schemas.microsoft.com/office/drawing/2014/main" id="{4C0C6CBA-6C2F-9F38-3C8F-E2E175832801}"/>
              </a:ext>
            </a:extLst>
          </p:cNvPr>
          <p:cNvSpPr/>
          <p:nvPr/>
        </p:nvSpPr>
        <p:spPr>
          <a:xfrm>
            <a:off x="4241800" y="2463800"/>
            <a:ext cx="7340600" cy="3771900"/>
          </a:xfrm>
          <a:prstGeom prst="roundRect">
            <a:avLst>
              <a:gd name="adj" fmla="val 6000"/>
            </a:avLst>
          </a:prstGeom>
          <a:solidFill>
            <a:srgbClr val="EDE8F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9" name="Retângulo: Cantos Arredondados 18">
            <a:extLst>
              <a:ext uri="{FF2B5EF4-FFF2-40B4-BE49-F238E27FC236}">
                <a16:creationId xmlns:a16="http://schemas.microsoft.com/office/drawing/2014/main" id="{628FB35C-29D8-3DB3-D8A6-48FDD53C5B57}"/>
              </a:ext>
            </a:extLst>
          </p:cNvPr>
          <p:cNvSpPr/>
          <p:nvPr/>
        </p:nvSpPr>
        <p:spPr>
          <a:xfrm>
            <a:off x="4318000" y="2826147"/>
            <a:ext cx="3543300" cy="247570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21" name="Imagem 20" descr="Antes: etapas pendentes">
            <a:extLst>
              <a:ext uri="{FF2B5EF4-FFF2-40B4-BE49-F238E27FC236}">
                <a16:creationId xmlns:a16="http://schemas.microsoft.com/office/drawing/2014/main" id="{DD294346-A14D-2DC5-3F86-92F5DA9285DD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81500" y="2889647"/>
            <a:ext cx="3416300" cy="2348706"/>
          </a:xfrm>
          <a:prstGeom prst="rect">
            <a:avLst/>
          </a:prstGeom>
        </p:spPr>
      </p:pic>
      <p:sp>
        <p:nvSpPr>
          <p:cNvPr id="22" name="CaixaDeTexto 21">
            <a:extLst>
              <a:ext uri="{FF2B5EF4-FFF2-40B4-BE49-F238E27FC236}">
                <a16:creationId xmlns:a16="http://schemas.microsoft.com/office/drawing/2014/main" id="{9FD85941-EB59-D44C-E36A-0404B2AE6050}"/>
              </a:ext>
            </a:extLst>
          </p:cNvPr>
          <p:cNvSpPr txBox="1"/>
          <p:nvPr/>
        </p:nvSpPr>
        <p:spPr>
          <a:xfrm>
            <a:off x="4381500" y="5537200"/>
            <a:ext cx="33909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1100" b="1">
                <a:solidFill>
                  <a:srgbClr val="75668D"/>
                </a:solidFill>
                <a:latin typeface="Aptos" panose="020B0004020202020204" pitchFamily="34" charset="0"/>
              </a:rPr>
              <a:t>Antes: etapas pendentes</a:t>
            </a:r>
          </a:p>
        </p:txBody>
      </p:sp>
      <p:sp>
        <p:nvSpPr>
          <p:cNvPr id="23" name="Retângulo: Cantos Arredondados 22">
            <a:extLst>
              <a:ext uri="{FF2B5EF4-FFF2-40B4-BE49-F238E27FC236}">
                <a16:creationId xmlns:a16="http://schemas.microsoft.com/office/drawing/2014/main" id="{57FA08F6-3D76-A777-7EB4-759FEA1D397D}"/>
              </a:ext>
            </a:extLst>
          </p:cNvPr>
          <p:cNvSpPr/>
          <p:nvPr/>
        </p:nvSpPr>
        <p:spPr>
          <a:xfrm>
            <a:off x="7924800" y="2826147"/>
            <a:ext cx="3543300" cy="247570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25" name="Imagem 24" descr="Depois: etapa concluída e progresso atualizado">
            <a:extLst>
              <a:ext uri="{FF2B5EF4-FFF2-40B4-BE49-F238E27FC236}">
                <a16:creationId xmlns:a16="http://schemas.microsoft.com/office/drawing/2014/main" id="{9AD3CDEF-36CE-CFC5-76B5-F100D82FA866}"/>
              </a:ext>
            </a:extLst>
          </p:cNvPr>
          <p:cNvPicPr>
            <a:picLocks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88300" y="2889647"/>
            <a:ext cx="3416300" cy="2348706"/>
          </a:xfrm>
          <a:prstGeom prst="rect">
            <a:avLst/>
          </a:prstGeom>
        </p:spPr>
      </p:pic>
      <p:sp>
        <p:nvSpPr>
          <p:cNvPr id="26" name="CaixaDeTexto 25">
            <a:extLst>
              <a:ext uri="{FF2B5EF4-FFF2-40B4-BE49-F238E27FC236}">
                <a16:creationId xmlns:a16="http://schemas.microsoft.com/office/drawing/2014/main" id="{9FDB78E2-7152-7EFD-4BB2-253CBCF764D9}"/>
              </a:ext>
            </a:extLst>
          </p:cNvPr>
          <p:cNvSpPr txBox="1"/>
          <p:nvPr/>
        </p:nvSpPr>
        <p:spPr>
          <a:xfrm>
            <a:off x="7988300" y="5537200"/>
            <a:ext cx="33909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1100" b="1">
                <a:solidFill>
                  <a:srgbClr val="75668D"/>
                </a:solidFill>
                <a:latin typeface="Aptos" panose="020B0004020202020204" pitchFamily="34" charset="0"/>
              </a:rPr>
              <a:t>Depois: etapa concluída e progresso atualizado</a:t>
            </a:r>
          </a:p>
        </p:txBody>
      </p:sp>
    </p:spTree>
    <p:extLst>
      <p:ext uri="{BB962C8B-B14F-4D97-AF65-F5344CB8AC3E}">
        <p14:creationId xmlns:p14="http://schemas.microsoft.com/office/powerpoint/2010/main" val="367561470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250CD246-3F08-2C86-655D-AE92920AB6E0}"/>
              </a:ext>
            </a:extLst>
          </p:cNvPr>
          <p:cNvSpPr/>
          <p:nvPr/>
        </p:nvSpPr>
        <p:spPr>
          <a:xfrm>
            <a:off x="609600" y="406400"/>
            <a:ext cx="63500" cy="254000"/>
          </a:xfrm>
          <a:prstGeom prst="rect">
            <a:avLst/>
          </a:prstGeom>
          <a:solidFill>
            <a:srgbClr val="7660D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E0C8186F-5145-909D-8D75-1373DFDE7515}"/>
              </a:ext>
            </a:extLst>
          </p:cNvPr>
          <p:cNvSpPr txBox="1"/>
          <p:nvPr/>
        </p:nvSpPr>
        <p:spPr>
          <a:xfrm>
            <a:off x="812800" y="431800"/>
            <a:ext cx="102235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1000" b="1">
                <a:solidFill>
                  <a:srgbClr val="7660D3"/>
                </a:solidFill>
                <a:latin typeface="Aptos" panose="020B0004020202020204" pitchFamily="34" charset="0"/>
              </a:rPr>
              <a:t>ETAPA 3 · RESTRIÇÃO 3 · SIMPLICIDADE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25B92E10-24CA-916E-3913-1883D4EE625C}"/>
              </a:ext>
            </a:extLst>
          </p:cNvPr>
          <p:cNvSpPr txBox="1"/>
          <p:nvPr/>
        </p:nvSpPr>
        <p:spPr>
          <a:xfrm>
            <a:off x="609600" y="889000"/>
            <a:ext cx="10985500" cy="44627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2900" b="1">
                <a:solidFill>
                  <a:srgbClr val="273047"/>
                </a:solidFill>
                <a:latin typeface="Aptos" panose="020B0004020202020204" pitchFamily="34" charset="0"/>
              </a:rPr>
              <a:t>O fluxo essencial precisa ser fácil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3A6650B0-4088-94AC-5D79-E8F8D73349AA}"/>
              </a:ext>
            </a:extLst>
          </p:cNvPr>
          <p:cNvSpPr txBox="1"/>
          <p:nvPr/>
        </p:nvSpPr>
        <p:spPr>
          <a:xfrm>
            <a:off x="609600" y="1816100"/>
            <a:ext cx="10998200" cy="2000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1300">
                <a:solidFill>
                  <a:srgbClr val="7B7F93"/>
                </a:solidFill>
                <a:latin typeface="Aptos" panose="020B0004020202020204" pitchFamily="34" charset="0"/>
              </a:rPr>
              <a:t>Poucas decisões para começar; feedback claro para continuar.</a:t>
            </a:r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A9EDA8CB-EA7F-07A9-3CF0-B87DD51D670E}"/>
              </a:ext>
            </a:extLst>
          </p:cNvPr>
          <p:cNvSpPr/>
          <p:nvPr/>
        </p:nvSpPr>
        <p:spPr>
          <a:xfrm>
            <a:off x="609600" y="6426200"/>
            <a:ext cx="10972800" cy="12700"/>
          </a:xfrm>
          <a:prstGeom prst="rect">
            <a:avLst/>
          </a:prstGeom>
          <a:solidFill>
            <a:srgbClr val="E2DFE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E2A55FD1-B6D2-DD6E-363F-DA496D3AD5D3}"/>
              </a:ext>
            </a:extLst>
          </p:cNvPr>
          <p:cNvSpPr txBox="1"/>
          <p:nvPr/>
        </p:nvSpPr>
        <p:spPr>
          <a:xfrm>
            <a:off x="609600" y="6553200"/>
            <a:ext cx="9652000" cy="12311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800">
                <a:solidFill>
                  <a:srgbClr val="9690A5"/>
                </a:solidFill>
                <a:latin typeface="Aptos" panose="020B0004020202020204" pitchFamily="34" charset="0"/>
              </a:rPr>
              <a:t>Fonte: Etapa 3 · Baixa familiaridade tecnológica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F66A0BEF-B9EF-CC28-EC2F-F69165F5B3EB}"/>
              </a:ext>
            </a:extLst>
          </p:cNvPr>
          <p:cNvSpPr txBox="1"/>
          <p:nvPr/>
        </p:nvSpPr>
        <p:spPr>
          <a:xfrm>
            <a:off x="10896600" y="6515100"/>
            <a:ext cx="7493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1000" b="1">
                <a:solidFill>
                  <a:srgbClr val="7660D3"/>
                </a:solidFill>
                <a:latin typeface="Aptos" panose="020B0004020202020204" pitchFamily="34" charset="0"/>
              </a:rPr>
              <a:t>16 / 40</a:t>
            </a:r>
          </a:p>
        </p:txBody>
      </p:sp>
      <p:sp>
        <p:nvSpPr>
          <p:cNvPr id="9" name="Retângulo: Cantos Arredondados 8">
            <a:extLst>
              <a:ext uri="{FF2B5EF4-FFF2-40B4-BE49-F238E27FC236}">
                <a16:creationId xmlns:a16="http://schemas.microsoft.com/office/drawing/2014/main" id="{E3046E26-EBA9-FC96-2323-801BFBC3822C}"/>
              </a:ext>
            </a:extLst>
          </p:cNvPr>
          <p:cNvSpPr/>
          <p:nvPr/>
        </p:nvSpPr>
        <p:spPr>
          <a:xfrm>
            <a:off x="609600" y="2476500"/>
            <a:ext cx="5384800" cy="1778000"/>
          </a:xfrm>
          <a:prstGeom prst="roundRect">
            <a:avLst>
              <a:gd name="adj" fmla="val 6000"/>
            </a:avLst>
          </a:prstGeom>
          <a:solidFill>
            <a:srgbClr val="EFEAF9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F458D007-9E76-4762-A8A2-E1D01766F293}"/>
              </a:ext>
            </a:extLst>
          </p:cNvPr>
          <p:cNvSpPr txBox="1"/>
          <p:nvPr/>
        </p:nvSpPr>
        <p:spPr>
          <a:xfrm>
            <a:off x="838200" y="2717800"/>
            <a:ext cx="4927600" cy="2616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1700" b="1">
                <a:solidFill>
                  <a:srgbClr val="6550B5"/>
                </a:solidFill>
                <a:latin typeface="Aptos" panose="020B0004020202020204" pitchFamily="34" charset="0"/>
              </a:rPr>
              <a:t>01 · Entrar</a:t>
            </a:r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DF30EFEB-40E4-0E20-385C-B1E665D5F90B}"/>
              </a:ext>
            </a:extLst>
          </p:cNvPr>
          <p:cNvSpPr txBox="1"/>
          <p:nvPr/>
        </p:nvSpPr>
        <p:spPr>
          <a:xfrm>
            <a:off x="838200" y="3390900"/>
            <a:ext cx="4927600" cy="21544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1400">
                <a:solidFill>
                  <a:srgbClr val="626A80"/>
                </a:solidFill>
                <a:latin typeface="Aptos" panose="020B0004020202020204" pitchFamily="34" charset="0"/>
              </a:rPr>
              <a:t>Selecionar um perfil demonstrativo.</a:t>
            </a:r>
          </a:p>
        </p:txBody>
      </p:sp>
      <p:cxnSp>
        <p:nvCxnSpPr>
          <p:cNvPr id="12" name="Conector de Seta Reta 11">
            <a:extLst>
              <a:ext uri="{FF2B5EF4-FFF2-40B4-BE49-F238E27FC236}">
                <a16:creationId xmlns:a16="http://schemas.microsoft.com/office/drawing/2014/main" id="{30913880-8E7F-597D-9AE3-C5C401A87C27}"/>
              </a:ext>
            </a:extLst>
          </p:cNvPr>
          <p:cNvCxnSpPr/>
          <p:nvPr/>
        </p:nvCxnSpPr>
        <p:spPr>
          <a:xfrm>
            <a:off x="6019800" y="3365500"/>
            <a:ext cx="152400" cy="0"/>
          </a:xfrm>
          <a:prstGeom prst="straightConnector1">
            <a:avLst/>
          </a:prstGeom>
          <a:ln w="19050">
            <a:solidFill>
              <a:srgbClr val="9B85D6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etângulo: Cantos Arredondados 12">
            <a:extLst>
              <a:ext uri="{FF2B5EF4-FFF2-40B4-BE49-F238E27FC236}">
                <a16:creationId xmlns:a16="http://schemas.microsoft.com/office/drawing/2014/main" id="{D5571A06-2E6D-1493-A1EC-90BA345BFE7E}"/>
              </a:ext>
            </a:extLst>
          </p:cNvPr>
          <p:cNvSpPr/>
          <p:nvPr/>
        </p:nvSpPr>
        <p:spPr>
          <a:xfrm>
            <a:off x="6197600" y="2476500"/>
            <a:ext cx="5384800" cy="1778000"/>
          </a:xfrm>
          <a:prstGeom prst="roundRect">
            <a:avLst>
              <a:gd name="adj" fmla="val 6000"/>
            </a:avLst>
          </a:prstGeom>
          <a:solidFill>
            <a:srgbClr val="EFEAF9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1834123A-D857-3071-CA54-1A7952D71AE0}"/>
              </a:ext>
            </a:extLst>
          </p:cNvPr>
          <p:cNvSpPr txBox="1"/>
          <p:nvPr/>
        </p:nvSpPr>
        <p:spPr>
          <a:xfrm>
            <a:off x="6426200" y="2717800"/>
            <a:ext cx="4927600" cy="2616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1700" b="1">
                <a:solidFill>
                  <a:srgbClr val="6550B5"/>
                </a:solidFill>
                <a:latin typeface="Aptos" panose="020B0004020202020204" pitchFamily="34" charset="0"/>
              </a:rPr>
              <a:t>02 · Ver prioridade</a:t>
            </a:r>
          </a:p>
        </p:txBody>
      </p:sp>
      <p:sp>
        <p:nvSpPr>
          <p:cNvPr id="15" name="CaixaDeTexto 14">
            <a:extLst>
              <a:ext uri="{FF2B5EF4-FFF2-40B4-BE49-F238E27FC236}">
                <a16:creationId xmlns:a16="http://schemas.microsoft.com/office/drawing/2014/main" id="{CE866483-BBA5-01F2-5F67-AB176C986FBF}"/>
              </a:ext>
            </a:extLst>
          </p:cNvPr>
          <p:cNvSpPr txBox="1"/>
          <p:nvPr/>
        </p:nvSpPr>
        <p:spPr>
          <a:xfrm>
            <a:off x="6426200" y="3390900"/>
            <a:ext cx="4927600" cy="21544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1400">
                <a:solidFill>
                  <a:srgbClr val="626A80"/>
                </a:solidFill>
                <a:latin typeface="Aptos" panose="020B0004020202020204" pitchFamily="34" charset="0"/>
              </a:rPr>
              <a:t>Identificar o que precisa de atenção.</a:t>
            </a:r>
          </a:p>
        </p:txBody>
      </p:sp>
      <p:sp>
        <p:nvSpPr>
          <p:cNvPr id="16" name="Retângulo: Cantos Arredondados 15">
            <a:extLst>
              <a:ext uri="{FF2B5EF4-FFF2-40B4-BE49-F238E27FC236}">
                <a16:creationId xmlns:a16="http://schemas.microsoft.com/office/drawing/2014/main" id="{227B00B5-8EF8-3942-D671-1766FADE25C5}"/>
              </a:ext>
            </a:extLst>
          </p:cNvPr>
          <p:cNvSpPr/>
          <p:nvPr/>
        </p:nvSpPr>
        <p:spPr>
          <a:xfrm>
            <a:off x="609600" y="4457700"/>
            <a:ext cx="5384800" cy="1778000"/>
          </a:xfrm>
          <a:prstGeom prst="roundRect">
            <a:avLst>
              <a:gd name="adj" fmla="val 6000"/>
            </a:avLst>
          </a:prstGeom>
          <a:solidFill>
            <a:srgbClr val="EFEAF9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7" name="CaixaDeTexto 16">
            <a:extLst>
              <a:ext uri="{FF2B5EF4-FFF2-40B4-BE49-F238E27FC236}">
                <a16:creationId xmlns:a16="http://schemas.microsoft.com/office/drawing/2014/main" id="{05C8DE33-0C64-D13E-BDFB-AE0674BE94AC}"/>
              </a:ext>
            </a:extLst>
          </p:cNvPr>
          <p:cNvSpPr txBox="1"/>
          <p:nvPr/>
        </p:nvSpPr>
        <p:spPr>
          <a:xfrm>
            <a:off x="838200" y="4699000"/>
            <a:ext cx="4927600" cy="2616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1700" b="1">
                <a:solidFill>
                  <a:srgbClr val="6550B5"/>
                </a:solidFill>
                <a:latin typeface="Aptos" panose="020B0004020202020204" pitchFamily="34" charset="0"/>
              </a:rPr>
              <a:t>03 · Abrir tarefa</a:t>
            </a:r>
          </a:p>
        </p:txBody>
      </p:sp>
      <p:sp>
        <p:nvSpPr>
          <p:cNvPr id="18" name="CaixaDeTexto 17">
            <a:extLst>
              <a:ext uri="{FF2B5EF4-FFF2-40B4-BE49-F238E27FC236}">
                <a16:creationId xmlns:a16="http://schemas.microsoft.com/office/drawing/2014/main" id="{0F0288B0-D026-6A33-F73B-E382A7A3D0CF}"/>
              </a:ext>
            </a:extLst>
          </p:cNvPr>
          <p:cNvSpPr txBox="1"/>
          <p:nvPr/>
        </p:nvSpPr>
        <p:spPr>
          <a:xfrm>
            <a:off x="838200" y="5372100"/>
            <a:ext cx="4927600" cy="21544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1400">
                <a:solidFill>
                  <a:srgbClr val="626A80"/>
                </a:solidFill>
                <a:latin typeface="Aptos" panose="020B0004020202020204" pitchFamily="34" charset="0"/>
              </a:rPr>
              <a:t>Consultar orientações e etapas.</a:t>
            </a:r>
          </a:p>
        </p:txBody>
      </p:sp>
      <p:cxnSp>
        <p:nvCxnSpPr>
          <p:cNvPr id="19" name="Conector de Seta Reta 18">
            <a:extLst>
              <a:ext uri="{FF2B5EF4-FFF2-40B4-BE49-F238E27FC236}">
                <a16:creationId xmlns:a16="http://schemas.microsoft.com/office/drawing/2014/main" id="{DE612A6E-8367-DA57-3AD2-CB392A251259}"/>
              </a:ext>
            </a:extLst>
          </p:cNvPr>
          <p:cNvCxnSpPr/>
          <p:nvPr/>
        </p:nvCxnSpPr>
        <p:spPr>
          <a:xfrm>
            <a:off x="6019800" y="5346700"/>
            <a:ext cx="152400" cy="0"/>
          </a:xfrm>
          <a:prstGeom prst="straightConnector1">
            <a:avLst/>
          </a:prstGeom>
          <a:ln w="19050">
            <a:solidFill>
              <a:srgbClr val="9B85D6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etângulo: Cantos Arredondados 19">
            <a:extLst>
              <a:ext uri="{FF2B5EF4-FFF2-40B4-BE49-F238E27FC236}">
                <a16:creationId xmlns:a16="http://schemas.microsoft.com/office/drawing/2014/main" id="{9B55DA73-1A54-4766-7D61-B691B5ADC728}"/>
              </a:ext>
            </a:extLst>
          </p:cNvPr>
          <p:cNvSpPr/>
          <p:nvPr/>
        </p:nvSpPr>
        <p:spPr>
          <a:xfrm>
            <a:off x="6197600" y="4457700"/>
            <a:ext cx="5384800" cy="1778000"/>
          </a:xfrm>
          <a:prstGeom prst="roundRect">
            <a:avLst>
              <a:gd name="adj" fmla="val 6000"/>
            </a:avLst>
          </a:prstGeom>
          <a:solidFill>
            <a:srgbClr val="EFEAF9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1" name="CaixaDeTexto 20">
            <a:extLst>
              <a:ext uri="{FF2B5EF4-FFF2-40B4-BE49-F238E27FC236}">
                <a16:creationId xmlns:a16="http://schemas.microsoft.com/office/drawing/2014/main" id="{9437848E-6129-B579-CCB8-71810A31CCED}"/>
              </a:ext>
            </a:extLst>
          </p:cNvPr>
          <p:cNvSpPr txBox="1"/>
          <p:nvPr/>
        </p:nvSpPr>
        <p:spPr>
          <a:xfrm>
            <a:off x="6426200" y="4699000"/>
            <a:ext cx="4927600" cy="2616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1700" b="1">
                <a:solidFill>
                  <a:srgbClr val="6550B5"/>
                </a:solidFill>
                <a:latin typeface="Aptos" panose="020B0004020202020204" pitchFamily="34" charset="0"/>
              </a:rPr>
              <a:t>04 · Concluir etapa</a:t>
            </a:r>
          </a:p>
        </p:txBody>
      </p:sp>
      <p:sp>
        <p:nvSpPr>
          <p:cNvPr id="22" name="CaixaDeTexto 21">
            <a:extLst>
              <a:ext uri="{FF2B5EF4-FFF2-40B4-BE49-F238E27FC236}">
                <a16:creationId xmlns:a16="http://schemas.microsoft.com/office/drawing/2014/main" id="{1C35B0FF-30D5-91D4-41B6-23CFC91EFB30}"/>
              </a:ext>
            </a:extLst>
          </p:cNvPr>
          <p:cNvSpPr txBox="1"/>
          <p:nvPr/>
        </p:nvSpPr>
        <p:spPr>
          <a:xfrm>
            <a:off x="6426200" y="5372100"/>
            <a:ext cx="4927600" cy="21544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1400">
                <a:solidFill>
                  <a:srgbClr val="626A80"/>
                </a:solidFill>
                <a:latin typeface="Aptos" panose="020B0004020202020204" pitchFamily="34" charset="0"/>
              </a:rPr>
              <a:t>Ver progresso, XP e salvamento local.</a:t>
            </a:r>
          </a:p>
        </p:txBody>
      </p:sp>
    </p:spTree>
    <p:extLst>
      <p:ext uri="{BB962C8B-B14F-4D97-AF65-F5344CB8AC3E}">
        <p14:creationId xmlns:p14="http://schemas.microsoft.com/office/powerpoint/2010/main" val="348243623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7B8E2F42-6B6C-18FA-9EDA-0E2789B2AE64}"/>
              </a:ext>
            </a:extLst>
          </p:cNvPr>
          <p:cNvSpPr/>
          <p:nvPr/>
        </p:nvSpPr>
        <p:spPr>
          <a:xfrm>
            <a:off x="609600" y="406400"/>
            <a:ext cx="63500" cy="254000"/>
          </a:xfrm>
          <a:prstGeom prst="rect">
            <a:avLst/>
          </a:prstGeom>
          <a:solidFill>
            <a:srgbClr val="7660D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46080451-1369-1121-0B30-96F2E0A5F61F}"/>
              </a:ext>
            </a:extLst>
          </p:cNvPr>
          <p:cNvSpPr txBox="1"/>
          <p:nvPr/>
        </p:nvSpPr>
        <p:spPr>
          <a:xfrm>
            <a:off x="812800" y="431800"/>
            <a:ext cx="102235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s-ES" sz="1000" b="1">
                <a:solidFill>
                  <a:srgbClr val="7660D3"/>
                </a:solidFill>
                <a:latin typeface="Aptos" panose="020B0004020202020204" pitchFamily="34" charset="0"/>
              </a:rPr>
              <a:t>ETAPA 4 · SCAMPER · PARTE 1</a:t>
            </a:r>
            <a:endParaRPr lang="pt-BR" sz="1000" b="1">
              <a:solidFill>
                <a:srgbClr val="7660D3"/>
              </a:solidFill>
              <a:latin typeface="Aptos" panose="020B0004020202020204" pitchFamily="34" charset="0"/>
            </a:endParaRP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0BD4160E-ED4D-4B71-EE19-3874BF9FFF8A}"/>
              </a:ext>
            </a:extLst>
          </p:cNvPr>
          <p:cNvSpPr txBox="1"/>
          <p:nvPr/>
        </p:nvSpPr>
        <p:spPr>
          <a:xfrm>
            <a:off x="609600" y="889000"/>
            <a:ext cx="10985500" cy="44627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2900" b="1">
                <a:solidFill>
                  <a:srgbClr val="273047"/>
                </a:solidFill>
                <a:latin typeface="Aptos" panose="020B0004020202020204" pitchFamily="34" charset="0"/>
              </a:rPr>
              <a:t>Transformar a ideia em decisões de produto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FFA799F7-D11D-0F3F-BCA7-2ECC2C3839DF}"/>
              </a:ext>
            </a:extLst>
          </p:cNvPr>
          <p:cNvSpPr txBox="1"/>
          <p:nvPr/>
        </p:nvSpPr>
        <p:spPr>
          <a:xfrm>
            <a:off x="609600" y="1816100"/>
            <a:ext cx="10998200" cy="2000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1300">
                <a:solidFill>
                  <a:srgbClr val="7B7F93"/>
                </a:solidFill>
                <a:latin typeface="Aptos" panose="020B0004020202020204" pitchFamily="34" charset="0"/>
              </a:rPr>
              <a:t>Substituir, combinar, adaptar e modificar.</a:t>
            </a:r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24D730C9-F67C-31D5-B0B3-A1F49718C981}"/>
              </a:ext>
            </a:extLst>
          </p:cNvPr>
          <p:cNvSpPr/>
          <p:nvPr/>
        </p:nvSpPr>
        <p:spPr>
          <a:xfrm>
            <a:off x="609600" y="6426200"/>
            <a:ext cx="10972800" cy="12700"/>
          </a:xfrm>
          <a:prstGeom prst="rect">
            <a:avLst/>
          </a:prstGeom>
          <a:solidFill>
            <a:srgbClr val="E2DFE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71B02A45-9B5C-299E-EC71-E7D8EB9A1619}"/>
              </a:ext>
            </a:extLst>
          </p:cNvPr>
          <p:cNvSpPr txBox="1"/>
          <p:nvPr/>
        </p:nvSpPr>
        <p:spPr>
          <a:xfrm>
            <a:off x="609600" y="6553200"/>
            <a:ext cx="9652000" cy="12311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800">
                <a:solidFill>
                  <a:srgbClr val="9690A5"/>
                </a:solidFill>
                <a:latin typeface="Aptos" panose="020B0004020202020204" pitchFamily="34" charset="0"/>
              </a:rPr>
              <a:t>Fonte: Etapa 4 · S, C, A e M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CC88CE56-7DB8-6EA4-0C39-00B32C65758B}"/>
              </a:ext>
            </a:extLst>
          </p:cNvPr>
          <p:cNvSpPr txBox="1"/>
          <p:nvPr/>
        </p:nvSpPr>
        <p:spPr>
          <a:xfrm>
            <a:off x="10896600" y="6515100"/>
            <a:ext cx="7493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1000" b="1">
                <a:solidFill>
                  <a:srgbClr val="7660D3"/>
                </a:solidFill>
                <a:latin typeface="Aptos" panose="020B0004020202020204" pitchFamily="34" charset="0"/>
              </a:rPr>
              <a:t>17 / 40</a:t>
            </a:r>
          </a:p>
        </p:txBody>
      </p:sp>
      <p:sp>
        <p:nvSpPr>
          <p:cNvPr id="9" name="Retângulo: Cantos Arredondados 8">
            <a:extLst>
              <a:ext uri="{FF2B5EF4-FFF2-40B4-BE49-F238E27FC236}">
                <a16:creationId xmlns:a16="http://schemas.microsoft.com/office/drawing/2014/main" id="{29B7D6D9-D620-8AF3-9F2C-25098C62FC46}"/>
              </a:ext>
            </a:extLst>
          </p:cNvPr>
          <p:cNvSpPr/>
          <p:nvPr/>
        </p:nvSpPr>
        <p:spPr>
          <a:xfrm>
            <a:off x="609600" y="2476500"/>
            <a:ext cx="5384800" cy="1778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459AB193-EB53-E03F-7D75-065491D9DB71}"/>
              </a:ext>
            </a:extLst>
          </p:cNvPr>
          <p:cNvSpPr txBox="1"/>
          <p:nvPr/>
        </p:nvSpPr>
        <p:spPr>
          <a:xfrm>
            <a:off x="838200" y="2717800"/>
            <a:ext cx="4927600" cy="2616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1700" b="1">
                <a:solidFill>
                  <a:srgbClr val="6550B5"/>
                </a:solidFill>
                <a:latin typeface="Aptos" panose="020B0004020202020204" pitchFamily="34" charset="0"/>
              </a:rPr>
              <a:t>S · Substituir</a:t>
            </a:r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65A27728-8869-33AF-118F-8E918FA22195}"/>
              </a:ext>
            </a:extLst>
          </p:cNvPr>
          <p:cNvSpPr txBox="1"/>
          <p:nvPr/>
        </p:nvSpPr>
        <p:spPr>
          <a:xfrm>
            <a:off x="838200" y="3390900"/>
            <a:ext cx="4927600" cy="43088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1400">
                <a:solidFill>
                  <a:srgbClr val="626A80"/>
                </a:solidFill>
                <a:latin typeface="Aptos" panose="020B0004020202020204" pitchFamily="34" charset="0"/>
              </a:rPr>
              <a:t>Consulta dispersa → painel centralizado. Lista de datas → planejamento por ações.</a:t>
            </a:r>
          </a:p>
        </p:txBody>
      </p:sp>
      <p:sp>
        <p:nvSpPr>
          <p:cNvPr id="12" name="Retângulo: Cantos Arredondados 11">
            <a:extLst>
              <a:ext uri="{FF2B5EF4-FFF2-40B4-BE49-F238E27FC236}">
                <a16:creationId xmlns:a16="http://schemas.microsoft.com/office/drawing/2014/main" id="{C65412E3-7D2B-C899-E093-D73E054CA46B}"/>
              </a:ext>
            </a:extLst>
          </p:cNvPr>
          <p:cNvSpPr/>
          <p:nvPr/>
        </p:nvSpPr>
        <p:spPr>
          <a:xfrm>
            <a:off x="6197600" y="2476500"/>
            <a:ext cx="5384800" cy="1778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E4346B78-7B48-D5D2-1016-E37F31B4BD89}"/>
              </a:ext>
            </a:extLst>
          </p:cNvPr>
          <p:cNvSpPr txBox="1"/>
          <p:nvPr/>
        </p:nvSpPr>
        <p:spPr>
          <a:xfrm>
            <a:off x="6426200" y="2717800"/>
            <a:ext cx="4927600" cy="2616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1700" b="1">
                <a:solidFill>
                  <a:srgbClr val="6550B5"/>
                </a:solidFill>
                <a:latin typeface="Aptos" panose="020B0004020202020204" pitchFamily="34" charset="0"/>
              </a:rPr>
              <a:t>C · Combinar</a:t>
            </a:r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D72DD2E0-3145-4510-D68B-670ECF8F5990}"/>
              </a:ext>
            </a:extLst>
          </p:cNvPr>
          <p:cNvSpPr txBox="1"/>
          <p:nvPr/>
        </p:nvSpPr>
        <p:spPr>
          <a:xfrm>
            <a:off x="6426200" y="3390900"/>
            <a:ext cx="4927600" cy="43088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1400">
                <a:solidFill>
                  <a:srgbClr val="626A80"/>
                </a:solidFill>
                <a:latin typeface="Aptos" panose="020B0004020202020204" pitchFamily="34" charset="0"/>
              </a:rPr>
              <a:t>Calendário mostra quando; etapas mostram como; gamificação incentiva continuar.</a:t>
            </a:r>
          </a:p>
        </p:txBody>
      </p:sp>
      <p:sp>
        <p:nvSpPr>
          <p:cNvPr id="15" name="Retângulo: Cantos Arredondados 14">
            <a:extLst>
              <a:ext uri="{FF2B5EF4-FFF2-40B4-BE49-F238E27FC236}">
                <a16:creationId xmlns:a16="http://schemas.microsoft.com/office/drawing/2014/main" id="{7D21BACA-E48A-135B-0C50-053AC362474B}"/>
              </a:ext>
            </a:extLst>
          </p:cNvPr>
          <p:cNvSpPr/>
          <p:nvPr/>
        </p:nvSpPr>
        <p:spPr>
          <a:xfrm>
            <a:off x="609600" y="4457700"/>
            <a:ext cx="5384800" cy="1778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6" name="CaixaDeTexto 15">
            <a:extLst>
              <a:ext uri="{FF2B5EF4-FFF2-40B4-BE49-F238E27FC236}">
                <a16:creationId xmlns:a16="http://schemas.microsoft.com/office/drawing/2014/main" id="{583EA34E-A7B9-188F-17EE-BF8A99FC1438}"/>
              </a:ext>
            </a:extLst>
          </p:cNvPr>
          <p:cNvSpPr txBox="1"/>
          <p:nvPr/>
        </p:nvSpPr>
        <p:spPr>
          <a:xfrm>
            <a:off x="838200" y="4699000"/>
            <a:ext cx="4927600" cy="2616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1700" b="1">
                <a:solidFill>
                  <a:srgbClr val="6550B5"/>
                </a:solidFill>
                <a:latin typeface="Aptos" panose="020B0004020202020204" pitchFamily="34" charset="0"/>
              </a:rPr>
              <a:t>A · Adaptar</a:t>
            </a:r>
          </a:p>
        </p:txBody>
      </p:sp>
      <p:sp>
        <p:nvSpPr>
          <p:cNvPr id="17" name="CaixaDeTexto 16">
            <a:extLst>
              <a:ext uri="{FF2B5EF4-FFF2-40B4-BE49-F238E27FC236}">
                <a16:creationId xmlns:a16="http://schemas.microsoft.com/office/drawing/2014/main" id="{A31456C9-6448-C863-08E3-F224A0239A51}"/>
              </a:ext>
            </a:extLst>
          </p:cNvPr>
          <p:cNvSpPr txBox="1"/>
          <p:nvPr/>
        </p:nvSpPr>
        <p:spPr>
          <a:xfrm>
            <a:off x="838200" y="5372100"/>
            <a:ext cx="4927600" cy="43088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1400">
                <a:solidFill>
                  <a:srgbClr val="626A80"/>
                </a:solidFill>
                <a:latin typeface="Aptos" panose="020B0004020202020204" pitchFamily="34" charset="0"/>
              </a:rPr>
              <a:t>Gestão de projetos e trilhas de aprendizagem para trabalhos acadêmicos.</a:t>
            </a:r>
          </a:p>
        </p:txBody>
      </p:sp>
      <p:sp>
        <p:nvSpPr>
          <p:cNvPr id="18" name="Retângulo: Cantos Arredondados 17">
            <a:extLst>
              <a:ext uri="{FF2B5EF4-FFF2-40B4-BE49-F238E27FC236}">
                <a16:creationId xmlns:a16="http://schemas.microsoft.com/office/drawing/2014/main" id="{DA383AF3-8A1C-ADAD-88E3-14F7B3A63D08}"/>
              </a:ext>
            </a:extLst>
          </p:cNvPr>
          <p:cNvSpPr/>
          <p:nvPr/>
        </p:nvSpPr>
        <p:spPr>
          <a:xfrm>
            <a:off x="6197600" y="4457700"/>
            <a:ext cx="5384800" cy="1778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9" name="CaixaDeTexto 18">
            <a:extLst>
              <a:ext uri="{FF2B5EF4-FFF2-40B4-BE49-F238E27FC236}">
                <a16:creationId xmlns:a16="http://schemas.microsoft.com/office/drawing/2014/main" id="{19E12811-3CC7-D89D-F8C2-E624EC7A625E}"/>
              </a:ext>
            </a:extLst>
          </p:cNvPr>
          <p:cNvSpPr txBox="1"/>
          <p:nvPr/>
        </p:nvSpPr>
        <p:spPr>
          <a:xfrm>
            <a:off x="6426200" y="4699000"/>
            <a:ext cx="4927600" cy="2616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1700" b="1">
                <a:solidFill>
                  <a:srgbClr val="6550B5"/>
                </a:solidFill>
                <a:latin typeface="Aptos" panose="020B0004020202020204" pitchFamily="34" charset="0"/>
              </a:rPr>
              <a:t>M · Modificar</a:t>
            </a:r>
          </a:p>
        </p:txBody>
      </p:sp>
      <p:sp>
        <p:nvSpPr>
          <p:cNvPr id="20" name="CaixaDeTexto 19">
            <a:extLst>
              <a:ext uri="{FF2B5EF4-FFF2-40B4-BE49-F238E27FC236}">
                <a16:creationId xmlns:a16="http://schemas.microsoft.com/office/drawing/2014/main" id="{2E0AD6BB-0628-0CCE-815E-B816E6A96F07}"/>
              </a:ext>
            </a:extLst>
          </p:cNvPr>
          <p:cNvSpPr txBox="1"/>
          <p:nvPr/>
        </p:nvSpPr>
        <p:spPr>
          <a:xfrm>
            <a:off x="6426200" y="5372100"/>
            <a:ext cx="4927600" cy="43088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1400">
                <a:solidFill>
                  <a:srgbClr val="626A80"/>
                </a:solidFill>
                <a:latin typeface="Aptos" panose="020B0004020202020204" pitchFamily="34" charset="0"/>
              </a:rPr>
              <a:t>Menos complexidade e alertas. Mais clareza, feedback e recursos adequados ao perfil.</a:t>
            </a:r>
          </a:p>
        </p:txBody>
      </p:sp>
    </p:spTree>
    <p:extLst>
      <p:ext uri="{BB962C8B-B14F-4D97-AF65-F5344CB8AC3E}">
        <p14:creationId xmlns:p14="http://schemas.microsoft.com/office/powerpoint/2010/main" val="308897206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CFD965C5-C971-C577-E8E1-9DFC9ADCAFE3}"/>
              </a:ext>
            </a:extLst>
          </p:cNvPr>
          <p:cNvSpPr/>
          <p:nvPr/>
        </p:nvSpPr>
        <p:spPr>
          <a:xfrm>
            <a:off x="609600" y="406400"/>
            <a:ext cx="63500" cy="254000"/>
          </a:xfrm>
          <a:prstGeom prst="rect">
            <a:avLst/>
          </a:prstGeom>
          <a:solidFill>
            <a:srgbClr val="7660D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85B46860-599E-1E2B-1E63-B93B815BC82C}"/>
              </a:ext>
            </a:extLst>
          </p:cNvPr>
          <p:cNvSpPr txBox="1"/>
          <p:nvPr/>
        </p:nvSpPr>
        <p:spPr>
          <a:xfrm>
            <a:off x="812800" y="431800"/>
            <a:ext cx="102235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s-ES" sz="1000" b="1">
                <a:solidFill>
                  <a:srgbClr val="7660D3"/>
                </a:solidFill>
                <a:latin typeface="Aptos" panose="020B0004020202020204" pitchFamily="34" charset="0"/>
              </a:rPr>
              <a:t>ETAPA 4 · SCAMPER · PARTE 2</a:t>
            </a:r>
            <a:endParaRPr lang="pt-BR" sz="1000" b="1">
              <a:solidFill>
                <a:srgbClr val="7660D3"/>
              </a:solidFill>
              <a:latin typeface="Aptos" panose="020B0004020202020204" pitchFamily="34" charset="0"/>
            </a:endParaRP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93E18374-4125-8377-B1E3-E5A80E1CB9CD}"/>
              </a:ext>
            </a:extLst>
          </p:cNvPr>
          <p:cNvSpPr txBox="1"/>
          <p:nvPr/>
        </p:nvSpPr>
        <p:spPr>
          <a:xfrm>
            <a:off x="609600" y="889000"/>
            <a:ext cx="10985500" cy="44627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2900" b="1">
                <a:solidFill>
                  <a:srgbClr val="273047"/>
                </a:solidFill>
                <a:latin typeface="Aptos" panose="020B0004020202020204" pitchFamily="34" charset="0"/>
              </a:rPr>
              <a:t>Reorganizar a experiência em torno da ação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717F0A12-B137-24FF-AE00-D9265035638F}"/>
              </a:ext>
            </a:extLst>
          </p:cNvPr>
          <p:cNvSpPr txBox="1"/>
          <p:nvPr/>
        </p:nvSpPr>
        <p:spPr>
          <a:xfrm>
            <a:off x="609600" y="1816100"/>
            <a:ext cx="10998200" cy="2000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1300">
                <a:solidFill>
                  <a:srgbClr val="7B7F93"/>
                </a:solidFill>
                <a:latin typeface="Aptos" panose="020B0004020202020204" pitchFamily="34" charset="0"/>
              </a:rPr>
              <a:t>Propor outro uso, eliminar e reorganizar.</a:t>
            </a:r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AC0696EB-C84D-14E7-B25A-322BF5E0D119}"/>
              </a:ext>
            </a:extLst>
          </p:cNvPr>
          <p:cNvSpPr/>
          <p:nvPr/>
        </p:nvSpPr>
        <p:spPr>
          <a:xfrm>
            <a:off x="609600" y="6426200"/>
            <a:ext cx="10972800" cy="12700"/>
          </a:xfrm>
          <a:prstGeom prst="rect">
            <a:avLst/>
          </a:prstGeom>
          <a:solidFill>
            <a:srgbClr val="E2DFE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071B9CC6-AF20-616F-EB2D-C78AF42B16BA}"/>
              </a:ext>
            </a:extLst>
          </p:cNvPr>
          <p:cNvSpPr txBox="1"/>
          <p:nvPr/>
        </p:nvSpPr>
        <p:spPr>
          <a:xfrm>
            <a:off x="609600" y="6553200"/>
            <a:ext cx="9652000" cy="12311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800">
                <a:solidFill>
                  <a:srgbClr val="9690A5"/>
                </a:solidFill>
                <a:latin typeface="Aptos" panose="020B0004020202020204" pitchFamily="34" charset="0"/>
              </a:rPr>
              <a:t>Fonte: Etapa 4 · P, E e R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96F64241-9BF4-954A-BB43-1690B3CE177B}"/>
              </a:ext>
            </a:extLst>
          </p:cNvPr>
          <p:cNvSpPr txBox="1"/>
          <p:nvPr/>
        </p:nvSpPr>
        <p:spPr>
          <a:xfrm>
            <a:off x="10896600" y="6515100"/>
            <a:ext cx="7493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1000" b="1">
                <a:solidFill>
                  <a:srgbClr val="7660D3"/>
                </a:solidFill>
                <a:latin typeface="Aptos" panose="020B0004020202020204" pitchFamily="34" charset="0"/>
              </a:rPr>
              <a:t>18 / 40</a:t>
            </a:r>
          </a:p>
        </p:txBody>
      </p:sp>
      <p:sp>
        <p:nvSpPr>
          <p:cNvPr id="9" name="Retângulo: Cantos Arredondados 8">
            <a:extLst>
              <a:ext uri="{FF2B5EF4-FFF2-40B4-BE49-F238E27FC236}">
                <a16:creationId xmlns:a16="http://schemas.microsoft.com/office/drawing/2014/main" id="{FA9287AC-E607-A69C-ED75-7217901A1174}"/>
              </a:ext>
            </a:extLst>
          </p:cNvPr>
          <p:cNvSpPr/>
          <p:nvPr/>
        </p:nvSpPr>
        <p:spPr>
          <a:xfrm>
            <a:off x="609600" y="2476500"/>
            <a:ext cx="3522133" cy="3759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D3ABAC1F-3B7C-FC98-ADDA-DE5C51FCDA7B}"/>
              </a:ext>
            </a:extLst>
          </p:cNvPr>
          <p:cNvSpPr txBox="1"/>
          <p:nvPr/>
        </p:nvSpPr>
        <p:spPr>
          <a:xfrm>
            <a:off x="838200" y="2717800"/>
            <a:ext cx="3064933" cy="2923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1900" b="1">
                <a:solidFill>
                  <a:srgbClr val="6550B5"/>
                </a:solidFill>
                <a:latin typeface="Aptos" panose="020B0004020202020204" pitchFamily="34" charset="0"/>
              </a:rPr>
              <a:t>P · Propor outro uso</a:t>
            </a:r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BEC78C21-1CEB-7A2B-FD1C-69A425E647D2}"/>
              </a:ext>
            </a:extLst>
          </p:cNvPr>
          <p:cNvSpPr txBox="1"/>
          <p:nvPr/>
        </p:nvSpPr>
        <p:spPr>
          <a:xfrm>
            <a:off x="838200" y="3390900"/>
            <a:ext cx="3064933" cy="98488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1600">
                <a:solidFill>
                  <a:srgbClr val="626A80"/>
                </a:solidFill>
                <a:latin typeface="Aptos" panose="020B0004020202020204" pitchFamily="34" charset="0"/>
              </a:rPr>
              <a:t>Revisão de conteúdo, preparação para avaliações e projetos em grupo; adaptação futura a outros cursos.</a:t>
            </a:r>
          </a:p>
        </p:txBody>
      </p:sp>
      <p:sp>
        <p:nvSpPr>
          <p:cNvPr id="12" name="Retângulo: Cantos Arredondados 11">
            <a:extLst>
              <a:ext uri="{FF2B5EF4-FFF2-40B4-BE49-F238E27FC236}">
                <a16:creationId xmlns:a16="http://schemas.microsoft.com/office/drawing/2014/main" id="{E7ED5277-0297-C55B-D20D-C99D63A6B831}"/>
              </a:ext>
            </a:extLst>
          </p:cNvPr>
          <p:cNvSpPr/>
          <p:nvPr/>
        </p:nvSpPr>
        <p:spPr>
          <a:xfrm>
            <a:off x="4334933" y="2476500"/>
            <a:ext cx="3522134" cy="3759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E3859273-5367-5818-0D38-55811907774B}"/>
              </a:ext>
            </a:extLst>
          </p:cNvPr>
          <p:cNvSpPr txBox="1"/>
          <p:nvPr/>
        </p:nvSpPr>
        <p:spPr>
          <a:xfrm>
            <a:off x="4563533" y="2717800"/>
            <a:ext cx="3064933" cy="2923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1900" b="1">
                <a:solidFill>
                  <a:srgbClr val="6550B5"/>
                </a:solidFill>
                <a:latin typeface="Aptos" panose="020B0004020202020204" pitchFamily="34" charset="0"/>
              </a:rPr>
              <a:t>E · Eliminar</a:t>
            </a:r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72D8E0AB-FD06-2679-0E48-6740811F9A4A}"/>
              </a:ext>
            </a:extLst>
          </p:cNvPr>
          <p:cNvSpPr txBox="1"/>
          <p:nvPr/>
        </p:nvSpPr>
        <p:spPr>
          <a:xfrm>
            <a:off x="4563533" y="3390900"/>
            <a:ext cx="3064933" cy="73866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1600">
                <a:solidFill>
                  <a:srgbClr val="626A80"/>
                </a:solidFill>
                <a:latin typeface="Aptos" panose="020B0004020202020204" pitchFamily="34" charset="0"/>
              </a:rPr>
              <a:t>Reduzir telas, cadastros e notificações redundantes. Evitar repetir dados da mesma atividade.</a:t>
            </a:r>
          </a:p>
        </p:txBody>
      </p:sp>
      <p:sp>
        <p:nvSpPr>
          <p:cNvPr id="15" name="Retângulo: Cantos Arredondados 14">
            <a:extLst>
              <a:ext uri="{FF2B5EF4-FFF2-40B4-BE49-F238E27FC236}">
                <a16:creationId xmlns:a16="http://schemas.microsoft.com/office/drawing/2014/main" id="{F9913DD5-45E9-09FF-CAAF-5F27E7728C62}"/>
              </a:ext>
            </a:extLst>
          </p:cNvPr>
          <p:cNvSpPr/>
          <p:nvPr/>
        </p:nvSpPr>
        <p:spPr>
          <a:xfrm>
            <a:off x="8060267" y="2476500"/>
            <a:ext cx="3522133" cy="3759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6" name="CaixaDeTexto 15">
            <a:extLst>
              <a:ext uri="{FF2B5EF4-FFF2-40B4-BE49-F238E27FC236}">
                <a16:creationId xmlns:a16="http://schemas.microsoft.com/office/drawing/2014/main" id="{23C26016-6588-E412-2552-1BB7093CB6CC}"/>
              </a:ext>
            </a:extLst>
          </p:cNvPr>
          <p:cNvSpPr txBox="1"/>
          <p:nvPr/>
        </p:nvSpPr>
        <p:spPr>
          <a:xfrm>
            <a:off x="8288867" y="2717800"/>
            <a:ext cx="3064933" cy="2923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1900" b="1">
                <a:solidFill>
                  <a:srgbClr val="6550B5"/>
                </a:solidFill>
                <a:latin typeface="Aptos" panose="020B0004020202020204" pitchFamily="34" charset="0"/>
              </a:rPr>
              <a:t>R · Reorganizar</a:t>
            </a:r>
          </a:p>
        </p:txBody>
      </p:sp>
      <p:sp>
        <p:nvSpPr>
          <p:cNvPr id="17" name="CaixaDeTexto 16">
            <a:extLst>
              <a:ext uri="{FF2B5EF4-FFF2-40B4-BE49-F238E27FC236}">
                <a16:creationId xmlns:a16="http://schemas.microsoft.com/office/drawing/2014/main" id="{13258507-8AA2-34BC-1061-D02E7611F998}"/>
              </a:ext>
            </a:extLst>
          </p:cNvPr>
          <p:cNvSpPr txBox="1"/>
          <p:nvPr/>
        </p:nvSpPr>
        <p:spPr>
          <a:xfrm>
            <a:off x="8288867" y="3390900"/>
            <a:ext cx="3064933" cy="73866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1600">
                <a:solidFill>
                  <a:srgbClr val="626A80"/>
                </a:solidFill>
                <a:latin typeface="Aptos" panose="020B0004020202020204" pitchFamily="34" charset="0"/>
              </a:rPr>
              <a:t>Primeiro o que merece atenção hoje. Depois detalhes, calendário e recursos complementares.</a:t>
            </a:r>
          </a:p>
        </p:txBody>
      </p:sp>
    </p:spTree>
    <p:extLst>
      <p:ext uri="{BB962C8B-B14F-4D97-AF65-F5344CB8AC3E}">
        <p14:creationId xmlns:p14="http://schemas.microsoft.com/office/powerpoint/2010/main" val="245112815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5AECE2E3-80E2-AF75-7AB1-1170BD8EDDB2}"/>
              </a:ext>
            </a:extLst>
          </p:cNvPr>
          <p:cNvSpPr/>
          <p:nvPr/>
        </p:nvSpPr>
        <p:spPr>
          <a:xfrm>
            <a:off x="609600" y="406400"/>
            <a:ext cx="63500" cy="254000"/>
          </a:xfrm>
          <a:prstGeom prst="rect">
            <a:avLst/>
          </a:prstGeom>
          <a:solidFill>
            <a:srgbClr val="7660D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957854D9-BD5D-5AAD-B9C1-75E42CC49611}"/>
              </a:ext>
            </a:extLst>
          </p:cNvPr>
          <p:cNvSpPr txBox="1"/>
          <p:nvPr/>
        </p:nvSpPr>
        <p:spPr>
          <a:xfrm>
            <a:off x="812800" y="431800"/>
            <a:ext cx="102235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1000" b="1">
                <a:solidFill>
                  <a:srgbClr val="7660D3"/>
                </a:solidFill>
                <a:latin typeface="Aptos" panose="020B0004020202020204" pitchFamily="34" charset="0"/>
              </a:rPr>
              <a:t>ETAPA 5 · E SE…? · CONTEXTO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89372F61-9261-058F-826F-115901B8BE77}"/>
              </a:ext>
            </a:extLst>
          </p:cNvPr>
          <p:cNvSpPr txBox="1"/>
          <p:nvPr/>
        </p:nvSpPr>
        <p:spPr>
          <a:xfrm>
            <a:off x="609600" y="889000"/>
            <a:ext cx="10985500" cy="44627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2900" b="1">
                <a:solidFill>
                  <a:srgbClr val="273047"/>
                </a:solidFill>
                <a:latin typeface="Aptos" panose="020B0004020202020204" pitchFamily="34" charset="0"/>
              </a:rPr>
              <a:t>A proposta precisa responder a situações reais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1FFA6ED7-4A57-6DCC-7F55-87A8A8F23DEA}"/>
              </a:ext>
            </a:extLst>
          </p:cNvPr>
          <p:cNvSpPr txBox="1"/>
          <p:nvPr/>
        </p:nvSpPr>
        <p:spPr>
          <a:xfrm>
            <a:off x="609600" y="1816100"/>
            <a:ext cx="10998200" cy="2000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1300">
                <a:solidFill>
                  <a:srgbClr val="7B7F93"/>
                </a:solidFill>
                <a:latin typeface="Aptos" panose="020B0004020202020204" pitchFamily="34" charset="0"/>
              </a:rPr>
              <a:t>Notificações, apoio inteligente e colaboração.</a:t>
            </a:r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D3FC7132-7E3B-F077-34B7-15B05E9D54F1}"/>
              </a:ext>
            </a:extLst>
          </p:cNvPr>
          <p:cNvSpPr/>
          <p:nvPr/>
        </p:nvSpPr>
        <p:spPr>
          <a:xfrm>
            <a:off x="609600" y="6426200"/>
            <a:ext cx="10972800" cy="12700"/>
          </a:xfrm>
          <a:prstGeom prst="rect">
            <a:avLst/>
          </a:prstGeom>
          <a:solidFill>
            <a:srgbClr val="E2DFE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FF3915ED-A9FD-4403-E2B8-BF95DBF8C495}"/>
              </a:ext>
            </a:extLst>
          </p:cNvPr>
          <p:cNvSpPr txBox="1"/>
          <p:nvPr/>
        </p:nvSpPr>
        <p:spPr>
          <a:xfrm>
            <a:off x="609600" y="6553200"/>
            <a:ext cx="9652000" cy="12311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800">
                <a:solidFill>
                  <a:srgbClr val="9690A5"/>
                </a:solidFill>
                <a:latin typeface="Aptos" panose="020B0004020202020204" pitchFamily="34" charset="0"/>
              </a:rPr>
              <a:t>Fonte: Etapa 5 · Cenários iniciais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08FD1C28-B122-35CE-D2AF-335CBB466234}"/>
              </a:ext>
            </a:extLst>
          </p:cNvPr>
          <p:cNvSpPr txBox="1"/>
          <p:nvPr/>
        </p:nvSpPr>
        <p:spPr>
          <a:xfrm>
            <a:off x="10896600" y="6515100"/>
            <a:ext cx="7493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1000" b="1">
                <a:solidFill>
                  <a:srgbClr val="7660D3"/>
                </a:solidFill>
                <a:latin typeface="Aptos" panose="020B0004020202020204" pitchFamily="34" charset="0"/>
              </a:rPr>
              <a:t>19 / 40</a:t>
            </a:r>
          </a:p>
        </p:txBody>
      </p:sp>
      <p:sp>
        <p:nvSpPr>
          <p:cNvPr id="9" name="Retângulo: Cantos Arredondados 8">
            <a:extLst>
              <a:ext uri="{FF2B5EF4-FFF2-40B4-BE49-F238E27FC236}">
                <a16:creationId xmlns:a16="http://schemas.microsoft.com/office/drawing/2014/main" id="{EC10C9B4-A306-A5FE-901A-7BC64BEC099C}"/>
              </a:ext>
            </a:extLst>
          </p:cNvPr>
          <p:cNvSpPr/>
          <p:nvPr/>
        </p:nvSpPr>
        <p:spPr>
          <a:xfrm>
            <a:off x="609600" y="2476500"/>
            <a:ext cx="3522133" cy="3759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A3914897-391B-E9E3-3207-604EA67FB332}"/>
              </a:ext>
            </a:extLst>
          </p:cNvPr>
          <p:cNvSpPr txBox="1"/>
          <p:nvPr/>
        </p:nvSpPr>
        <p:spPr>
          <a:xfrm>
            <a:off x="838200" y="2717800"/>
            <a:ext cx="3064933" cy="2923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1900" b="1">
                <a:solidFill>
                  <a:srgbClr val="6550B5"/>
                </a:solidFill>
                <a:latin typeface="Aptos" panose="020B0004020202020204" pitchFamily="34" charset="0"/>
              </a:rPr>
              <a:t>Sem notificações?</a:t>
            </a:r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127B01A2-C819-9B8E-A6C1-FA531A14CD14}"/>
              </a:ext>
            </a:extLst>
          </p:cNvPr>
          <p:cNvSpPr txBox="1"/>
          <p:nvPr/>
        </p:nvSpPr>
        <p:spPr>
          <a:xfrm>
            <a:off x="838200" y="3390900"/>
            <a:ext cx="3064933" cy="98488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1600">
                <a:solidFill>
                  <a:srgbClr val="626A80"/>
                </a:solidFill>
                <a:latin typeface="Aptos" panose="020B0004020202020204" pitchFamily="34" charset="0"/>
              </a:rPr>
              <a:t>Prioridades seguem no painel. Notificações do dispositivo dependem de permissões e integração futura.</a:t>
            </a:r>
          </a:p>
        </p:txBody>
      </p:sp>
      <p:sp>
        <p:nvSpPr>
          <p:cNvPr id="12" name="Retângulo: Cantos Arredondados 11">
            <a:extLst>
              <a:ext uri="{FF2B5EF4-FFF2-40B4-BE49-F238E27FC236}">
                <a16:creationId xmlns:a16="http://schemas.microsoft.com/office/drawing/2014/main" id="{E2235AE5-4DF4-A198-AFCD-28ED5545C8F5}"/>
              </a:ext>
            </a:extLst>
          </p:cNvPr>
          <p:cNvSpPr/>
          <p:nvPr/>
        </p:nvSpPr>
        <p:spPr>
          <a:xfrm>
            <a:off x="4334933" y="2476500"/>
            <a:ext cx="3522134" cy="3759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06B97EDF-7AA2-04F4-29AD-A28F7C856AFE}"/>
              </a:ext>
            </a:extLst>
          </p:cNvPr>
          <p:cNvSpPr txBox="1"/>
          <p:nvPr/>
        </p:nvSpPr>
        <p:spPr>
          <a:xfrm>
            <a:off x="4563533" y="2717800"/>
            <a:ext cx="3064933" cy="2923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1900" b="1">
                <a:solidFill>
                  <a:srgbClr val="6550B5"/>
                </a:solidFill>
                <a:latin typeface="Aptos" panose="020B0004020202020204" pitchFamily="34" charset="0"/>
              </a:rPr>
              <a:t>Aprender com o usuário?</a:t>
            </a:r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D2FFC97F-09A3-D593-2DE3-1A3D58EF0F4D}"/>
              </a:ext>
            </a:extLst>
          </p:cNvPr>
          <p:cNvSpPr txBox="1"/>
          <p:nvPr/>
        </p:nvSpPr>
        <p:spPr>
          <a:xfrm>
            <a:off x="4563533" y="3390900"/>
            <a:ext cx="3064933" cy="98488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1600">
                <a:solidFill>
                  <a:srgbClr val="626A80"/>
                </a:solidFill>
                <a:latin typeface="Aptos" panose="020B0004020202020204" pitchFamily="34" charset="0"/>
              </a:rPr>
              <a:t>Hoje: regras transparentes. Aprendizado de máquina exige consentimento, privacidade e validação.</a:t>
            </a:r>
          </a:p>
        </p:txBody>
      </p:sp>
      <p:sp>
        <p:nvSpPr>
          <p:cNvPr id="15" name="Retângulo: Cantos Arredondados 14">
            <a:extLst>
              <a:ext uri="{FF2B5EF4-FFF2-40B4-BE49-F238E27FC236}">
                <a16:creationId xmlns:a16="http://schemas.microsoft.com/office/drawing/2014/main" id="{21FF6ED2-15C0-D7D8-78A4-79BEFCBB0D7A}"/>
              </a:ext>
            </a:extLst>
          </p:cNvPr>
          <p:cNvSpPr/>
          <p:nvPr/>
        </p:nvSpPr>
        <p:spPr>
          <a:xfrm>
            <a:off x="8060267" y="2476500"/>
            <a:ext cx="3522133" cy="3759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6" name="CaixaDeTexto 15">
            <a:extLst>
              <a:ext uri="{FF2B5EF4-FFF2-40B4-BE49-F238E27FC236}">
                <a16:creationId xmlns:a16="http://schemas.microsoft.com/office/drawing/2014/main" id="{FEC12182-AA8A-9615-940D-609704E6844B}"/>
              </a:ext>
            </a:extLst>
          </p:cNvPr>
          <p:cNvSpPr txBox="1"/>
          <p:nvPr/>
        </p:nvSpPr>
        <p:spPr>
          <a:xfrm>
            <a:off x="8288867" y="2717800"/>
            <a:ext cx="3064933" cy="2923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1900" b="1">
                <a:solidFill>
                  <a:srgbClr val="6550B5"/>
                </a:solidFill>
                <a:latin typeface="Aptos" panose="020B0004020202020204" pitchFamily="34" charset="0"/>
              </a:rPr>
              <a:t>Dois alunos colaborando?</a:t>
            </a:r>
          </a:p>
        </p:txBody>
      </p:sp>
      <p:sp>
        <p:nvSpPr>
          <p:cNvPr id="17" name="CaixaDeTexto 16">
            <a:extLst>
              <a:ext uri="{FF2B5EF4-FFF2-40B4-BE49-F238E27FC236}">
                <a16:creationId xmlns:a16="http://schemas.microsoft.com/office/drawing/2014/main" id="{20BC77D3-1982-72FB-0749-5C50DF323B02}"/>
              </a:ext>
            </a:extLst>
          </p:cNvPr>
          <p:cNvSpPr txBox="1"/>
          <p:nvPr/>
        </p:nvSpPr>
        <p:spPr>
          <a:xfrm>
            <a:off x="8288867" y="3390900"/>
            <a:ext cx="3064933" cy="98488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1600">
                <a:solidFill>
                  <a:srgbClr val="626A80"/>
                </a:solidFill>
                <a:latin typeface="Aptos" panose="020B0004020202020204" pitchFamily="34" charset="0"/>
              </a:rPr>
              <a:t>Hoje: comunidade no mesmo navegador. Comunicação entre dispositivos exige backend e moderação.</a:t>
            </a:r>
          </a:p>
        </p:txBody>
      </p:sp>
    </p:spTree>
    <p:extLst>
      <p:ext uri="{BB962C8B-B14F-4D97-AF65-F5344CB8AC3E}">
        <p14:creationId xmlns:p14="http://schemas.microsoft.com/office/powerpoint/2010/main" val="205381185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EC3D6859-2C02-F354-E90B-2551E29F4CEA}"/>
              </a:ext>
            </a:extLst>
          </p:cNvPr>
          <p:cNvSpPr/>
          <p:nvPr/>
        </p:nvSpPr>
        <p:spPr>
          <a:xfrm>
            <a:off x="609600" y="406400"/>
            <a:ext cx="63500" cy="254000"/>
          </a:xfrm>
          <a:prstGeom prst="rect">
            <a:avLst/>
          </a:prstGeom>
          <a:solidFill>
            <a:srgbClr val="7660D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0848F6E1-A47C-E2A9-3F13-6B55514741AE}"/>
              </a:ext>
            </a:extLst>
          </p:cNvPr>
          <p:cNvSpPr txBox="1"/>
          <p:nvPr/>
        </p:nvSpPr>
        <p:spPr>
          <a:xfrm>
            <a:off x="812800" y="431800"/>
            <a:ext cx="102235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1000" b="1">
                <a:solidFill>
                  <a:srgbClr val="7660D3"/>
                </a:solidFill>
                <a:latin typeface="Aptos" panose="020B0004020202020204" pitchFamily="34" charset="0"/>
              </a:rPr>
              <a:t>ETAPA 5 · E SE…? · ROTINA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C209EFD7-7672-91C7-433C-B891B545FF1E}"/>
              </a:ext>
            </a:extLst>
          </p:cNvPr>
          <p:cNvSpPr txBox="1"/>
          <p:nvPr/>
        </p:nvSpPr>
        <p:spPr>
          <a:xfrm>
            <a:off x="609600" y="889000"/>
            <a:ext cx="10985500" cy="44627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2900" b="1">
                <a:solidFill>
                  <a:srgbClr val="273047"/>
                </a:solidFill>
                <a:latin typeface="Aptos" panose="020B0004020202020204" pitchFamily="34" charset="0"/>
              </a:rPr>
              <a:t>Ajudar a retomar, sem culpabilizar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0427BE4F-F603-72A8-C076-44CF8D444013}"/>
              </a:ext>
            </a:extLst>
          </p:cNvPr>
          <p:cNvSpPr txBox="1"/>
          <p:nvPr/>
        </p:nvSpPr>
        <p:spPr>
          <a:xfrm>
            <a:off x="609600" y="1816100"/>
            <a:ext cx="10998200" cy="2000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1300">
                <a:solidFill>
                  <a:srgbClr val="7B7F93"/>
                </a:solidFill>
                <a:latin typeface="Aptos" panose="020B0004020202020204" pitchFamily="34" charset="0"/>
              </a:rPr>
              <a:t>Acúmulo, mudança de prazo, indecisão e acessibilidade.</a:t>
            </a:r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CCB5B5F1-0224-17F3-8C56-706CEDAA237C}"/>
              </a:ext>
            </a:extLst>
          </p:cNvPr>
          <p:cNvSpPr/>
          <p:nvPr/>
        </p:nvSpPr>
        <p:spPr>
          <a:xfrm>
            <a:off x="609600" y="6426200"/>
            <a:ext cx="10972800" cy="12700"/>
          </a:xfrm>
          <a:prstGeom prst="rect">
            <a:avLst/>
          </a:prstGeom>
          <a:solidFill>
            <a:srgbClr val="E2DFE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EA5B3E10-A7A8-BCB9-AE65-BB5AC2B2EA9A}"/>
              </a:ext>
            </a:extLst>
          </p:cNvPr>
          <p:cNvSpPr txBox="1"/>
          <p:nvPr/>
        </p:nvSpPr>
        <p:spPr>
          <a:xfrm>
            <a:off x="609600" y="6553200"/>
            <a:ext cx="9652000" cy="12311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800">
                <a:solidFill>
                  <a:srgbClr val="9690A5"/>
                </a:solidFill>
                <a:latin typeface="Aptos" panose="020B0004020202020204" pitchFamily="34" charset="0"/>
              </a:rPr>
              <a:t>Fonte: Etapa 5 · Novos cenários propostos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22EF6CFF-3544-2B51-806B-2B48192EDCCF}"/>
              </a:ext>
            </a:extLst>
          </p:cNvPr>
          <p:cNvSpPr txBox="1"/>
          <p:nvPr/>
        </p:nvSpPr>
        <p:spPr>
          <a:xfrm>
            <a:off x="10896600" y="6515100"/>
            <a:ext cx="7493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1000" b="1">
                <a:solidFill>
                  <a:srgbClr val="7660D3"/>
                </a:solidFill>
                <a:latin typeface="Aptos" panose="020B0004020202020204" pitchFamily="34" charset="0"/>
              </a:rPr>
              <a:t>20 / 40</a:t>
            </a:r>
          </a:p>
        </p:txBody>
      </p:sp>
      <p:sp>
        <p:nvSpPr>
          <p:cNvPr id="9" name="Retângulo: Cantos Arredondados 8">
            <a:extLst>
              <a:ext uri="{FF2B5EF4-FFF2-40B4-BE49-F238E27FC236}">
                <a16:creationId xmlns:a16="http://schemas.microsoft.com/office/drawing/2014/main" id="{59F32FDE-3A78-06C1-3672-69A873A9597F}"/>
              </a:ext>
            </a:extLst>
          </p:cNvPr>
          <p:cNvSpPr/>
          <p:nvPr/>
        </p:nvSpPr>
        <p:spPr>
          <a:xfrm>
            <a:off x="609600" y="2476500"/>
            <a:ext cx="5384800" cy="1778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2BD8F202-08E3-AF12-5691-17DAB62B2BE0}"/>
              </a:ext>
            </a:extLst>
          </p:cNvPr>
          <p:cNvSpPr txBox="1"/>
          <p:nvPr/>
        </p:nvSpPr>
        <p:spPr>
          <a:xfrm>
            <a:off x="838200" y="2717800"/>
            <a:ext cx="4927600" cy="2616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1700" b="1">
                <a:solidFill>
                  <a:srgbClr val="6550B5"/>
                </a:solidFill>
                <a:latin typeface="Aptos" panose="020B0004020202020204" pitchFamily="34" charset="0"/>
              </a:rPr>
              <a:t>Cinco tarefas acumuladas?</a:t>
            </a:r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B8B64D76-D3CE-508E-ED06-32028590B291}"/>
              </a:ext>
            </a:extLst>
          </p:cNvPr>
          <p:cNvSpPr txBox="1"/>
          <p:nvPr/>
        </p:nvSpPr>
        <p:spPr>
          <a:xfrm>
            <a:off x="838200" y="3390900"/>
            <a:ext cx="4927600" cy="43088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1400">
                <a:solidFill>
                  <a:srgbClr val="626A80"/>
                </a:solidFill>
                <a:latin typeface="Aptos" panose="020B0004020202020204" pitchFamily="34" charset="0"/>
              </a:rPr>
              <a:t>Plano de recuperação por prioridade e esforço, com dias de estudo ajustáveis.</a:t>
            </a:r>
          </a:p>
        </p:txBody>
      </p:sp>
      <p:sp>
        <p:nvSpPr>
          <p:cNvPr id="12" name="Retângulo: Cantos Arredondados 11">
            <a:extLst>
              <a:ext uri="{FF2B5EF4-FFF2-40B4-BE49-F238E27FC236}">
                <a16:creationId xmlns:a16="http://schemas.microsoft.com/office/drawing/2014/main" id="{0E983DB1-6D95-9FE4-12CC-8F131DC94F11}"/>
              </a:ext>
            </a:extLst>
          </p:cNvPr>
          <p:cNvSpPr/>
          <p:nvPr/>
        </p:nvSpPr>
        <p:spPr>
          <a:xfrm>
            <a:off x="6197600" y="2476500"/>
            <a:ext cx="5384800" cy="1778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F48426CC-72E7-05BD-368D-13822BB456FA}"/>
              </a:ext>
            </a:extLst>
          </p:cNvPr>
          <p:cNvSpPr txBox="1"/>
          <p:nvPr/>
        </p:nvSpPr>
        <p:spPr>
          <a:xfrm>
            <a:off x="6426200" y="2717800"/>
            <a:ext cx="4927600" cy="2616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1700" b="1">
                <a:solidFill>
                  <a:srgbClr val="6550B5"/>
                </a:solidFill>
                <a:latin typeface="Aptos" panose="020B0004020202020204" pitchFamily="34" charset="0"/>
              </a:rPr>
              <a:t>Prazo muda offline?</a:t>
            </a:r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DB432F31-5578-3CD0-F6BD-10D7F83BF058}"/>
              </a:ext>
            </a:extLst>
          </p:cNvPr>
          <p:cNvSpPr txBox="1"/>
          <p:nvPr/>
        </p:nvSpPr>
        <p:spPr>
          <a:xfrm>
            <a:off x="6426200" y="3390900"/>
            <a:ext cx="4927600" cy="43088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1400">
                <a:solidFill>
                  <a:srgbClr val="626A80"/>
                </a:solidFill>
                <a:latin typeface="Aptos" panose="020B0004020202020204" pitchFamily="34" charset="0"/>
              </a:rPr>
              <a:t>No protótipo, alteração compartilhada localmente. Na versão remota, reconciliar versões ao sincronizar.</a:t>
            </a:r>
          </a:p>
        </p:txBody>
      </p:sp>
      <p:sp>
        <p:nvSpPr>
          <p:cNvPr id="15" name="Retângulo: Cantos Arredondados 14">
            <a:extLst>
              <a:ext uri="{FF2B5EF4-FFF2-40B4-BE49-F238E27FC236}">
                <a16:creationId xmlns:a16="http://schemas.microsoft.com/office/drawing/2014/main" id="{740871FF-703F-1072-6EFD-FCD964EF10EF}"/>
              </a:ext>
            </a:extLst>
          </p:cNvPr>
          <p:cNvSpPr/>
          <p:nvPr/>
        </p:nvSpPr>
        <p:spPr>
          <a:xfrm>
            <a:off x="609600" y="4457700"/>
            <a:ext cx="5384800" cy="1778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6" name="CaixaDeTexto 15">
            <a:extLst>
              <a:ext uri="{FF2B5EF4-FFF2-40B4-BE49-F238E27FC236}">
                <a16:creationId xmlns:a16="http://schemas.microsoft.com/office/drawing/2014/main" id="{6B227A52-6ECB-F88B-59D1-0D2480A454BF}"/>
              </a:ext>
            </a:extLst>
          </p:cNvPr>
          <p:cNvSpPr txBox="1"/>
          <p:nvPr/>
        </p:nvSpPr>
        <p:spPr>
          <a:xfrm>
            <a:off x="838200" y="4699000"/>
            <a:ext cx="4927600" cy="2616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1700" b="1">
                <a:solidFill>
                  <a:srgbClr val="6550B5"/>
                </a:solidFill>
                <a:latin typeface="Aptos" panose="020B0004020202020204" pitchFamily="34" charset="0"/>
              </a:rPr>
              <a:t>Não sabe começar?</a:t>
            </a:r>
          </a:p>
        </p:txBody>
      </p:sp>
      <p:sp>
        <p:nvSpPr>
          <p:cNvPr id="17" name="CaixaDeTexto 16">
            <a:extLst>
              <a:ext uri="{FF2B5EF4-FFF2-40B4-BE49-F238E27FC236}">
                <a16:creationId xmlns:a16="http://schemas.microsoft.com/office/drawing/2014/main" id="{EE81DF23-11D8-8E6A-CD21-8C57611CF1D6}"/>
              </a:ext>
            </a:extLst>
          </p:cNvPr>
          <p:cNvSpPr txBox="1"/>
          <p:nvPr/>
        </p:nvSpPr>
        <p:spPr>
          <a:xfrm>
            <a:off x="838200" y="5372100"/>
            <a:ext cx="4927600" cy="43088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1400">
                <a:solidFill>
                  <a:srgbClr val="626A80"/>
                </a:solidFill>
                <a:latin typeface="Aptos" panose="020B0004020202020204" pitchFamily="34" charset="0"/>
              </a:rPr>
              <a:t>Meu próximo passo sugere uma ação pequena e concreta com tempo estimado.</a:t>
            </a:r>
          </a:p>
        </p:txBody>
      </p:sp>
      <p:sp>
        <p:nvSpPr>
          <p:cNvPr id="18" name="Retângulo: Cantos Arredondados 17">
            <a:extLst>
              <a:ext uri="{FF2B5EF4-FFF2-40B4-BE49-F238E27FC236}">
                <a16:creationId xmlns:a16="http://schemas.microsoft.com/office/drawing/2014/main" id="{18719113-B803-6C08-19FE-A50276EBDBB7}"/>
              </a:ext>
            </a:extLst>
          </p:cNvPr>
          <p:cNvSpPr/>
          <p:nvPr/>
        </p:nvSpPr>
        <p:spPr>
          <a:xfrm>
            <a:off x="6197600" y="4457700"/>
            <a:ext cx="5384800" cy="1778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9" name="CaixaDeTexto 18">
            <a:extLst>
              <a:ext uri="{FF2B5EF4-FFF2-40B4-BE49-F238E27FC236}">
                <a16:creationId xmlns:a16="http://schemas.microsoft.com/office/drawing/2014/main" id="{FACCBE37-07BB-F33B-FFB4-9903AD3A0D5C}"/>
              </a:ext>
            </a:extLst>
          </p:cNvPr>
          <p:cNvSpPr txBox="1"/>
          <p:nvPr/>
        </p:nvSpPr>
        <p:spPr>
          <a:xfrm>
            <a:off x="6426200" y="4699000"/>
            <a:ext cx="4927600" cy="2616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1700" b="1">
                <a:solidFill>
                  <a:srgbClr val="6550B5"/>
                </a:solidFill>
                <a:latin typeface="Aptos" panose="020B0004020202020204" pitchFamily="34" charset="0"/>
              </a:rPr>
              <a:t>Precisa de acessibilidade?</a:t>
            </a:r>
          </a:p>
        </p:txBody>
      </p:sp>
      <p:sp>
        <p:nvSpPr>
          <p:cNvPr id="20" name="CaixaDeTexto 19">
            <a:extLst>
              <a:ext uri="{FF2B5EF4-FFF2-40B4-BE49-F238E27FC236}">
                <a16:creationId xmlns:a16="http://schemas.microsoft.com/office/drawing/2014/main" id="{D7A1F673-FF10-B3AE-9706-CC440633F330}"/>
              </a:ext>
            </a:extLst>
          </p:cNvPr>
          <p:cNvSpPr txBox="1"/>
          <p:nvPr/>
        </p:nvSpPr>
        <p:spPr>
          <a:xfrm>
            <a:off x="6426200" y="5372100"/>
            <a:ext cx="4927600" cy="43088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1400">
                <a:solidFill>
                  <a:srgbClr val="626A80"/>
                </a:solidFill>
                <a:latin typeface="Aptos" panose="020B0004020202020204" pitchFamily="34" charset="0"/>
              </a:rPr>
              <a:t>Teclado, foco, textos claros, contraste, tamanho de fonte e movimento reduzido.</a:t>
            </a:r>
          </a:p>
        </p:txBody>
      </p:sp>
    </p:spTree>
    <p:extLst>
      <p:ext uri="{BB962C8B-B14F-4D97-AF65-F5344CB8AC3E}">
        <p14:creationId xmlns:p14="http://schemas.microsoft.com/office/powerpoint/2010/main" val="319786935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332918F5-C001-1245-6F88-BEDD92C341D1}"/>
              </a:ext>
            </a:extLst>
          </p:cNvPr>
          <p:cNvSpPr/>
          <p:nvPr/>
        </p:nvSpPr>
        <p:spPr>
          <a:xfrm>
            <a:off x="609600" y="406400"/>
            <a:ext cx="63500" cy="254000"/>
          </a:xfrm>
          <a:prstGeom prst="rect">
            <a:avLst/>
          </a:prstGeom>
          <a:solidFill>
            <a:srgbClr val="7660D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D1A78795-3EC6-99C7-7B91-33123CBE4BA2}"/>
              </a:ext>
            </a:extLst>
          </p:cNvPr>
          <p:cNvSpPr txBox="1"/>
          <p:nvPr/>
        </p:nvSpPr>
        <p:spPr>
          <a:xfrm>
            <a:off x="812800" y="431800"/>
            <a:ext cx="102235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1000" b="1">
                <a:solidFill>
                  <a:srgbClr val="7660D3"/>
                </a:solidFill>
                <a:latin typeface="Aptos" panose="020B0004020202020204" pitchFamily="34" charset="0"/>
              </a:rPr>
              <a:t>ETAPA 6 · JORNADA PRINCIPAL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B27B87C6-BE99-A8E6-6C99-8700D22A1DD3}"/>
              </a:ext>
            </a:extLst>
          </p:cNvPr>
          <p:cNvSpPr txBox="1"/>
          <p:nvPr/>
        </p:nvSpPr>
        <p:spPr>
          <a:xfrm>
            <a:off x="609600" y="889000"/>
            <a:ext cx="10985500" cy="44627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2900" b="1">
                <a:solidFill>
                  <a:srgbClr val="273047"/>
                </a:solidFill>
                <a:latin typeface="Aptos" panose="020B0004020202020204" pitchFamily="34" charset="0"/>
              </a:rPr>
              <a:t>Professor publica. Aluno avança. A Trilha acompanha.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0C9D1C6C-7307-3D21-5746-C9C80C9B80BC}"/>
              </a:ext>
            </a:extLst>
          </p:cNvPr>
          <p:cNvSpPr txBox="1"/>
          <p:nvPr/>
        </p:nvSpPr>
        <p:spPr>
          <a:xfrm>
            <a:off x="609600" y="1816100"/>
            <a:ext cx="10998200" cy="2000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1300">
                <a:solidFill>
                  <a:srgbClr val="7B7F93"/>
                </a:solidFill>
                <a:latin typeface="Aptos" panose="020B0004020202020204" pitchFamily="34" charset="0"/>
              </a:rPr>
              <a:t>Uma sequência de ações com efeitos reais na mesma base local.</a:t>
            </a:r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96BB2E51-1C40-6799-E487-F08674013E16}"/>
              </a:ext>
            </a:extLst>
          </p:cNvPr>
          <p:cNvSpPr/>
          <p:nvPr/>
        </p:nvSpPr>
        <p:spPr>
          <a:xfrm>
            <a:off x="609600" y="6426200"/>
            <a:ext cx="10972800" cy="12700"/>
          </a:xfrm>
          <a:prstGeom prst="rect">
            <a:avLst/>
          </a:prstGeom>
          <a:solidFill>
            <a:srgbClr val="E2DFE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EA048989-4C14-3C48-F0D1-2C5123F196A0}"/>
              </a:ext>
            </a:extLst>
          </p:cNvPr>
          <p:cNvSpPr txBox="1"/>
          <p:nvPr/>
        </p:nvSpPr>
        <p:spPr>
          <a:xfrm>
            <a:off x="609600" y="6553200"/>
            <a:ext cx="9652000" cy="12311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800">
                <a:solidFill>
                  <a:srgbClr val="9690A5"/>
                </a:solidFill>
                <a:latin typeface="Aptos" panose="020B0004020202020204" pitchFamily="34" charset="0"/>
              </a:rPr>
              <a:t>Fonte: Etapa 6 · Funcionamento da jornada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1AF208D7-FCCC-7A1D-0AC3-96DAE3D276F0}"/>
              </a:ext>
            </a:extLst>
          </p:cNvPr>
          <p:cNvSpPr txBox="1"/>
          <p:nvPr/>
        </p:nvSpPr>
        <p:spPr>
          <a:xfrm>
            <a:off x="10896600" y="6515100"/>
            <a:ext cx="7493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1000" b="1">
                <a:solidFill>
                  <a:srgbClr val="7660D3"/>
                </a:solidFill>
                <a:latin typeface="Aptos" panose="020B0004020202020204" pitchFamily="34" charset="0"/>
              </a:rPr>
              <a:t>21 / 40</a:t>
            </a:r>
          </a:p>
        </p:txBody>
      </p:sp>
      <p:sp>
        <p:nvSpPr>
          <p:cNvPr id="9" name="Retângulo: Cantos Arredondados 8">
            <a:extLst>
              <a:ext uri="{FF2B5EF4-FFF2-40B4-BE49-F238E27FC236}">
                <a16:creationId xmlns:a16="http://schemas.microsoft.com/office/drawing/2014/main" id="{31C79701-EAB4-7C82-6720-EE2E29B95631}"/>
              </a:ext>
            </a:extLst>
          </p:cNvPr>
          <p:cNvSpPr/>
          <p:nvPr/>
        </p:nvSpPr>
        <p:spPr>
          <a:xfrm>
            <a:off x="609600" y="2476500"/>
            <a:ext cx="3522133" cy="1778000"/>
          </a:xfrm>
          <a:prstGeom prst="roundRect">
            <a:avLst>
              <a:gd name="adj" fmla="val 6000"/>
            </a:avLst>
          </a:prstGeom>
          <a:solidFill>
            <a:srgbClr val="EFEAF9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692A747A-DAAE-C97B-D0E2-7D586CB6321A}"/>
              </a:ext>
            </a:extLst>
          </p:cNvPr>
          <p:cNvSpPr txBox="1"/>
          <p:nvPr/>
        </p:nvSpPr>
        <p:spPr>
          <a:xfrm>
            <a:off x="838200" y="2717800"/>
            <a:ext cx="3064933" cy="2616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1700" b="1">
                <a:solidFill>
                  <a:srgbClr val="6550B5"/>
                </a:solidFill>
                <a:latin typeface="Aptos" panose="020B0004020202020204" pitchFamily="34" charset="0"/>
              </a:rPr>
              <a:t>01 · Publicar</a:t>
            </a:r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C6FC8404-8CD1-78CA-E783-EC4A1702A420}"/>
              </a:ext>
            </a:extLst>
          </p:cNvPr>
          <p:cNvSpPr txBox="1"/>
          <p:nvPr/>
        </p:nvSpPr>
        <p:spPr>
          <a:xfrm>
            <a:off x="838200" y="3390900"/>
            <a:ext cx="3064933" cy="43088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1400">
                <a:solidFill>
                  <a:srgbClr val="626A80"/>
                </a:solidFill>
                <a:latin typeface="Aptos" panose="020B0004020202020204" pitchFamily="34" charset="0"/>
              </a:rPr>
              <a:t>Professor registra atividade, prazo e orientações.</a:t>
            </a:r>
          </a:p>
        </p:txBody>
      </p:sp>
      <p:cxnSp>
        <p:nvCxnSpPr>
          <p:cNvPr id="12" name="Conector de Seta Reta 11">
            <a:extLst>
              <a:ext uri="{FF2B5EF4-FFF2-40B4-BE49-F238E27FC236}">
                <a16:creationId xmlns:a16="http://schemas.microsoft.com/office/drawing/2014/main" id="{A353C1BC-6F12-7CE7-7302-B8729F5AF7DC}"/>
              </a:ext>
            </a:extLst>
          </p:cNvPr>
          <p:cNvCxnSpPr/>
          <p:nvPr/>
        </p:nvCxnSpPr>
        <p:spPr>
          <a:xfrm>
            <a:off x="4157133" y="3365500"/>
            <a:ext cx="152400" cy="0"/>
          </a:xfrm>
          <a:prstGeom prst="straightConnector1">
            <a:avLst/>
          </a:prstGeom>
          <a:ln w="19050">
            <a:solidFill>
              <a:srgbClr val="9B85D6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etângulo: Cantos Arredondados 12">
            <a:extLst>
              <a:ext uri="{FF2B5EF4-FFF2-40B4-BE49-F238E27FC236}">
                <a16:creationId xmlns:a16="http://schemas.microsoft.com/office/drawing/2014/main" id="{15C0AFDD-89A2-F78D-69AA-D4F17AD3F0DF}"/>
              </a:ext>
            </a:extLst>
          </p:cNvPr>
          <p:cNvSpPr/>
          <p:nvPr/>
        </p:nvSpPr>
        <p:spPr>
          <a:xfrm>
            <a:off x="4334933" y="2476500"/>
            <a:ext cx="3522134" cy="1778000"/>
          </a:xfrm>
          <a:prstGeom prst="roundRect">
            <a:avLst>
              <a:gd name="adj" fmla="val 6000"/>
            </a:avLst>
          </a:prstGeom>
          <a:solidFill>
            <a:srgbClr val="EFEAF9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C16642F3-978F-8A7C-32E6-92C6D5BA42BF}"/>
              </a:ext>
            </a:extLst>
          </p:cNvPr>
          <p:cNvSpPr txBox="1"/>
          <p:nvPr/>
        </p:nvSpPr>
        <p:spPr>
          <a:xfrm>
            <a:off x="4563533" y="2717800"/>
            <a:ext cx="3064933" cy="2616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1700" b="1">
                <a:solidFill>
                  <a:srgbClr val="6550B5"/>
                </a:solidFill>
                <a:latin typeface="Aptos" panose="020B0004020202020204" pitchFamily="34" charset="0"/>
              </a:rPr>
              <a:t>02 · Priorizar</a:t>
            </a:r>
          </a:p>
        </p:txBody>
      </p:sp>
      <p:sp>
        <p:nvSpPr>
          <p:cNvPr id="15" name="CaixaDeTexto 14">
            <a:extLst>
              <a:ext uri="{FF2B5EF4-FFF2-40B4-BE49-F238E27FC236}">
                <a16:creationId xmlns:a16="http://schemas.microsoft.com/office/drawing/2014/main" id="{A0418AAD-4569-8E4A-8541-10321AFC34BB}"/>
              </a:ext>
            </a:extLst>
          </p:cNvPr>
          <p:cNvSpPr txBox="1"/>
          <p:nvPr/>
        </p:nvSpPr>
        <p:spPr>
          <a:xfrm>
            <a:off x="4563533" y="3390900"/>
            <a:ext cx="3064933" cy="43088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1400">
                <a:solidFill>
                  <a:srgbClr val="626A80"/>
                </a:solidFill>
                <a:latin typeface="Aptos" panose="020B0004020202020204" pitchFamily="34" charset="0"/>
              </a:rPr>
              <a:t>Aluno encontra a tarefa e entende sua urgência.</a:t>
            </a:r>
          </a:p>
        </p:txBody>
      </p:sp>
      <p:cxnSp>
        <p:nvCxnSpPr>
          <p:cNvPr id="16" name="Conector de Seta Reta 15">
            <a:extLst>
              <a:ext uri="{FF2B5EF4-FFF2-40B4-BE49-F238E27FC236}">
                <a16:creationId xmlns:a16="http://schemas.microsoft.com/office/drawing/2014/main" id="{2DAB5349-D14B-CF57-A27A-76124FFA42BC}"/>
              </a:ext>
            </a:extLst>
          </p:cNvPr>
          <p:cNvCxnSpPr/>
          <p:nvPr/>
        </p:nvCxnSpPr>
        <p:spPr>
          <a:xfrm>
            <a:off x="7882467" y="3365500"/>
            <a:ext cx="152400" cy="0"/>
          </a:xfrm>
          <a:prstGeom prst="straightConnector1">
            <a:avLst/>
          </a:prstGeom>
          <a:ln w="19050">
            <a:solidFill>
              <a:srgbClr val="9B85D6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etângulo: Cantos Arredondados 16">
            <a:extLst>
              <a:ext uri="{FF2B5EF4-FFF2-40B4-BE49-F238E27FC236}">
                <a16:creationId xmlns:a16="http://schemas.microsoft.com/office/drawing/2014/main" id="{CD1312C6-E4C2-F7B4-6FC4-40CE25EE530B}"/>
              </a:ext>
            </a:extLst>
          </p:cNvPr>
          <p:cNvSpPr/>
          <p:nvPr/>
        </p:nvSpPr>
        <p:spPr>
          <a:xfrm>
            <a:off x="8060267" y="2476500"/>
            <a:ext cx="3522133" cy="1778000"/>
          </a:xfrm>
          <a:prstGeom prst="roundRect">
            <a:avLst>
              <a:gd name="adj" fmla="val 6000"/>
            </a:avLst>
          </a:prstGeom>
          <a:solidFill>
            <a:srgbClr val="EFEAF9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8" name="CaixaDeTexto 17">
            <a:extLst>
              <a:ext uri="{FF2B5EF4-FFF2-40B4-BE49-F238E27FC236}">
                <a16:creationId xmlns:a16="http://schemas.microsoft.com/office/drawing/2014/main" id="{06CF67D7-8B36-6236-F319-C5A663C2A1A1}"/>
              </a:ext>
            </a:extLst>
          </p:cNvPr>
          <p:cNvSpPr txBox="1"/>
          <p:nvPr/>
        </p:nvSpPr>
        <p:spPr>
          <a:xfrm>
            <a:off x="8288867" y="2717800"/>
            <a:ext cx="3064933" cy="2616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1700" b="1">
                <a:solidFill>
                  <a:srgbClr val="6550B5"/>
                </a:solidFill>
                <a:latin typeface="Aptos" panose="020B0004020202020204" pitchFamily="34" charset="0"/>
              </a:rPr>
              <a:t>03 · Dividir</a:t>
            </a:r>
          </a:p>
        </p:txBody>
      </p:sp>
      <p:sp>
        <p:nvSpPr>
          <p:cNvPr id="19" name="CaixaDeTexto 18">
            <a:extLst>
              <a:ext uri="{FF2B5EF4-FFF2-40B4-BE49-F238E27FC236}">
                <a16:creationId xmlns:a16="http://schemas.microsoft.com/office/drawing/2014/main" id="{3C930C68-456F-89EB-30FB-6CDCD3B7D9F7}"/>
              </a:ext>
            </a:extLst>
          </p:cNvPr>
          <p:cNvSpPr txBox="1"/>
          <p:nvPr/>
        </p:nvSpPr>
        <p:spPr>
          <a:xfrm>
            <a:off x="8288867" y="3390900"/>
            <a:ext cx="3064933" cy="43088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1400">
                <a:solidFill>
                  <a:srgbClr val="626A80"/>
                </a:solidFill>
                <a:latin typeface="Aptos" panose="020B0004020202020204" pitchFamily="34" charset="0"/>
              </a:rPr>
              <a:t>Etapas menores com tempo e ordem de execução.</a:t>
            </a:r>
          </a:p>
        </p:txBody>
      </p:sp>
      <p:sp>
        <p:nvSpPr>
          <p:cNvPr id="20" name="Retângulo: Cantos Arredondados 19">
            <a:extLst>
              <a:ext uri="{FF2B5EF4-FFF2-40B4-BE49-F238E27FC236}">
                <a16:creationId xmlns:a16="http://schemas.microsoft.com/office/drawing/2014/main" id="{859A4E43-27A6-2FDD-D2CE-5FD95F9950FB}"/>
              </a:ext>
            </a:extLst>
          </p:cNvPr>
          <p:cNvSpPr/>
          <p:nvPr/>
        </p:nvSpPr>
        <p:spPr>
          <a:xfrm>
            <a:off x="609600" y="4457700"/>
            <a:ext cx="3522133" cy="1778000"/>
          </a:xfrm>
          <a:prstGeom prst="roundRect">
            <a:avLst>
              <a:gd name="adj" fmla="val 6000"/>
            </a:avLst>
          </a:prstGeom>
          <a:solidFill>
            <a:srgbClr val="EFEAF9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1" name="CaixaDeTexto 20">
            <a:extLst>
              <a:ext uri="{FF2B5EF4-FFF2-40B4-BE49-F238E27FC236}">
                <a16:creationId xmlns:a16="http://schemas.microsoft.com/office/drawing/2014/main" id="{E130C715-7698-E649-2800-343C2F8BC47B}"/>
              </a:ext>
            </a:extLst>
          </p:cNvPr>
          <p:cNvSpPr txBox="1"/>
          <p:nvPr/>
        </p:nvSpPr>
        <p:spPr>
          <a:xfrm>
            <a:off x="838200" y="4699000"/>
            <a:ext cx="3064933" cy="2616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1700" b="1">
                <a:solidFill>
                  <a:srgbClr val="6550B5"/>
                </a:solidFill>
                <a:latin typeface="Aptos" panose="020B0004020202020204" pitchFamily="34" charset="0"/>
              </a:rPr>
              <a:t>04 · Executar</a:t>
            </a:r>
          </a:p>
        </p:txBody>
      </p:sp>
      <p:sp>
        <p:nvSpPr>
          <p:cNvPr id="22" name="CaixaDeTexto 21">
            <a:extLst>
              <a:ext uri="{FF2B5EF4-FFF2-40B4-BE49-F238E27FC236}">
                <a16:creationId xmlns:a16="http://schemas.microsoft.com/office/drawing/2014/main" id="{6D2785A1-F9EF-3B07-45C9-B2A000B24E1E}"/>
              </a:ext>
            </a:extLst>
          </p:cNvPr>
          <p:cNvSpPr txBox="1"/>
          <p:nvPr/>
        </p:nvSpPr>
        <p:spPr>
          <a:xfrm>
            <a:off x="838200" y="5372100"/>
            <a:ext cx="3064933" cy="21544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1400">
                <a:solidFill>
                  <a:srgbClr val="626A80"/>
                </a:solidFill>
                <a:latin typeface="Aptos" panose="020B0004020202020204" pitchFamily="34" charset="0"/>
              </a:rPr>
              <a:t>Conclusão atualiza progresso e XP.</a:t>
            </a:r>
          </a:p>
        </p:txBody>
      </p:sp>
      <p:cxnSp>
        <p:nvCxnSpPr>
          <p:cNvPr id="23" name="Conector de Seta Reta 22">
            <a:extLst>
              <a:ext uri="{FF2B5EF4-FFF2-40B4-BE49-F238E27FC236}">
                <a16:creationId xmlns:a16="http://schemas.microsoft.com/office/drawing/2014/main" id="{FDDF1882-F2DE-5174-4DD7-50A95D9ED3F6}"/>
              </a:ext>
            </a:extLst>
          </p:cNvPr>
          <p:cNvCxnSpPr/>
          <p:nvPr/>
        </p:nvCxnSpPr>
        <p:spPr>
          <a:xfrm>
            <a:off x="4157133" y="5346700"/>
            <a:ext cx="152400" cy="0"/>
          </a:xfrm>
          <a:prstGeom prst="straightConnector1">
            <a:avLst/>
          </a:prstGeom>
          <a:ln w="19050">
            <a:solidFill>
              <a:srgbClr val="9B85D6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tângulo: Cantos Arredondados 23">
            <a:extLst>
              <a:ext uri="{FF2B5EF4-FFF2-40B4-BE49-F238E27FC236}">
                <a16:creationId xmlns:a16="http://schemas.microsoft.com/office/drawing/2014/main" id="{5F8427D5-D577-5CB4-5686-C616275FE6DE}"/>
              </a:ext>
            </a:extLst>
          </p:cNvPr>
          <p:cNvSpPr/>
          <p:nvPr/>
        </p:nvSpPr>
        <p:spPr>
          <a:xfrm>
            <a:off x="4334933" y="4457700"/>
            <a:ext cx="3522134" cy="1778000"/>
          </a:xfrm>
          <a:prstGeom prst="roundRect">
            <a:avLst>
              <a:gd name="adj" fmla="val 6000"/>
            </a:avLst>
          </a:prstGeom>
          <a:solidFill>
            <a:srgbClr val="EFEAF9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5" name="CaixaDeTexto 24">
            <a:extLst>
              <a:ext uri="{FF2B5EF4-FFF2-40B4-BE49-F238E27FC236}">
                <a16:creationId xmlns:a16="http://schemas.microsoft.com/office/drawing/2014/main" id="{34D17900-B7E3-2F3B-495E-26A98059DA90}"/>
              </a:ext>
            </a:extLst>
          </p:cNvPr>
          <p:cNvSpPr txBox="1"/>
          <p:nvPr/>
        </p:nvSpPr>
        <p:spPr>
          <a:xfrm>
            <a:off x="4563533" y="4699000"/>
            <a:ext cx="3064933" cy="2616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1700" b="1">
                <a:solidFill>
                  <a:srgbClr val="6550B5"/>
                </a:solidFill>
                <a:latin typeface="Aptos" panose="020B0004020202020204" pitchFamily="34" charset="0"/>
              </a:rPr>
              <a:t>05 · Replanejar</a:t>
            </a:r>
          </a:p>
        </p:txBody>
      </p:sp>
      <p:sp>
        <p:nvSpPr>
          <p:cNvPr id="26" name="CaixaDeTexto 25">
            <a:extLst>
              <a:ext uri="{FF2B5EF4-FFF2-40B4-BE49-F238E27FC236}">
                <a16:creationId xmlns:a16="http://schemas.microsoft.com/office/drawing/2014/main" id="{915B57C8-1434-F26A-054D-EC2391D5FBD0}"/>
              </a:ext>
            </a:extLst>
          </p:cNvPr>
          <p:cNvSpPr txBox="1"/>
          <p:nvPr/>
        </p:nvSpPr>
        <p:spPr>
          <a:xfrm>
            <a:off x="4563533" y="5372100"/>
            <a:ext cx="3064933" cy="43088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1400">
                <a:solidFill>
                  <a:srgbClr val="626A80"/>
                </a:solidFill>
                <a:latin typeface="Aptos" panose="020B0004020202020204" pitchFamily="34" charset="0"/>
              </a:rPr>
              <a:t>Plano de recuperação organiza as pendências.</a:t>
            </a:r>
          </a:p>
        </p:txBody>
      </p:sp>
      <p:cxnSp>
        <p:nvCxnSpPr>
          <p:cNvPr id="27" name="Conector de Seta Reta 26">
            <a:extLst>
              <a:ext uri="{FF2B5EF4-FFF2-40B4-BE49-F238E27FC236}">
                <a16:creationId xmlns:a16="http://schemas.microsoft.com/office/drawing/2014/main" id="{3ED6F388-670D-2A83-A5FE-3F6D14BC348F}"/>
              </a:ext>
            </a:extLst>
          </p:cNvPr>
          <p:cNvCxnSpPr/>
          <p:nvPr/>
        </p:nvCxnSpPr>
        <p:spPr>
          <a:xfrm>
            <a:off x="7882467" y="5346700"/>
            <a:ext cx="152400" cy="0"/>
          </a:xfrm>
          <a:prstGeom prst="straightConnector1">
            <a:avLst/>
          </a:prstGeom>
          <a:ln w="19050">
            <a:solidFill>
              <a:srgbClr val="9B85D6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etângulo: Cantos Arredondados 27">
            <a:extLst>
              <a:ext uri="{FF2B5EF4-FFF2-40B4-BE49-F238E27FC236}">
                <a16:creationId xmlns:a16="http://schemas.microsoft.com/office/drawing/2014/main" id="{93827D89-14E7-9FC3-05BE-49AF17D2A12E}"/>
              </a:ext>
            </a:extLst>
          </p:cNvPr>
          <p:cNvSpPr/>
          <p:nvPr/>
        </p:nvSpPr>
        <p:spPr>
          <a:xfrm>
            <a:off x="8060267" y="4457700"/>
            <a:ext cx="3522133" cy="1778000"/>
          </a:xfrm>
          <a:prstGeom prst="roundRect">
            <a:avLst>
              <a:gd name="adj" fmla="val 6000"/>
            </a:avLst>
          </a:prstGeom>
          <a:solidFill>
            <a:srgbClr val="EFEAF9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9" name="CaixaDeTexto 28">
            <a:extLst>
              <a:ext uri="{FF2B5EF4-FFF2-40B4-BE49-F238E27FC236}">
                <a16:creationId xmlns:a16="http://schemas.microsoft.com/office/drawing/2014/main" id="{375B707F-DA24-1088-2C2B-168BA0380B5E}"/>
              </a:ext>
            </a:extLst>
          </p:cNvPr>
          <p:cNvSpPr txBox="1"/>
          <p:nvPr/>
        </p:nvSpPr>
        <p:spPr>
          <a:xfrm>
            <a:off x="8288867" y="4699000"/>
            <a:ext cx="3064933" cy="2616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1700" b="1">
                <a:solidFill>
                  <a:srgbClr val="6550B5"/>
                </a:solidFill>
                <a:latin typeface="Aptos" panose="020B0004020202020204" pitchFamily="34" charset="0"/>
              </a:rPr>
              <a:t>06 · Continuar offline</a:t>
            </a:r>
          </a:p>
        </p:txBody>
      </p:sp>
      <p:sp>
        <p:nvSpPr>
          <p:cNvPr id="30" name="CaixaDeTexto 29">
            <a:extLst>
              <a:ext uri="{FF2B5EF4-FFF2-40B4-BE49-F238E27FC236}">
                <a16:creationId xmlns:a16="http://schemas.microsoft.com/office/drawing/2014/main" id="{F4A6A958-57B3-6629-8F2A-656CE7FA55DD}"/>
              </a:ext>
            </a:extLst>
          </p:cNvPr>
          <p:cNvSpPr txBox="1"/>
          <p:nvPr/>
        </p:nvSpPr>
        <p:spPr>
          <a:xfrm>
            <a:off x="8288867" y="5372100"/>
            <a:ext cx="3064933" cy="43088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1400">
                <a:solidFill>
                  <a:srgbClr val="626A80"/>
                </a:solidFill>
                <a:latin typeface="Aptos" panose="020B0004020202020204" pitchFamily="34" charset="0"/>
              </a:rPr>
              <a:t>Dados locais preservam consulta e progresso.</a:t>
            </a:r>
          </a:p>
        </p:txBody>
      </p:sp>
    </p:spTree>
    <p:extLst>
      <p:ext uri="{BB962C8B-B14F-4D97-AF65-F5344CB8AC3E}">
        <p14:creationId xmlns:p14="http://schemas.microsoft.com/office/powerpoint/2010/main" val="153847337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E0C628AB-10FE-7453-5A06-B7425E7E3A42}"/>
              </a:ext>
            </a:extLst>
          </p:cNvPr>
          <p:cNvSpPr/>
          <p:nvPr/>
        </p:nvSpPr>
        <p:spPr>
          <a:xfrm>
            <a:off x="609600" y="406400"/>
            <a:ext cx="63500" cy="254000"/>
          </a:xfrm>
          <a:prstGeom prst="rect">
            <a:avLst/>
          </a:prstGeom>
          <a:solidFill>
            <a:srgbClr val="7660D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437BB91C-D442-6A66-0764-BD0C05C46403}"/>
              </a:ext>
            </a:extLst>
          </p:cNvPr>
          <p:cNvSpPr txBox="1"/>
          <p:nvPr/>
        </p:nvSpPr>
        <p:spPr>
          <a:xfrm>
            <a:off x="812800" y="431800"/>
            <a:ext cx="102235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1000" b="1">
                <a:solidFill>
                  <a:srgbClr val="7660D3"/>
                </a:solidFill>
                <a:latin typeface="Aptos" panose="020B0004020202020204" pitchFamily="34" charset="0"/>
              </a:rPr>
              <a:t>ETAPA 6 · TELA 1 · ENTRADA + VISÃO GERAL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F4410007-2EBB-A179-2F11-D3121F555117}"/>
              </a:ext>
            </a:extLst>
          </p:cNvPr>
          <p:cNvSpPr txBox="1"/>
          <p:nvPr/>
        </p:nvSpPr>
        <p:spPr>
          <a:xfrm>
            <a:off x="609600" y="889000"/>
            <a:ext cx="10985500" cy="44627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2900" b="1">
                <a:solidFill>
                  <a:srgbClr val="273047"/>
                </a:solidFill>
                <a:latin typeface="Aptos" panose="020B0004020202020204" pitchFamily="34" charset="0"/>
              </a:rPr>
              <a:t>O primeiro contato já mostra o que fazer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1A362AD5-DF1C-8C55-DF14-95D4D9A547BD}"/>
              </a:ext>
            </a:extLst>
          </p:cNvPr>
          <p:cNvSpPr txBox="1"/>
          <p:nvPr/>
        </p:nvSpPr>
        <p:spPr>
          <a:xfrm>
            <a:off x="609600" y="1816100"/>
            <a:ext cx="10998200" cy="2000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1300">
                <a:solidFill>
                  <a:srgbClr val="7B7F93"/>
                </a:solidFill>
                <a:latin typeface="Aptos" panose="020B0004020202020204" pitchFamily="34" charset="0"/>
              </a:rPr>
              <a:t>Seleção de perfil no topo e painel do aluno orientado à ação.</a:t>
            </a:r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A3B15EEB-2D4C-C2C5-FBC9-CE0D843AE636}"/>
              </a:ext>
            </a:extLst>
          </p:cNvPr>
          <p:cNvSpPr/>
          <p:nvPr/>
        </p:nvSpPr>
        <p:spPr>
          <a:xfrm>
            <a:off x="609600" y="6426200"/>
            <a:ext cx="10972800" cy="12700"/>
          </a:xfrm>
          <a:prstGeom prst="rect">
            <a:avLst/>
          </a:prstGeom>
          <a:solidFill>
            <a:srgbClr val="E2DFE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F930DFC5-81CF-90E2-7FDD-375CAE745C05}"/>
              </a:ext>
            </a:extLst>
          </p:cNvPr>
          <p:cNvSpPr txBox="1"/>
          <p:nvPr/>
        </p:nvSpPr>
        <p:spPr>
          <a:xfrm>
            <a:off x="609600" y="6553200"/>
            <a:ext cx="9652000" cy="12311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800">
                <a:solidFill>
                  <a:srgbClr val="9690A5"/>
                </a:solidFill>
                <a:latin typeface="Aptos" panose="020B0004020202020204" pitchFamily="34" charset="0"/>
              </a:rPr>
              <a:t>Fonte: Etapa 6 · Telas recomendadas 1 e 2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A732223F-FC46-8A65-0EAF-F037B5CB1CD2}"/>
              </a:ext>
            </a:extLst>
          </p:cNvPr>
          <p:cNvSpPr txBox="1"/>
          <p:nvPr/>
        </p:nvSpPr>
        <p:spPr>
          <a:xfrm>
            <a:off x="10896600" y="6515100"/>
            <a:ext cx="7493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1000" b="1">
                <a:solidFill>
                  <a:srgbClr val="7660D3"/>
                </a:solidFill>
                <a:latin typeface="Aptos" panose="020B0004020202020204" pitchFamily="34" charset="0"/>
              </a:rPr>
              <a:t>22 / 40</a:t>
            </a:r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B03FC951-0BF7-E432-4BBC-774EDD42B0F2}"/>
              </a:ext>
            </a:extLst>
          </p:cNvPr>
          <p:cNvSpPr/>
          <p:nvPr/>
        </p:nvSpPr>
        <p:spPr>
          <a:xfrm>
            <a:off x="609600" y="2527300"/>
            <a:ext cx="63500" cy="368300"/>
          </a:xfrm>
          <a:prstGeom prst="rect">
            <a:avLst/>
          </a:prstGeom>
          <a:solidFill>
            <a:srgbClr val="C7B7E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559E85CB-071D-5B3D-F8A8-9ADF8EC5255D}"/>
              </a:ext>
            </a:extLst>
          </p:cNvPr>
          <p:cNvSpPr txBox="1"/>
          <p:nvPr/>
        </p:nvSpPr>
        <p:spPr>
          <a:xfrm>
            <a:off x="838200" y="2501900"/>
            <a:ext cx="31496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1600" b="1">
                <a:solidFill>
                  <a:srgbClr val="6550B5"/>
                </a:solidFill>
                <a:latin typeface="Aptos" panose="020B0004020202020204" pitchFamily="34" charset="0"/>
              </a:rPr>
              <a:t>Entrada demonstrativa</a:t>
            </a:r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E25E86E6-917A-EB8E-24EF-5089DA1A758E}"/>
              </a:ext>
            </a:extLst>
          </p:cNvPr>
          <p:cNvSpPr txBox="1"/>
          <p:nvPr/>
        </p:nvSpPr>
        <p:spPr>
          <a:xfrm>
            <a:off x="838200" y="3009900"/>
            <a:ext cx="3149600" cy="3847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1250">
                <a:solidFill>
                  <a:srgbClr val="697187"/>
                </a:solidFill>
                <a:latin typeface="Aptos" panose="020B0004020202020204" pitchFamily="34" charset="0"/>
              </a:rPr>
              <a:t>Aluno, professor e administrador sem login real.</a:t>
            </a:r>
          </a:p>
        </p:txBody>
      </p:sp>
      <p:sp>
        <p:nvSpPr>
          <p:cNvPr id="12" name="Retângulo 11">
            <a:extLst>
              <a:ext uri="{FF2B5EF4-FFF2-40B4-BE49-F238E27FC236}">
                <a16:creationId xmlns:a16="http://schemas.microsoft.com/office/drawing/2014/main" id="{BB350B74-0ECD-9BB3-A566-A0DFA92AC296}"/>
              </a:ext>
            </a:extLst>
          </p:cNvPr>
          <p:cNvSpPr/>
          <p:nvPr/>
        </p:nvSpPr>
        <p:spPr>
          <a:xfrm>
            <a:off x="609600" y="3733800"/>
            <a:ext cx="63500" cy="368300"/>
          </a:xfrm>
          <a:prstGeom prst="rect">
            <a:avLst/>
          </a:prstGeom>
          <a:solidFill>
            <a:srgbClr val="C7B7E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1E811CA4-E026-F6CA-D67E-E025A1F4CEA3}"/>
              </a:ext>
            </a:extLst>
          </p:cNvPr>
          <p:cNvSpPr txBox="1"/>
          <p:nvPr/>
        </p:nvSpPr>
        <p:spPr>
          <a:xfrm>
            <a:off x="838200" y="3708400"/>
            <a:ext cx="31496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1600" b="1">
                <a:solidFill>
                  <a:srgbClr val="6550B5"/>
                </a:solidFill>
                <a:latin typeface="Aptos" panose="020B0004020202020204" pitchFamily="34" charset="0"/>
              </a:rPr>
              <a:t>Resumo imediato</a:t>
            </a:r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134310EA-08B9-6681-C79A-C35FD06D28B6}"/>
              </a:ext>
            </a:extLst>
          </p:cNvPr>
          <p:cNvSpPr txBox="1"/>
          <p:nvPr/>
        </p:nvSpPr>
        <p:spPr>
          <a:xfrm>
            <a:off x="838200" y="4216400"/>
            <a:ext cx="3149600" cy="19236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1250">
                <a:solidFill>
                  <a:srgbClr val="697187"/>
                </a:solidFill>
                <a:latin typeface="Aptos" panose="020B0004020202020204" pitchFamily="34" charset="0"/>
              </a:rPr>
              <a:t>Pendências, urgências, conclusões e XP.</a:t>
            </a:r>
          </a:p>
        </p:txBody>
      </p:sp>
      <p:sp>
        <p:nvSpPr>
          <p:cNvPr id="15" name="Retângulo 14">
            <a:extLst>
              <a:ext uri="{FF2B5EF4-FFF2-40B4-BE49-F238E27FC236}">
                <a16:creationId xmlns:a16="http://schemas.microsoft.com/office/drawing/2014/main" id="{1E86B1D5-B02B-8BA9-6A35-0F2436BB536A}"/>
              </a:ext>
            </a:extLst>
          </p:cNvPr>
          <p:cNvSpPr/>
          <p:nvPr/>
        </p:nvSpPr>
        <p:spPr>
          <a:xfrm>
            <a:off x="609600" y="4940300"/>
            <a:ext cx="63500" cy="368300"/>
          </a:xfrm>
          <a:prstGeom prst="rect">
            <a:avLst/>
          </a:prstGeom>
          <a:solidFill>
            <a:srgbClr val="C7B7E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6" name="CaixaDeTexto 15">
            <a:extLst>
              <a:ext uri="{FF2B5EF4-FFF2-40B4-BE49-F238E27FC236}">
                <a16:creationId xmlns:a16="http://schemas.microsoft.com/office/drawing/2014/main" id="{7F29CCF2-EA8C-B551-FDE7-DC45E8621B10}"/>
              </a:ext>
            </a:extLst>
          </p:cNvPr>
          <p:cNvSpPr txBox="1"/>
          <p:nvPr/>
        </p:nvSpPr>
        <p:spPr>
          <a:xfrm>
            <a:off x="838200" y="4914900"/>
            <a:ext cx="31496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1600" b="1">
                <a:solidFill>
                  <a:srgbClr val="6550B5"/>
                </a:solidFill>
                <a:latin typeface="Aptos" panose="020B0004020202020204" pitchFamily="34" charset="0"/>
              </a:rPr>
              <a:t>Ação principal</a:t>
            </a:r>
          </a:p>
        </p:txBody>
      </p:sp>
      <p:sp>
        <p:nvSpPr>
          <p:cNvPr id="17" name="CaixaDeTexto 16">
            <a:extLst>
              <a:ext uri="{FF2B5EF4-FFF2-40B4-BE49-F238E27FC236}">
                <a16:creationId xmlns:a16="http://schemas.microsoft.com/office/drawing/2014/main" id="{DE8601D2-4A4A-6211-82DF-C15C70D7AED6}"/>
              </a:ext>
            </a:extLst>
          </p:cNvPr>
          <p:cNvSpPr txBox="1"/>
          <p:nvPr/>
        </p:nvSpPr>
        <p:spPr>
          <a:xfrm>
            <a:off x="838200" y="5422900"/>
            <a:ext cx="3149600" cy="3847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1250">
                <a:solidFill>
                  <a:srgbClr val="697187"/>
                </a:solidFill>
                <a:latin typeface="Aptos" panose="020B0004020202020204" pitchFamily="34" charset="0"/>
              </a:rPr>
              <a:t>Meu próximo passo destaca a etapa prioritária.</a:t>
            </a:r>
          </a:p>
        </p:txBody>
      </p:sp>
      <p:sp>
        <p:nvSpPr>
          <p:cNvPr id="18" name="Retângulo: Cantos Arredondados 17">
            <a:extLst>
              <a:ext uri="{FF2B5EF4-FFF2-40B4-BE49-F238E27FC236}">
                <a16:creationId xmlns:a16="http://schemas.microsoft.com/office/drawing/2014/main" id="{067FB987-41E4-2F6D-E082-21941BFD4C7F}"/>
              </a:ext>
            </a:extLst>
          </p:cNvPr>
          <p:cNvSpPr/>
          <p:nvPr/>
        </p:nvSpPr>
        <p:spPr>
          <a:xfrm>
            <a:off x="4241800" y="2463800"/>
            <a:ext cx="7340600" cy="3771900"/>
          </a:xfrm>
          <a:prstGeom prst="roundRect">
            <a:avLst>
              <a:gd name="adj" fmla="val 6000"/>
            </a:avLst>
          </a:prstGeom>
          <a:solidFill>
            <a:srgbClr val="EDE8F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9" name="Retângulo: Cantos Arredondados 18">
            <a:extLst>
              <a:ext uri="{FF2B5EF4-FFF2-40B4-BE49-F238E27FC236}">
                <a16:creationId xmlns:a16="http://schemas.microsoft.com/office/drawing/2014/main" id="{D59B2DF8-9F30-38D2-B9F7-04382EC54DC0}"/>
              </a:ext>
            </a:extLst>
          </p:cNvPr>
          <p:cNvSpPr/>
          <p:nvPr/>
        </p:nvSpPr>
        <p:spPr>
          <a:xfrm>
            <a:off x="5447145" y="2527300"/>
            <a:ext cx="4929910" cy="3429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21" name="Imagem 20" descr="Dashboard do aluno: prioridades, próximo passo e indicadores">
            <a:extLst>
              <a:ext uri="{FF2B5EF4-FFF2-40B4-BE49-F238E27FC236}">
                <a16:creationId xmlns:a16="http://schemas.microsoft.com/office/drawing/2014/main" id="{1D7045B7-8AA3-7502-E6A1-7AD30399113A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10645" y="2590800"/>
            <a:ext cx="4802909" cy="3302000"/>
          </a:xfrm>
          <a:prstGeom prst="rect">
            <a:avLst/>
          </a:prstGeom>
        </p:spPr>
      </p:pic>
      <p:sp>
        <p:nvSpPr>
          <p:cNvPr id="22" name="CaixaDeTexto 21">
            <a:extLst>
              <a:ext uri="{FF2B5EF4-FFF2-40B4-BE49-F238E27FC236}">
                <a16:creationId xmlns:a16="http://schemas.microsoft.com/office/drawing/2014/main" id="{4B81FCFA-49C3-C785-6062-238B891877BF}"/>
              </a:ext>
            </a:extLst>
          </p:cNvPr>
          <p:cNvSpPr txBox="1"/>
          <p:nvPr/>
        </p:nvSpPr>
        <p:spPr>
          <a:xfrm>
            <a:off x="4470400" y="5994400"/>
            <a:ext cx="68961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900">
                <a:solidFill>
                  <a:srgbClr val="8B7CA6"/>
                </a:solidFill>
                <a:latin typeface="Aptos" panose="020B0004020202020204" pitchFamily="34" charset="0"/>
              </a:rPr>
              <a:t>Dashboard do aluno: prioridades, próximo passo e indicadores</a:t>
            </a:r>
          </a:p>
        </p:txBody>
      </p:sp>
    </p:spTree>
    <p:extLst>
      <p:ext uri="{BB962C8B-B14F-4D97-AF65-F5344CB8AC3E}">
        <p14:creationId xmlns:p14="http://schemas.microsoft.com/office/powerpoint/2010/main" val="148054881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D998036-075B-1668-1CE8-2FD2C1228BB0}"/>
              </a:ext>
            </a:extLst>
          </p:cNvPr>
          <p:cNvSpPr/>
          <p:nvPr/>
        </p:nvSpPr>
        <p:spPr>
          <a:xfrm>
            <a:off x="609600" y="406400"/>
            <a:ext cx="63500" cy="254000"/>
          </a:xfrm>
          <a:prstGeom prst="rect">
            <a:avLst/>
          </a:prstGeom>
          <a:solidFill>
            <a:srgbClr val="7660D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1CCAE700-6C4E-1930-2087-1A5A1A2A5D06}"/>
              </a:ext>
            </a:extLst>
          </p:cNvPr>
          <p:cNvSpPr txBox="1"/>
          <p:nvPr/>
        </p:nvSpPr>
        <p:spPr>
          <a:xfrm>
            <a:off x="812800" y="431800"/>
            <a:ext cx="102235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1000" b="1">
                <a:solidFill>
                  <a:srgbClr val="7660D3"/>
                </a:solidFill>
                <a:latin typeface="Aptos" panose="020B0004020202020204" pitchFamily="34" charset="0"/>
              </a:rPr>
              <a:t>ETAPA 6 · TELA 2 · ATIVIDADE E ETAPAS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56B801C9-0835-0D5B-ECF3-ABE2D2EAAD38}"/>
              </a:ext>
            </a:extLst>
          </p:cNvPr>
          <p:cNvSpPr txBox="1"/>
          <p:nvPr/>
        </p:nvSpPr>
        <p:spPr>
          <a:xfrm>
            <a:off x="609600" y="889000"/>
            <a:ext cx="10985500" cy="44627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2900" b="1">
                <a:solidFill>
                  <a:srgbClr val="273047"/>
                </a:solidFill>
                <a:latin typeface="Aptos" panose="020B0004020202020204" pitchFamily="34" charset="0"/>
              </a:rPr>
              <a:t>Transformar um trabalho longo em ações possíveis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098C39D3-3BF6-9095-0817-1CA070C3C470}"/>
              </a:ext>
            </a:extLst>
          </p:cNvPr>
          <p:cNvSpPr txBox="1"/>
          <p:nvPr/>
        </p:nvSpPr>
        <p:spPr>
          <a:xfrm>
            <a:off x="609600" y="1816100"/>
            <a:ext cx="10998200" cy="2000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1300">
                <a:solidFill>
                  <a:srgbClr val="7B7F93"/>
                </a:solidFill>
                <a:latin typeface="Aptos" panose="020B0004020202020204" pitchFamily="34" charset="0"/>
              </a:rPr>
              <a:t>Instruções, prazo oficial, esforço e progresso no mesmo painel.</a:t>
            </a:r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EFE0C937-9B75-1D89-9877-6C2B3B866CDE}"/>
              </a:ext>
            </a:extLst>
          </p:cNvPr>
          <p:cNvSpPr/>
          <p:nvPr/>
        </p:nvSpPr>
        <p:spPr>
          <a:xfrm>
            <a:off x="609600" y="6426200"/>
            <a:ext cx="10972800" cy="12700"/>
          </a:xfrm>
          <a:prstGeom prst="rect">
            <a:avLst/>
          </a:prstGeom>
          <a:solidFill>
            <a:srgbClr val="E2DFE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7919A074-8089-27BC-FD09-9EDD71833D6C}"/>
              </a:ext>
            </a:extLst>
          </p:cNvPr>
          <p:cNvSpPr txBox="1"/>
          <p:nvPr/>
        </p:nvSpPr>
        <p:spPr>
          <a:xfrm>
            <a:off x="609600" y="6553200"/>
            <a:ext cx="9652000" cy="12311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800">
                <a:solidFill>
                  <a:srgbClr val="9690A5"/>
                </a:solidFill>
                <a:latin typeface="Aptos" panose="020B0004020202020204" pitchFamily="34" charset="0"/>
              </a:rPr>
              <a:t>Fonte: Etapa 6 · Tela recomendada 3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620B8CB1-8BF8-D225-2D35-88DC9775EEEE}"/>
              </a:ext>
            </a:extLst>
          </p:cNvPr>
          <p:cNvSpPr txBox="1"/>
          <p:nvPr/>
        </p:nvSpPr>
        <p:spPr>
          <a:xfrm>
            <a:off x="10896600" y="6515100"/>
            <a:ext cx="7493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1000" b="1">
                <a:solidFill>
                  <a:srgbClr val="7660D3"/>
                </a:solidFill>
                <a:latin typeface="Aptos" panose="020B0004020202020204" pitchFamily="34" charset="0"/>
              </a:rPr>
              <a:t>23 / 40</a:t>
            </a:r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34DB15A3-79D5-DE35-64FE-426C0301F47D}"/>
              </a:ext>
            </a:extLst>
          </p:cNvPr>
          <p:cNvSpPr/>
          <p:nvPr/>
        </p:nvSpPr>
        <p:spPr>
          <a:xfrm>
            <a:off x="609600" y="2527300"/>
            <a:ext cx="63500" cy="368300"/>
          </a:xfrm>
          <a:prstGeom prst="rect">
            <a:avLst/>
          </a:prstGeom>
          <a:solidFill>
            <a:srgbClr val="C7B7E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460029DC-2D07-C736-5BE8-FF9C2A782A58}"/>
              </a:ext>
            </a:extLst>
          </p:cNvPr>
          <p:cNvSpPr txBox="1"/>
          <p:nvPr/>
        </p:nvSpPr>
        <p:spPr>
          <a:xfrm>
            <a:off x="838200" y="2501900"/>
            <a:ext cx="31496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1600" b="1">
                <a:solidFill>
                  <a:srgbClr val="6550B5"/>
                </a:solidFill>
                <a:latin typeface="Aptos" panose="020B0004020202020204" pitchFamily="34" charset="0"/>
              </a:rPr>
              <a:t>Consultar e planejar</a:t>
            </a:r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2B989C72-7036-3D72-5C50-4AD503CB6E60}"/>
              </a:ext>
            </a:extLst>
          </p:cNvPr>
          <p:cNvSpPr txBox="1"/>
          <p:nvPr/>
        </p:nvSpPr>
        <p:spPr>
          <a:xfrm>
            <a:off x="838200" y="3009900"/>
            <a:ext cx="3149600" cy="19236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1250">
                <a:solidFill>
                  <a:srgbClr val="697187"/>
                </a:solidFill>
                <a:latin typeface="Aptos" panose="020B0004020202020204" pitchFamily="34" charset="0"/>
              </a:rPr>
              <a:t>Descrição, disciplina, docente e prazo.</a:t>
            </a:r>
          </a:p>
        </p:txBody>
      </p:sp>
      <p:sp>
        <p:nvSpPr>
          <p:cNvPr id="12" name="Retângulo 11">
            <a:extLst>
              <a:ext uri="{FF2B5EF4-FFF2-40B4-BE49-F238E27FC236}">
                <a16:creationId xmlns:a16="http://schemas.microsoft.com/office/drawing/2014/main" id="{8676B65A-3B90-E9F6-6FB9-C0666EB7A06C}"/>
              </a:ext>
            </a:extLst>
          </p:cNvPr>
          <p:cNvSpPr/>
          <p:nvPr/>
        </p:nvSpPr>
        <p:spPr>
          <a:xfrm>
            <a:off x="609600" y="3733800"/>
            <a:ext cx="63500" cy="368300"/>
          </a:xfrm>
          <a:prstGeom prst="rect">
            <a:avLst/>
          </a:prstGeom>
          <a:solidFill>
            <a:srgbClr val="C7B7E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39162011-1EE8-D541-C72A-A5FD0D39B5BC}"/>
              </a:ext>
            </a:extLst>
          </p:cNvPr>
          <p:cNvSpPr txBox="1"/>
          <p:nvPr/>
        </p:nvSpPr>
        <p:spPr>
          <a:xfrm>
            <a:off x="838200" y="3708400"/>
            <a:ext cx="31496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1600" b="1">
                <a:solidFill>
                  <a:srgbClr val="6550B5"/>
                </a:solidFill>
                <a:latin typeface="Aptos" panose="020B0004020202020204" pitchFamily="34" charset="0"/>
              </a:rPr>
              <a:t>Personalizar a trilha</a:t>
            </a:r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D34D77AA-E83B-D305-C246-F346DFD998C4}"/>
              </a:ext>
            </a:extLst>
          </p:cNvPr>
          <p:cNvSpPr txBox="1"/>
          <p:nvPr/>
        </p:nvSpPr>
        <p:spPr>
          <a:xfrm>
            <a:off x="838200" y="4216400"/>
            <a:ext cx="3149600" cy="19236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1250">
                <a:solidFill>
                  <a:srgbClr val="697187"/>
                </a:solidFill>
                <a:latin typeface="Aptos" panose="020B0004020202020204" pitchFamily="34" charset="0"/>
              </a:rPr>
              <a:t>Adicionar etapas e reorganizar sua ordem.</a:t>
            </a:r>
          </a:p>
        </p:txBody>
      </p:sp>
      <p:sp>
        <p:nvSpPr>
          <p:cNvPr id="15" name="Retângulo 14">
            <a:extLst>
              <a:ext uri="{FF2B5EF4-FFF2-40B4-BE49-F238E27FC236}">
                <a16:creationId xmlns:a16="http://schemas.microsoft.com/office/drawing/2014/main" id="{432D9035-A2D8-8361-28F7-CC0960982E52}"/>
              </a:ext>
            </a:extLst>
          </p:cNvPr>
          <p:cNvSpPr/>
          <p:nvPr/>
        </p:nvSpPr>
        <p:spPr>
          <a:xfrm>
            <a:off x="609600" y="4940300"/>
            <a:ext cx="63500" cy="368300"/>
          </a:xfrm>
          <a:prstGeom prst="rect">
            <a:avLst/>
          </a:prstGeom>
          <a:solidFill>
            <a:srgbClr val="C7B7E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6" name="CaixaDeTexto 15">
            <a:extLst>
              <a:ext uri="{FF2B5EF4-FFF2-40B4-BE49-F238E27FC236}">
                <a16:creationId xmlns:a16="http://schemas.microsoft.com/office/drawing/2014/main" id="{5D693469-0B7D-4367-5A64-ACA372E249A4}"/>
              </a:ext>
            </a:extLst>
          </p:cNvPr>
          <p:cNvSpPr txBox="1"/>
          <p:nvPr/>
        </p:nvSpPr>
        <p:spPr>
          <a:xfrm>
            <a:off x="838200" y="4914900"/>
            <a:ext cx="31496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1600" b="1">
                <a:solidFill>
                  <a:srgbClr val="6550B5"/>
                </a:solidFill>
                <a:latin typeface="Aptos" panose="020B0004020202020204" pitchFamily="34" charset="0"/>
              </a:rPr>
              <a:t>Registrar e acompanhar</a:t>
            </a:r>
          </a:p>
        </p:txBody>
      </p:sp>
      <p:sp>
        <p:nvSpPr>
          <p:cNvPr id="17" name="CaixaDeTexto 16">
            <a:extLst>
              <a:ext uri="{FF2B5EF4-FFF2-40B4-BE49-F238E27FC236}">
                <a16:creationId xmlns:a16="http://schemas.microsoft.com/office/drawing/2014/main" id="{55430BA7-D3AD-B9BB-467B-A301EF1243FB}"/>
              </a:ext>
            </a:extLst>
          </p:cNvPr>
          <p:cNvSpPr txBox="1"/>
          <p:nvPr/>
        </p:nvSpPr>
        <p:spPr>
          <a:xfrm>
            <a:off x="838200" y="5422900"/>
            <a:ext cx="3149600" cy="3847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1250">
                <a:solidFill>
                  <a:srgbClr val="697187"/>
                </a:solidFill>
                <a:latin typeface="Aptos" panose="020B0004020202020204" pitchFamily="34" charset="0"/>
              </a:rPr>
              <a:t>Concluir, desfazer, observar percentual e solicitar prorrogação.</a:t>
            </a:r>
          </a:p>
        </p:txBody>
      </p:sp>
      <p:sp>
        <p:nvSpPr>
          <p:cNvPr id="18" name="Retângulo: Cantos Arredondados 17">
            <a:extLst>
              <a:ext uri="{FF2B5EF4-FFF2-40B4-BE49-F238E27FC236}">
                <a16:creationId xmlns:a16="http://schemas.microsoft.com/office/drawing/2014/main" id="{0BF88F30-1E63-C860-BA2B-62209D075B81}"/>
              </a:ext>
            </a:extLst>
          </p:cNvPr>
          <p:cNvSpPr/>
          <p:nvPr/>
        </p:nvSpPr>
        <p:spPr>
          <a:xfrm>
            <a:off x="4241800" y="2463800"/>
            <a:ext cx="7340600" cy="3771900"/>
          </a:xfrm>
          <a:prstGeom prst="roundRect">
            <a:avLst>
              <a:gd name="adj" fmla="val 6000"/>
            </a:avLst>
          </a:prstGeom>
          <a:solidFill>
            <a:srgbClr val="EDE8F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9" name="Retângulo: Cantos Arredondados 18">
            <a:extLst>
              <a:ext uri="{FF2B5EF4-FFF2-40B4-BE49-F238E27FC236}">
                <a16:creationId xmlns:a16="http://schemas.microsoft.com/office/drawing/2014/main" id="{49A1AC1E-959D-E4C4-A9E9-E1D0DCDD4D81}"/>
              </a:ext>
            </a:extLst>
          </p:cNvPr>
          <p:cNvSpPr/>
          <p:nvPr/>
        </p:nvSpPr>
        <p:spPr>
          <a:xfrm>
            <a:off x="5447145" y="2527300"/>
            <a:ext cx="4929910" cy="3429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21" name="Imagem 20" descr="Detalhe da atividade com checklist funcional">
            <a:extLst>
              <a:ext uri="{FF2B5EF4-FFF2-40B4-BE49-F238E27FC236}">
                <a16:creationId xmlns:a16="http://schemas.microsoft.com/office/drawing/2014/main" id="{52274FDC-D1BA-5CF7-72F0-474417B2E0F1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10645" y="2590800"/>
            <a:ext cx="4802909" cy="3302000"/>
          </a:xfrm>
          <a:prstGeom prst="rect">
            <a:avLst/>
          </a:prstGeom>
        </p:spPr>
      </p:pic>
      <p:sp>
        <p:nvSpPr>
          <p:cNvPr id="22" name="CaixaDeTexto 21">
            <a:extLst>
              <a:ext uri="{FF2B5EF4-FFF2-40B4-BE49-F238E27FC236}">
                <a16:creationId xmlns:a16="http://schemas.microsoft.com/office/drawing/2014/main" id="{08576976-E8D5-9B25-8866-3003CD8846A4}"/>
              </a:ext>
            </a:extLst>
          </p:cNvPr>
          <p:cNvSpPr txBox="1"/>
          <p:nvPr/>
        </p:nvSpPr>
        <p:spPr>
          <a:xfrm>
            <a:off x="4470400" y="5994400"/>
            <a:ext cx="68961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900">
                <a:solidFill>
                  <a:srgbClr val="8B7CA6"/>
                </a:solidFill>
                <a:latin typeface="Aptos" panose="020B0004020202020204" pitchFamily="34" charset="0"/>
              </a:rPr>
              <a:t>Detalhe da atividade com checklist funcional</a:t>
            </a:r>
          </a:p>
        </p:txBody>
      </p:sp>
    </p:spTree>
    <p:extLst>
      <p:ext uri="{BB962C8B-B14F-4D97-AF65-F5344CB8AC3E}">
        <p14:creationId xmlns:p14="http://schemas.microsoft.com/office/powerpoint/2010/main" val="2914553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61EFA108-7A37-1A19-739C-330E13E40ECA}"/>
              </a:ext>
            </a:extLst>
          </p:cNvPr>
          <p:cNvSpPr/>
          <p:nvPr/>
        </p:nvSpPr>
        <p:spPr>
          <a:xfrm>
            <a:off x="609600" y="406400"/>
            <a:ext cx="63500" cy="254000"/>
          </a:xfrm>
          <a:prstGeom prst="rect">
            <a:avLst/>
          </a:prstGeom>
          <a:solidFill>
            <a:srgbClr val="7660D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514941C4-4FD7-67C7-F41B-40263C159539}"/>
              </a:ext>
            </a:extLst>
          </p:cNvPr>
          <p:cNvSpPr txBox="1"/>
          <p:nvPr/>
        </p:nvSpPr>
        <p:spPr>
          <a:xfrm>
            <a:off x="812800" y="431800"/>
            <a:ext cx="102235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1000" b="1">
                <a:solidFill>
                  <a:srgbClr val="7660D3"/>
                </a:solidFill>
                <a:latin typeface="Aptos" panose="020B0004020202020204" pitchFamily="34" charset="0"/>
              </a:rPr>
              <a:t>ETAPA 6 · CALENDÁRIO E FILTROS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42141858-FB2C-B40B-8177-93C43CF6DCD5}"/>
              </a:ext>
            </a:extLst>
          </p:cNvPr>
          <p:cNvSpPr txBox="1"/>
          <p:nvPr/>
        </p:nvSpPr>
        <p:spPr>
          <a:xfrm>
            <a:off x="609600" y="889000"/>
            <a:ext cx="10985500" cy="44627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2900" b="1">
                <a:solidFill>
                  <a:srgbClr val="273047"/>
                </a:solidFill>
                <a:latin typeface="Aptos" panose="020B0004020202020204" pitchFamily="34" charset="0"/>
              </a:rPr>
              <a:t>Ver quando entregar, sem perder o contexto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F3FA6A02-3BD3-801C-39B6-D3A039A7F235}"/>
              </a:ext>
            </a:extLst>
          </p:cNvPr>
          <p:cNvSpPr txBox="1"/>
          <p:nvPr/>
        </p:nvSpPr>
        <p:spPr>
          <a:xfrm>
            <a:off x="609600" y="1816100"/>
            <a:ext cx="10998200" cy="2000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1300">
                <a:solidFill>
                  <a:srgbClr val="7B7F93"/>
                </a:solidFill>
                <a:latin typeface="Aptos" panose="020B0004020202020204" pitchFamily="34" charset="0"/>
              </a:rPr>
              <a:t>A mesma atividade aparece na lista, no calendário e no planejamento.</a:t>
            </a:r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F307AE9F-14F8-8D4D-8507-952F2A043EAE}"/>
              </a:ext>
            </a:extLst>
          </p:cNvPr>
          <p:cNvSpPr/>
          <p:nvPr/>
        </p:nvSpPr>
        <p:spPr>
          <a:xfrm>
            <a:off x="609600" y="6426200"/>
            <a:ext cx="10972800" cy="12700"/>
          </a:xfrm>
          <a:prstGeom prst="rect">
            <a:avLst/>
          </a:prstGeom>
          <a:solidFill>
            <a:srgbClr val="E2DFE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246BB7C2-74EF-1A10-8C84-BED382EBF1E3}"/>
              </a:ext>
            </a:extLst>
          </p:cNvPr>
          <p:cNvSpPr txBox="1"/>
          <p:nvPr/>
        </p:nvSpPr>
        <p:spPr>
          <a:xfrm>
            <a:off x="609600" y="6553200"/>
            <a:ext cx="9652000" cy="12311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800">
                <a:solidFill>
                  <a:srgbClr val="9690A5"/>
                </a:solidFill>
                <a:latin typeface="Aptos" panose="020B0004020202020204" pitchFamily="34" charset="0"/>
              </a:rPr>
              <a:t>Fonte: Etapa 6 · Núcleo do perfil aluno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490CEF1E-D6FB-1223-640D-3E93910C3D69}"/>
              </a:ext>
            </a:extLst>
          </p:cNvPr>
          <p:cNvSpPr txBox="1"/>
          <p:nvPr/>
        </p:nvSpPr>
        <p:spPr>
          <a:xfrm>
            <a:off x="10896600" y="6515100"/>
            <a:ext cx="7493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1000" b="1">
                <a:solidFill>
                  <a:srgbClr val="7660D3"/>
                </a:solidFill>
                <a:latin typeface="Aptos" panose="020B0004020202020204" pitchFamily="34" charset="0"/>
              </a:rPr>
              <a:t>24 / 40</a:t>
            </a:r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70CC01C7-F3BD-90B9-BDB4-9BD9DAE4EE31}"/>
              </a:ext>
            </a:extLst>
          </p:cNvPr>
          <p:cNvSpPr/>
          <p:nvPr/>
        </p:nvSpPr>
        <p:spPr>
          <a:xfrm>
            <a:off x="609600" y="2527300"/>
            <a:ext cx="63500" cy="368300"/>
          </a:xfrm>
          <a:prstGeom prst="rect">
            <a:avLst/>
          </a:prstGeom>
          <a:solidFill>
            <a:srgbClr val="C7B7E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9D553CF2-1FF1-8FA2-5EDB-39CC8C565A57}"/>
              </a:ext>
            </a:extLst>
          </p:cNvPr>
          <p:cNvSpPr txBox="1"/>
          <p:nvPr/>
        </p:nvSpPr>
        <p:spPr>
          <a:xfrm>
            <a:off x="838200" y="2501900"/>
            <a:ext cx="31496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1600" b="1">
                <a:solidFill>
                  <a:srgbClr val="6550B5"/>
                </a:solidFill>
                <a:latin typeface="Aptos" panose="020B0004020202020204" pitchFamily="34" charset="0"/>
              </a:rPr>
              <a:t>Explorar os meses</a:t>
            </a:r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A6E3251E-5AB8-2067-9B18-6616923697D1}"/>
              </a:ext>
            </a:extLst>
          </p:cNvPr>
          <p:cNvSpPr txBox="1"/>
          <p:nvPr/>
        </p:nvSpPr>
        <p:spPr>
          <a:xfrm>
            <a:off x="838200" y="3009900"/>
            <a:ext cx="3149600" cy="19236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1250">
                <a:solidFill>
                  <a:srgbClr val="697187"/>
                </a:solidFill>
                <a:latin typeface="Aptos" panose="020B0004020202020204" pitchFamily="34" charset="0"/>
              </a:rPr>
              <a:t>Avançar, voltar e selecionar uma data.</a:t>
            </a:r>
          </a:p>
        </p:txBody>
      </p:sp>
      <p:sp>
        <p:nvSpPr>
          <p:cNvPr id="12" name="Retângulo 11">
            <a:extLst>
              <a:ext uri="{FF2B5EF4-FFF2-40B4-BE49-F238E27FC236}">
                <a16:creationId xmlns:a16="http://schemas.microsoft.com/office/drawing/2014/main" id="{862D4690-B019-4944-D293-3C39D583776C}"/>
              </a:ext>
            </a:extLst>
          </p:cNvPr>
          <p:cNvSpPr/>
          <p:nvPr/>
        </p:nvSpPr>
        <p:spPr>
          <a:xfrm>
            <a:off x="609600" y="3733800"/>
            <a:ext cx="63500" cy="368300"/>
          </a:xfrm>
          <a:prstGeom prst="rect">
            <a:avLst/>
          </a:prstGeom>
          <a:solidFill>
            <a:srgbClr val="C7B7E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83B940FC-8AF5-4438-B4DA-F6F7B08383DD}"/>
              </a:ext>
            </a:extLst>
          </p:cNvPr>
          <p:cNvSpPr txBox="1"/>
          <p:nvPr/>
        </p:nvSpPr>
        <p:spPr>
          <a:xfrm>
            <a:off x="838200" y="3708400"/>
            <a:ext cx="31496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1600" b="1">
                <a:solidFill>
                  <a:srgbClr val="6550B5"/>
                </a:solidFill>
                <a:latin typeface="Aptos" panose="020B0004020202020204" pitchFamily="34" charset="0"/>
              </a:rPr>
              <a:t>Encontrar entregas</a:t>
            </a:r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8012CCB8-0140-F62E-3009-714A6960CE82}"/>
              </a:ext>
            </a:extLst>
          </p:cNvPr>
          <p:cNvSpPr txBox="1"/>
          <p:nvPr/>
        </p:nvSpPr>
        <p:spPr>
          <a:xfrm>
            <a:off x="838200" y="4216400"/>
            <a:ext cx="3149600" cy="3847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1250">
                <a:solidFill>
                  <a:srgbClr val="697187"/>
                </a:solidFill>
                <a:latin typeface="Aptos" panose="020B0004020202020204" pitchFamily="34" charset="0"/>
              </a:rPr>
              <a:t>Marcadores por prioridade e filtro de disciplina.</a:t>
            </a:r>
          </a:p>
        </p:txBody>
      </p:sp>
      <p:sp>
        <p:nvSpPr>
          <p:cNvPr id="15" name="Retângulo 14">
            <a:extLst>
              <a:ext uri="{FF2B5EF4-FFF2-40B4-BE49-F238E27FC236}">
                <a16:creationId xmlns:a16="http://schemas.microsoft.com/office/drawing/2014/main" id="{3F9EDCD6-BA16-1415-0761-04FF2479246D}"/>
              </a:ext>
            </a:extLst>
          </p:cNvPr>
          <p:cNvSpPr/>
          <p:nvPr/>
        </p:nvSpPr>
        <p:spPr>
          <a:xfrm>
            <a:off x="609600" y="4940300"/>
            <a:ext cx="63500" cy="368300"/>
          </a:xfrm>
          <a:prstGeom prst="rect">
            <a:avLst/>
          </a:prstGeom>
          <a:solidFill>
            <a:srgbClr val="C7B7E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6" name="CaixaDeTexto 15">
            <a:extLst>
              <a:ext uri="{FF2B5EF4-FFF2-40B4-BE49-F238E27FC236}">
                <a16:creationId xmlns:a16="http://schemas.microsoft.com/office/drawing/2014/main" id="{C4F49522-42C5-9305-D86F-259BC9B50412}"/>
              </a:ext>
            </a:extLst>
          </p:cNvPr>
          <p:cNvSpPr txBox="1"/>
          <p:nvPr/>
        </p:nvSpPr>
        <p:spPr>
          <a:xfrm>
            <a:off x="838200" y="4914900"/>
            <a:ext cx="31496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1600" b="1">
                <a:solidFill>
                  <a:srgbClr val="6550B5"/>
                </a:solidFill>
                <a:latin typeface="Aptos" panose="020B0004020202020204" pitchFamily="34" charset="0"/>
              </a:rPr>
              <a:t>Abrir os detalhes</a:t>
            </a:r>
          </a:p>
        </p:txBody>
      </p:sp>
      <p:sp>
        <p:nvSpPr>
          <p:cNvPr id="17" name="CaixaDeTexto 16">
            <a:extLst>
              <a:ext uri="{FF2B5EF4-FFF2-40B4-BE49-F238E27FC236}">
                <a16:creationId xmlns:a16="http://schemas.microsoft.com/office/drawing/2014/main" id="{21C9E264-DC73-30B7-97FD-69113CE32D2A}"/>
              </a:ext>
            </a:extLst>
          </p:cNvPr>
          <p:cNvSpPr txBox="1"/>
          <p:nvPr/>
        </p:nvSpPr>
        <p:spPr>
          <a:xfrm>
            <a:off x="838200" y="5422900"/>
            <a:ext cx="3149600" cy="19236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1250">
                <a:solidFill>
                  <a:srgbClr val="697187"/>
                </a:solidFill>
                <a:latin typeface="Aptos" panose="020B0004020202020204" pitchFamily="34" charset="0"/>
              </a:rPr>
              <a:t>O cartão do dia leva ao registro da atividade.</a:t>
            </a:r>
          </a:p>
        </p:txBody>
      </p:sp>
      <p:sp>
        <p:nvSpPr>
          <p:cNvPr id="18" name="Retângulo: Cantos Arredondados 17">
            <a:extLst>
              <a:ext uri="{FF2B5EF4-FFF2-40B4-BE49-F238E27FC236}">
                <a16:creationId xmlns:a16="http://schemas.microsoft.com/office/drawing/2014/main" id="{0FAA2E2E-9FC5-0FC1-78CC-48A6A1CE43C8}"/>
              </a:ext>
            </a:extLst>
          </p:cNvPr>
          <p:cNvSpPr/>
          <p:nvPr/>
        </p:nvSpPr>
        <p:spPr>
          <a:xfrm>
            <a:off x="4241800" y="2463800"/>
            <a:ext cx="7340600" cy="3771900"/>
          </a:xfrm>
          <a:prstGeom prst="roundRect">
            <a:avLst>
              <a:gd name="adj" fmla="val 6000"/>
            </a:avLst>
          </a:prstGeom>
          <a:solidFill>
            <a:srgbClr val="EDE8F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9" name="Retângulo: Cantos Arredondados 18">
            <a:extLst>
              <a:ext uri="{FF2B5EF4-FFF2-40B4-BE49-F238E27FC236}">
                <a16:creationId xmlns:a16="http://schemas.microsoft.com/office/drawing/2014/main" id="{D3EFC0AA-EBA7-8CF2-4745-9EAC6219CF10}"/>
              </a:ext>
            </a:extLst>
          </p:cNvPr>
          <p:cNvSpPr/>
          <p:nvPr/>
        </p:nvSpPr>
        <p:spPr>
          <a:xfrm>
            <a:off x="5447145" y="2527300"/>
            <a:ext cx="4929910" cy="3429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21" name="Imagem 20" descr="Navegação mensal, seleção de dia e entregas reais">
            <a:extLst>
              <a:ext uri="{FF2B5EF4-FFF2-40B4-BE49-F238E27FC236}">
                <a16:creationId xmlns:a16="http://schemas.microsoft.com/office/drawing/2014/main" id="{C7B70D2A-4BCF-7217-A4E8-08631B9ECC45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10645" y="2590800"/>
            <a:ext cx="4802909" cy="3302000"/>
          </a:xfrm>
          <a:prstGeom prst="rect">
            <a:avLst/>
          </a:prstGeom>
        </p:spPr>
      </p:pic>
      <p:sp>
        <p:nvSpPr>
          <p:cNvPr id="22" name="CaixaDeTexto 21">
            <a:extLst>
              <a:ext uri="{FF2B5EF4-FFF2-40B4-BE49-F238E27FC236}">
                <a16:creationId xmlns:a16="http://schemas.microsoft.com/office/drawing/2014/main" id="{AD3CEF09-F631-91D2-0E6E-52391C8EF28B}"/>
              </a:ext>
            </a:extLst>
          </p:cNvPr>
          <p:cNvSpPr txBox="1"/>
          <p:nvPr/>
        </p:nvSpPr>
        <p:spPr>
          <a:xfrm>
            <a:off x="4470400" y="5994400"/>
            <a:ext cx="68961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900">
                <a:solidFill>
                  <a:srgbClr val="8B7CA6"/>
                </a:solidFill>
                <a:latin typeface="Aptos" panose="020B0004020202020204" pitchFamily="34" charset="0"/>
              </a:rPr>
              <a:t>Navegação mensal, seleção de dia e entregas reais</a:t>
            </a:r>
          </a:p>
        </p:txBody>
      </p:sp>
    </p:spTree>
    <p:extLst>
      <p:ext uri="{BB962C8B-B14F-4D97-AF65-F5344CB8AC3E}">
        <p14:creationId xmlns:p14="http://schemas.microsoft.com/office/powerpoint/2010/main" val="105038239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71FEA9A-65BD-A1E7-65A7-166DA88F4C96}"/>
              </a:ext>
            </a:extLst>
          </p:cNvPr>
          <p:cNvSpPr/>
          <p:nvPr/>
        </p:nvSpPr>
        <p:spPr>
          <a:xfrm>
            <a:off x="609600" y="406400"/>
            <a:ext cx="63500" cy="254000"/>
          </a:xfrm>
          <a:prstGeom prst="rect">
            <a:avLst/>
          </a:prstGeom>
          <a:solidFill>
            <a:srgbClr val="7660D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D29007FB-A84F-8A33-0BED-CC37B539FC17}"/>
              </a:ext>
            </a:extLst>
          </p:cNvPr>
          <p:cNvSpPr txBox="1"/>
          <p:nvPr/>
        </p:nvSpPr>
        <p:spPr>
          <a:xfrm>
            <a:off x="812800" y="431800"/>
            <a:ext cx="102235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1000" b="1">
                <a:solidFill>
                  <a:srgbClr val="7660D3"/>
                </a:solidFill>
                <a:latin typeface="Aptos" panose="020B0004020202020204" pitchFamily="34" charset="0"/>
              </a:rPr>
              <a:t>ETAPA 6 · TELA 3 · RECUPERAÇÃO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A18B54B2-7120-E64F-2757-EAC7E12C11AB}"/>
              </a:ext>
            </a:extLst>
          </p:cNvPr>
          <p:cNvSpPr txBox="1"/>
          <p:nvPr/>
        </p:nvSpPr>
        <p:spPr>
          <a:xfrm>
            <a:off x="609600" y="889000"/>
            <a:ext cx="10985500" cy="44627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2900" b="1">
                <a:solidFill>
                  <a:srgbClr val="273047"/>
                </a:solidFill>
                <a:latin typeface="Aptos" panose="020B0004020202020204" pitchFamily="34" charset="0"/>
              </a:rPr>
              <a:t>Recuperar o planejamento, um dia de cada vez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BB07701B-6D92-D1CA-AE64-D56E1736B124}"/>
              </a:ext>
            </a:extLst>
          </p:cNvPr>
          <p:cNvSpPr txBox="1"/>
          <p:nvPr/>
        </p:nvSpPr>
        <p:spPr>
          <a:xfrm>
            <a:off x="609600" y="1816100"/>
            <a:ext cx="10998200" cy="2000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1300">
                <a:solidFill>
                  <a:srgbClr val="7B7F93"/>
                </a:solidFill>
                <a:latin typeface="Aptos" panose="020B0004020202020204" pitchFamily="34" charset="0"/>
              </a:rPr>
              <a:t>Pendências ordenadas por prazo e esforço, sem mudar as regras da turma.</a:t>
            </a:r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A2E40B35-DB4C-216A-AFB7-FD29EA8AB98A}"/>
              </a:ext>
            </a:extLst>
          </p:cNvPr>
          <p:cNvSpPr/>
          <p:nvPr/>
        </p:nvSpPr>
        <p:spPr>
          <a:xfrm>
            <a:off x="609600" y="6426200"/>
            <a:ext cx="10972800" cy="12700"/>
          </a:xfrm>
          <a:prstGeom prst="rect">
            <a:avLst/>
          </a:prstGeom>
          <a:solidFill>
            <a:srgbClr val="E2DFE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211E11D1-980C-5E0F-03B8-6E551D1BCDEC}"/>
              </a:ext>
            </a:extLst>
          </p:cNvPr>
          <p:cNvSpPr txBox="1"/>
          <p:nvPr/>
        </p:nvSpPr>
        <p:spPr>
          <a:xfrm>
            <a:off x="609600" y="6553200"/>
            <a:ext cx="9652000" cy="12311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800">
                <a:solidFill>
                  <a:srgbClr val="9690A5"/>
                </a:solidFill>
                <a:latin typeface="Aptos" panose="020B0004020202020204" pitchFamily="34" charset="0"/>
              </a:rPr>
              <a:t>Fonte: Etapa 6 · Tela recomendada 4 + diferencial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E671A821-4B68-E337-0017-1DE139B7A8A0}"/>
              </a:ext>
            </a:extLst>
          </p:cNvPr>
          <p:cNvSpPr txBox="1"/>
          <p:nvPr/>
        </p:nvSpPr>
        <p:spPr>
          <a:xfrm>
            <a:off x="10896600" y="6515100"/>
            <a:ext cx="7493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1000" b="1">
                <a:solidFill>
                  <a:srgbClr val="7660D3"/>
                </a:solidFill>
                <a:latin typeface="Aptos" panose="020B0004020202020204" pitchFamily="34" charset="0"/>
              </a:rPr>
              <a:t>25 / 40</a:t>
            </a:r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2F443583-5037-8C34-79D3-37367463971D}"/>
              </a:ext>
            </a:extLst>
          </p:cNvPr>
          <p:cNvSpPr/>
          <p:nvPr/>
        </p:nvSpPr>
        <p:spPr>
          <a:xfrm>
            <a:off x="609600" y="2527300"/>
            <a:ext cx="63500" cy="368300"/>
          </a:xfrm>
          <a:prstGeom prst="rect">
            <a:avLst/>
          </a:prstGeom>
          <a:solidFill>
            <a:srgbClr val="C7B7E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660A8571-6DBF-6164-AC5A-15C4CB4659AA}"/>
              </a:ext>
            </a:extLst>
          </p:cNvPr>
          <p:cNvSpPr txBox="1"/>
          <p:nvPr/>
        </p:nvSpPr>
        <p:spPr>
          <a:xfrm>
            <a:off x="838200" y="2501900"/>
            <a:ext cx="31496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1600" b="1">
                <a:solidFill>
                  <a:srgbClr val="6550B5"/>
                </a:solidFill>
                <a:latin typeface="Aptos" panose="020B0004020202020204" pitchFamily="34" charset="0"/>
              </a:rPr>
              <a:t>Identificar pendências</a:t>
            </a:r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387DAD43-7747-F6D3-BBA2-0B7936E868CD}"/>
              </a:ext>
            </a:extLst>
          </p:cNvPr>
          <p:cNvSpPr txBox="1"/>
          <p:nvPr/>
        </p:nvSpPr>
        <p:spPr>
          <a:xfrm>
            <a:off x="838200" y="3009900"/>
            <a:ext cx="3149600" cy="3847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1250">
                <a:solidFill>
                  <a:srgbClr val="697187"/>
                </a:solidFill>
                <a:latin typeface="Aptos" panose="020B0004020202020204" pitchFamily="34" charset="0"/>
              </a:rPr>
              <a:t>Atividades atrasadas e próximas do vencimento.</a:t>
            </a:r>
          </a:p>
        </p:txBody>
      </p:sp>
      <p:sp>
        <p:nvSpPr>
          <p:cNvPr id="12" name="Retângulo 11">
            <a:extLst>
              <a:ext uri="{FF2B5EF4-FFF2-40B4-BE49-F238E27FC236}">
                <a16:creationId xmlns:a16="http://schemas.microsoft.com/office/drawing/2014/main" id="{9FA8BC80-53F6-184C-2060-785E18609ACF}"/>
              </a:ext>
            </a:extLst>
          </p:cNvPr>
          <p:cNvSpPr/>
          <p:nvPr/>
        </p:nvSpPr>
        <p:spPr>
          <a:xfrm>
            <a:off x="609600" y="3733800"/>
            <a:ext cx="63500" cy="368300"/>
          </a:xfrm>
          <a:prstGeom prst="rect">
            <a:avLst/>
          </a:prstGeom>
          <a:solidFill>
            <a:srgbClr val="C7B7E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46A4B061-1762-2F28-73E6-1249BC8A0405}"/>
              </a:ext>
            </a:extLst>
          </p:cNvPr>
          <p:cNvSpPr txBox="1"/>
          <p:nvPr/>
        </p:nvSpPr>
        <p:spPr>
          <a:xfrm>
            <a:off x="838200" y="3708400"/>
            <a:ext cx="31496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1600" b="1">
                <a:solidFill>
                  <a:srgbClr val="6550B5"/>
                </a:solidFill>
                <a:latin typeface="Aptos" panose="020B0004020202020204" pitchFamily="34" charset="0"/>
              </a:rPr>
              <a:t>Aceitar ou ajustar</a:t>
            </a:r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F9C7BBAB-D600-7125-2EFB-F86508465AC8}"/>
              </a:ext>
            </a:extLst>
          </p:cNvPr>
          <p:cNvSpPr txBox="1"/>
          <p:nvPr/>
        </p:nvSpPr>
        <p:spPr>
          <a:xfrm>
            <a:off x="838200" y="4216400"/>
            <a:ext cx="3149600" cy="19236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1250">
                <a:solidFill>
                  <a:srgbClr val="697187"/>
                </a:solidFill>
                <a:latin typeface="Aptos" panose="020B0004020202020204" pitchFamily="34" charset="0"/>
              </a:rPr>
              <a:t>Salvar plano pessoal e editar o dia de estudo.</a:t>
            </a:r>
          </a:p>
        </p:txBody>
      </p:sp>
      <p:sp>
        <p:nvSpPr>
          <p:cNvPr id="15" name="Retângulo 14">
            <a:extLst>
              <a:ext uri="{FF2B5EF4-FFF2-40B4-BE49-F238E27FC236}">
                <a16:creationId xmlns:a16="http://schemas.microsoft.com/office/drawing/2014/main" id="{4EFC9F75-DB43-97C5-BCD1-2CE5BE94A4DB}"/>
              </a:ext>
            </a:extLst>
          </p:cNvPr>
          <p:cNvSpPr/>
          <p:nvPr/>
        </p:nvSpPr>
        <p:spPr>
          <a:xfrm>
            <a:off x="609600" y="4940300"/>
            <a:ext cx="63500" cy="368300"/>
          </a:xfrm>
          <a:prstGeom prst="rect">
            <a:avLst/>
          </a:prstGeom>
          <a:solidFill>
            <a:srgbClr val="C7B7E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6" name="CaixaDeTexto 15">
            <a:extLst>
              <a:ext uri="{FF2B5EF4-FFF2-40B4-BE49-F238E27FC236}">
                <a16:creationId xmlns:a16="http://schemas.microsoft.com/office/drawing/2014/main" id="{9DF5754F-DF30-F896-5A26-B0118D19D56D}"/>
              </a:ext>
            </a:extLst>
          </p:cNvPr>
          <p:cNvSpPr txBox="1"/>
          <p:nvPr/>
        </p:nvSpPr>
        <p:spPr>
          <a:xfrm>
            <a:off x="838200" y="4914900"/>
            <a:ext cx="31496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1600" b="1">
                <a:solidFill>
                  <a:srgbClr val="6550B5"/>
                </a:solidFill>
                <a:latin typeface="Aptos" panose="020B0004020202020204" pitchFamily="34" charset="0"/>
              </a:rPr>
              <a:t>Preservar prazo oficial</a:t>
            </a:r>
          </a:p>
        </p:txBody>
      </p:sp>
      <p:sp>
        <p:nvSpPr>
          <p:cNvPr id="17" name="CaixaDeTexto 16">
            <a:extLst>
              <a:ext uri="{FF2B5EF4-FFF2-40B4-BE49-F238E27FC236}">
                <a16:creationId xmlns:a16="http://schemas.microsoft.com/office/drawing/2014/main" id="{B3720278-7A97-4CED-FC4E-07AB5106BC42}"/>
              </a:ext>
            </a:extLst>
          </p:cNvPr>
          <p:cNvSpPr txBox="1"/>
          <p:nvPr/>
        </p:nvSpPr>
        <p:spPr>
          <a:xfrm>
            <a:off x="838200" y="5422900"/>
            <a:ext cx="3149600" cy="3847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1250">
                <a:solidFill>
                  <a:srgbClr val="697187"/>
                </a:solidFill>
                <a:latin typeface="Aptos" panose="020B0004020202020204" pitchFamily="34" charset="0"/>
              </a:rPr>
              <a:t>A sugestão não concede prorrogação automaticamente.</a:t>
            </a:r>
          </a:p>
        </p:txBody>
      </p:sp>
      <p:sp>
        <p:nvSpPr>
          <p:cNvPr id="18" name="Retângulo: Cantos Arredondados 17">
            <a:extLst>
              <a:ext uri="{FF2B5EF4-FFF2-40B4-BE49-F238E27FC236}">
                <a16:creationId xmlns:a16="http://schemas.microsoft.com/office/drawing/2014/main" id="{D388F2D5-EEFA-4B8A-25E2-B287291E5526}"/>
              </a:ext>
            </a:extLst>
          </p:cNvPr>
          <p:cNvSpPr/>
          <p:nvPr/>
        </p:nvSpPr>
        <p:spPr>
          <a:xfrm>
            <a:off x="4241800" y="2463800"/>
            <a:ext cx="7340600" cy="3771900"/>
          </a:xfrm>
          <a:prstGeom prst="roundRect">
            <a:avLst>
              <a:gd name="adj" fmla="val 6000"/>
            </a:avLst>
          </a:prstGeom>
          <a:solidFill>
            <a:srgbClr val="EDE8F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9" name="Retângulo: Cantos Arredondados 18">
            <a:extLst>
              <a:ext uri="{FF2B5EF4-FFF2-40B4-BE49-F238E27FC236}">
                <a16:creationId xmlns:a16="http://schemas.microsoft.com/office/drawing/2014/main" id="{193C3285-8440-E5C7-CA5C-47AE1A108B14}"/>
              </a:ext>
            </a:extLst>
          </p:cNvPr>
          <p:cNvSpPr/>
          <p:nvPr/>
        </p:nvSpPr>
        <p:spPr>
          <a:xfrm>
            <a:off x="5447145" y="2527300"/>
            <a:ext cx="4929910" cy="3429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21" name="Imagem 20" descr="Plano aceito com etapas e dias de estudo ajustáveis">
            <a:extLst>
              <a:ext uri="{FF2B5EF4-FFF2-40B4-BE49-F238E27FC236}">
                <a16:creationId xmlns:a16="http://schemas.microsoft.com/office/drawing/2014/main" id="{7E6E7BE5-A6CA-D4CD-D7C0-1E5EAC38D0A8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10645" y="2590800"/>
            <a:ext cx="4802909" cy="3302000"/>
          </a:xfrm>
          <a:prstGeom prst="rect">
            <a:avLst/>
          </a:prstGeom>
        </p:spPr>
      </p:pic>
      <p:sp>
        <p:nvSpPr>
          <p:cNvPr id="22" name="CaixaDeTexto 21">
            <a:extLst>
              <a:ext uri="{FF2B5EF4-FFF2-40B4-BE49-F238E27FC236}">
                <a16:creationId xmlns:a16="http://schemas.microsoft.com/office/drawing/2014/main" id="{A93A5D34-8FD2-EC14-CF04-14D4EE6181D9}"/>
              </a:ext>
            </a:extLst>
          </p:cNvPr>
          <p:cNvSpPr txBox="1"/>
          <p:nvPr/>
        </p:nvSpPr>
        <p:spPr>
          <a:xfrm>
            <a:off x="4470400" y="5994400"/>
            <a:ext cx="68961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900">
                <a:solidFill>
                  <a:srgbClr val="8B7CA6"/>
                </a:solidFill>
                <a:latin typeface="Aptos" panose="020B0004020202020204" pitchFamily="34" charset="0"/>
              </a:rPr>
              <a:t>Plano aceito com etapas e dias de estudo ajustáveis</a:t>
            </a:r>
          </a:p>
        </p:txBody>
      </p:sp>
    </p:spTree>
    <p:extLst>
      <p:ext uri="{BB962C8B-B14F-4D97-AF65-F5344CB8AC3E}">
        <p14:creationId xmlns:p14="http://schemas.microsoft.com/office/powerpoint/2010/main" val="54842997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CFDDD740-B8CB-7F41-0842-10D2A74858CB}"/>
              </a:ext>
            </a:extLst>
          </p:cNvPr>
          <p:cNvSpPr/>
          <p:nvPr/>
        </p:nvSpPr>
        <p:spPr>
          <a:xfrm>
            <a:off x="609600" y="406400"/>
            <a:ext cx="63500" cy="254000"/>
          </a:xfrm>
          <a:prstGeom prst="rect">
            <a:avLst/>
          </a:prstGeom>
          <a:solidFill>
            <a:srgbClr val="7660D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2C6FD931-0379-FCFA-FC39-16464434EF7C}"/>
              </a:ext>
            </a:extLst>
          </p:cNvPr>
          <p:cNvSpPr txBox="1"/>
          <p:nvPr/>
        </p:nvSpPr>
        <p:spPr>
          <a:xfrm>
            <a:off x="812800" y="431800"/>
            <a:ext cx="102235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1000" b="1">
                <a:solidFill>
                  <a:srgbClr val="7660D3"/>
                </a:solidFill>
                <a:latin typeface="Aptos" panose="020B0004020202020204" pitchFamily="34" charset="0"/>
              </a:rPr>
              <a:t>ETAPA 6 · TELA 4 · PROFESSOR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DC8FB1FE-05DD-8974-8696-264ABFC520C4}"/>
              </a:ext>
            </a:extLst>
          </p:cNvPr>
          <p:cNvSpPr txBox="1"/>
          <p:nvPr/>
        </p:nvSpPr>
        <p:spPr>
          <a:xfrm>
            <a:off x="609600" y="889000"/>
            <a:ext cx="10985500" cy="44627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2900" b="1">
                <a:solidFill>
                  <a:srgbClr val="273047"/>
                </a:solidFill>
                <a:latin typeface="Aptos" panose="020B0004020202020204" pitchFamily="34" charset="0"/>
              </a:rPr>
              <a:t>Publicar, acompanhar e orientar a turma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41127B16-2762-40AA-6D63-CB664641815D}"/>
              </a:ext>
            </a:extLst>
          </p:cNvPr>
          <p:cNvSpPr txBox="1"/>
          <p:nvPr/>
        </p:nvSpPr>
        <p:spPr>
          <a:xfrm>
            <a:off x="609600" y="1816100"/>
            <a:ext cx="10998200" cy="2000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1300">
                <a:solidFill>
                  <a:srgbClr val="7B7F93"/>
                </a:solidFill>
                <a:latin typeface="Aptos" panose="020B0004020202020204" pitchFamily="34" charset="0"/>
              </a:rPr>
              <a:t>Entregas individuais preservadas sob uma atividade compartilhada.</a:t>
            </a:r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7FF63CE8-0A29-1D1D-EBF0-5A10041FA774}"/>
              </a:ext>
            </a:extLst>
          </p:cNvPr>
          <p:cNvSpPr/>
          <p:nvPr/>
        </p:nvSpPr>
        <p:spPr>
          <a:xfrm>
            <a:off x="609600" y="6426200"/>
            <a:ext cx="10972800" cy="12700"/>
          </a:xfrm>
          <a:prstGeom prst="rect">
            <a:avLst/>
          </a:prstGeom>
          <a:solidFill>
            <a:srgbClr val="E2DFE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93D2AE87-5D3F-E310-D6A4-B89B718EF63B}"/>
              </a:ext>
            </a:extLst>
          </p:cNvPr>
          <p:cNvSpPr txBox="1"/>
          <p:nvPr/>
        </p:nvSpPr>
        <p:spPr>
          <a:xfrm>
            <a:off x="609600" y="6553200"/>
            <a:ext cx="9652000" cy="12311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800">
                <a:solidFill>
                  <a:srgbClr val="9690A5"/>
                </a:solidFill>
                <a:latin typeface="Aptos" panose="020B0004020202020204" pitchFamily="34" charset="0"/>
              </a:rPr>
              <a:t>Fonte: Etapa 6 · Tela recomendada 5 e perfil professor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BE98A85F-BBA6-5AF1-25D7-DE2057D1E8A5}"/>
              </a:ext>
            </a:extLst>
          </p:cNvPr>
          <p:cNvSpPr txBox="1"/>
          <p:nvPr/>
        </p:nvSpPr>
        <p:spPr>
          <a:xfrm>
            <a:off x="10896600" y="6515100"/>
            <a:ext cx="7493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1000" b="1">
                <a:solidFill>
                  <a:srgbClr val="7660D3"/>
                </a:solidFill>
                <a:latin typeface="Aptos" panose="020B0004020202020204" pitchFamily="34" charset="0"/>
              </a:rPr>
              <a:t>26 / 40</a:t>
            </a:r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D698F45E-1AE6-CAB8-36E7-92A4C8E571DD}"/>
              </a:ext>
            </a:extLst>
          </p:cNvPr>
          <p:cNvSpPr/>
          <p:nvPr/>
        </p:nvSpPr>
        <p:spPr>
          <a:xfrm>
            <a:off x="609600" y="2527300"/>
            <a:ext cx="63500" cy="368300"/>
          </a:xfrm>
          <a:prstGeom prst="rect">
            <a:avLst/>
          </a:prstGeom>
          <a:solidFill>
            <a:srgbClr val="C7B7E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5EC64B6A-0363-8D06-8BF8-0CA583FB3130}"/>
              </a:ext>
            </a:extLst>
          </p:cNvPr>
          <p:cNvSpPr txBox="1"/>
          <p:nvPr/>
        </p:nvSpPr>
        <p:spPr>
          <a:xfrm>
            <a:off x="838200" y="2501900"/>
            <a:ext cx="31496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1600" b="1">
                <a:solidFill>
                  <a:srgbClr val="6550B5"/>
                </a:solidFill>
                <a:latin typeface="Aptos" panose="020B0004020202020204" pitchFamily="34" charset="0"/>
              </a:rPr>
              <a:t>Publicar para a turma</a:t>
            </a:r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286D953F-F0A7-2302-6EF1-FD358F56509E}"/>
              </a:ext>
            </a:extLst>
          </p:cNvPr>
          <p:cNvSpPr txBox="1"/>
          <p:nvPr/>
        </p:nvSpPr>
        <p:spPr>
          <a:xfrm>
            <a:off x="838200" y="3009900"/>
            <a:ext cx="3149600" cy="19236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1250">
                <a:solidFill>
                  <a:srgbClr val="697187"/>
                </a:solidFill>
                <a:latin typeface="Aptos" panose="020B0004020202020204" pitchFamily="34" charset="0"/>
              </a:rPr>
              <a:t>Disciplina, prazo, instruções e etapas.</a:t>
            </a:r>
          </a:p>
        </p:txBody>
      </p:sp>
      <p:sp>
        <p:nvSpPr>
          <p:cNvPr id="12" name="Retângulo 11">
            <a:extLst>
              <a:ext uri="{FF2B5EF4-FFF2-40B4-BE49-F238E27FC236}">
                <a16:creationId xmlns:a16="http://schemas.microsoft.com/office/drawing/2014/main" id="{E519434F-AF94-AA41-A60B-67A3393969C4}"/>
              </a:ext>
            </a:extLst>
          </p:cNvPr>
          <p:cNvSpPr/>
          <p:nvPr/>
        </p:nvSpPr>
        <p:spPr>
          <a:xfrm>
            <a:off x="609600" y="3733800"/>
            <a:ext cx="63500" cy="368300"/>
          </a:xfrm>
          <a:prstGeom prst="rect">
            <a:avLst/>
          </a:prstGeom>
          <a:solidFill>
            <a:srgbClr val="C7B7E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FD266374-F972-4E7B-768D-716196207DCA}"/>
              </a:ext>
            </a:extLst>
          </p:cNvPr>
          <p:cNvSpPr txBox="1"/>
          <p:nvPr/>
        </p:nvSpPr>
        <p:spPr>
          <a:xfrm>
            <a:off x="838200" y="3708400"/>
            <a:ext cx="31496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1600" b="1">
                <a:solidFill>
                  <a:srgbClr val="6550B5"/>
                </a:solidFill>
                <a:latin typeface="Aptos" panose="020B0004020202020204" pitchFamily="34" charset="0"/>
              </a:rPr>
              <a:t>Acompanhar entregas</a:t>
            </a:r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92267C98-0BD9-DC41-ED15-23BAACBB9B29}"/>
              </a:ext>
            </a:extLst>
          </p:cNvPr>
          <p:cNvSpPr txBox="1"/>
          <p:nvPr/>
        </p:nvSpPr>
        <p:spPr>
          <a:xfrm>
            <a:off x="838200" y="4216400"/>
            <a:ext cx="3149600" cy="19236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1250">
                <a:solidFill>
                  <a:srgbClr val="697187"/>
                </a:solidFill>
                <a:latin typeface="Aptos" panose="020B0004020202020204" pitchFamily="34" charset="0"/>
              </a:rPr>
              <a:t>Progresso separado por estudante.</a:t>
            </a:r>
          </a:p>
        </p:txBody>
      </p:sp>
      <p:sp>
        <p:nvSpPr>
          <p:cNvPr id="15" name="Retângulo 14">
            <a:extLst>
              <a:ext uri="{FF2B5EF4-FFF2-40B4-BE49-F238E27FC236}">
                <a16:creationId xmlns:a16="http://schemas.microsoft.com/office/drawing/2014/main" id="{BB29FDCE-7B9B-1FB6-D900-2E60FA3E4FD0}"/>
              </a:ext>
            </a:extLst>
          </p:cNvPr>
          <p:cNvSpPr/>
          <p:nvPr/>
        </p:nvSpPr>
        <p:spPr>
          <a:xfrm>
            <a:off x="609600" y="4940300"/>
            <a:ext cx="63500" cy="368300"/>
          </a:xfrm>
          <a:prstGeom prst="rect">
            <a:avLst/>
          </a:prstGeom>
          <a:solidFill>
            <a:srgbClr val="C7B7E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6" name="CaixaDeTexto 15">
            <a:extLst>
              <a:ext uri="{FF2B5EF4-FFF2-40B4-BE49-F238E27FC236}">
                <a16:creationId xmlns:a16="http://schemas.microsoft.com/office/drawing/2014/main" id="{711B8E1B-A351-5EB8-D8E0-CE453A9C6741}"/>
              </a:ext>
            </a:extLst>
          </p:cNvPr>
          <p:cNvSpPr txBox="1"/>
          <p:nvPr/>
        </p:nvSpPr>
        <p:spPr>
          <a:xfrm>
            <a:off x="838200" y="4914900"/>
            <a:ext cx="31496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1600" b="1">
                <a:solidFill>
                  <a:srgbClr val="6550B5"/>
                </a:solidFill>
                <a:latin typeface="Aptos" panose="020B0004020202020204" pitchFamily="34" charset="0"/>
              </a:rPr>
              <a:t>Decidir prorrogação</a:t>
            </a:r>
          </a:p>
        </p:txBody>
      </p:sp>
      <p:sp>
        <p:nvSpPr>
          <p:cNvPr id="17" name="CaixaDeTexto 16">
            <a:extLst>
              <a:ext uri="{FF2B5EF4-FFF2-40B4-BE49-F238E27FC236}">
                <a16:creationId xmlns:a16="http://schemas.microsoft.com/office/drawing/2014/main" id="{619C31E6-ED07-3489-A496-A391117AE169}"/>
              </a:ext>
            </a:extLst>
          </p:cNvPr>
          <p:cNvSpPr txBox="1"/>
          <p:nvPr/>
        </p:nvSpPr>
        <p:spPr>
          <a:xfrm>
            <a:off x="838200" y="5422900"/>
            <a:ext cx="3149600" cy="3847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1250">
                <a:solidFill>
                  <a:srgbClr val="697187"/>
                </a:solidFill>
                <a:latin typeface="Aptos" panose="020B0004020202020204" pitchFamily="34" charset="0"/>
              </a:rPr>
              <a:t>Aprovar ou rejeitar com justificativa; aprovação atualiza o prazo.</a:t>
            </a:r>
          </a:p>
        </p:txBody>
      </p:sp>
      <p:sp>
        <p:nvSpPr>
          <p:cNvPr id="18" name="Retângulo: Cantos Arredondados 17">
            <a:extLst>
              <a:ext uri="{FF2B5EF4-FFF2-40B4-BE49-F238E27FC236}">
                <a16:creationId xmlns:a16="http://schemas.microsoft.com/office/drawing/2014/main" id="{F2827761-0F00-2AA8-653C-E29F14DE5BAF}"/>
              </a:ext>
            </a:extLst>
          </p:cNvPr>
          <p:cNvSpPr/>
          <p:nvPr/>
        </p:nvSpPr>
        <p:spPr>
          <a:xfrm>
            <a:off x="4241800" y="2463800"/>
            <a:ext cx="7340600" cy="3771900"/>
          </a:xfrm>
          <a:prstGeom prst="roundRect">
            <a:avLst>
              <a:gd name="adj" fmla="val 6000"/>
            </a:avLst>
          </a:prstGeom>
          <a:solidFill>
            <a:srgbClr val="EDE8F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9" name="Retângulo: Cantos Arredondados 18">
            <a:extLst>
              <a:ext uri="{FF2B5EF4-FFF2-40B4-BE49-F238E27FC236}">
                <a16:creationId xmlns:a16="http://schemas.microsoft.com/office/drawing/2014/main" id="{E7BDBD24-B50E-25D5-F169-687B4BF1127D}"/>
              </a:ext>
            </a:extLst>
          </p:cNvPr>
          <p:cNvSpPr/>
          <p:nvPr/>
        </p:nvSpPr>
        <p:spPr>
          <a:xfrm>
            <a:off x="4318000" y="2826147"/>
            <a:ext cx="3543300" cy="247570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21" name="Imagem 20" descr="Cadastro da atividade com etapas sugeridas">
            <a:extLst>
              <a:ext uri="{FF2B5EF4-FFF2-40B4-BE49-F238E27FC236}">
                <a16:creationId xmlns:a16="http://schemas.microsoft.com/office/drawing/2014/main" id="{94C4BFC3-A7D8-040C-5F46-D7A13E76C5B2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81500" y="2889647"/>
            <a:ext cx="3416300" cy="2348706"/>
          </a:xfrm>
          <a:prstGeom prst="rect">
            <a:avLst/>
          </a:prstGeom>
        </p:spPr>
      </p:pic>
      <p:sp>
        <p:nvSpPr>
          <p:cNvPr id="22" name="CaixaDeTexto 21">
            <a:extLst>
              <a:ext uri="{FF2B5EF4-FFF2-40B4-BE49-F238E27FC236}">
                <a16:creationId xmlns:a16="http://schemas.microsoft.com/office/drawing/2014/main" id="{4377ECDD-FB57-72D3-6857-8B7DEFA2EF8E}"/>
              </a:ext>
            </a:extLst>
          </p:cNvPr>
          <p:cNvSpPr txBox="1"/>
          <p:nvPr/>
        </p:nvSpPr>
        <p:spPr>
          <a:xfrm>
            <a:off x="4381500" y="5537200"/>
            <a:ext cx="33909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1100" b="1">
                <a:solidFill>
                  <a:srgbClr val="75668D"/>
                </a:solidFill>
                <a:latin typeface="Aptos" panose="020B0004020202020204" pitchFamily="34" charset="0"/>
              </a:rPr>
              <a:t>Cadastro da atividade com etapas sugeridas</a:t>
            </a:r>
          </a:p>
        </p:txBody>
      </p:sp>
      <p:sp>
        <p:nvSpPr>
          <p:cNvPr id="23" name="Retângulo: Cantos Arredondados 22">
            <a:extLst>
              <a:ext uri="{FF2B5EF4-FFF2-40B4-BE49-F238E27FC236}">
                <a16:creationId xmlns:a16="http://schemas.microsoft.com/office/drawing/2014/main" id="{308E7B45-803B-B0BA-9F5E-042CE05FDE9C}"/>
              </a:ext>
            </a:extLst>
          </p:cNvPr>
          <p:cNvSpPr/>
          <p:nvPr/>
        </p:nvSpPr>
        <p:spPr>
          <a:xfrm>
            <a:off x="7924800" y="2826147"/>
            <a:ext cx="3543300" cy="247570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25" name="Imagem 24" descr="Acompanhamento por aluno e atividade">
            <a:extLst>
              <a:ext uri="{FF2B5EF4-FFF2-40B4-BE49-F238E27FC236}">
                <a16:creationId xmlns:a16="http://schemas.microsoft.com/office/drawing/2014/main" id="{1FF03348-4EA2-A586-E6DF-1AAD84B76E31}"/>
              </a:ext>
            </a:extLst>
          </p:cNvPr>
          <p:cNvPicPr>
            <a:picLocks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88300" y="2889647"/>
            <a:ext cx="3416300" cy="2348706"/>
          </a:xfrm>
          <a:prstGeom prst="rect">
            <a:avLst/>
          </a:prstGeom>
        </p:spPr>
      </p:pic>
      <p:sp>
        <p:nvSpPr>
          <p:cNvPr id="26" name="CaixaDeTexto 25">
            <a:extLst>
              <a:ext uri="{FF2B5EF4-FFF2-40B4-BE49-F238E27FC236}">
                <a16:creationId xmlns:a16="http://schemas.microsoft.com/office/drawing/2014/main" id="{12049AB0-327D-CFE7-E525-2253F887DA18}"/>
              </a:ext>
            </a:extLst>
          </p:cNvPr>
          <p:cNvSpPr txBox="1"/>
          <p:nvPr/>
        </p:nvSpPr>
        <p:spPr>
          <a:xfrm>
            <a:off x="7988300" y="5537200"/>
            <a:ext cx="33909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1100" b="1">
                <a:solidFill>
                  <a:srgbClr val="75668D"/>
                </a:solidFill>
                <a:latin typeface="Aptos" panose="020B0004020202020204" pitchFamily="34" charset="0"/>
              </a:rPr>
              <a:t>Acompanhamento por aluno e atividade</a:t>
            </a:r>
          </a:p>
        </p:txBody>
      </p:sp>
    </p:spTree>
    <p:extLst>
      <p:ext uri="{BB962C8B-B14F-4D97-AF65-F5344CB8AC3E}">
        <p14:creationId xmlns:p14="http://schemas.microsoft.com/office/powerpoint/2010/main" val="353517727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B046A335-B31F-7354-620B-54ED0200E382}"/>
              </a:ext>
            </a:extLst>
          </p:cNvPr>
          <p:cNvSpPr/>
          <p:nvPr/>
        </p:nvSpPr>
        <p:spPr>
          <a:xfrm>
            <a:off x="609600" y="406400"/>
            <a:ext cx="63500" cy="254000"/>
          </a:xfrm>
          <a:prstGeom prst="rect">
            <a:avLst/>
          </a:prstGeom>
          <a:solidFill>
            <a:srgbClr val="7660D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41C3E534-F344-CE9C-AE3F-F7DBD6EA6427}"/>
              </a:ext>
            </a:extLst>
          </p:cNvPr>
          <p:cNvSpPr txBox="1"/>
          <p:nvPr/>
        </p:nvSpPr>
        <p:spPr>
          <a:xfrm>
            <a:off x="812800" y="431800"/>
            <a:ext cx="102235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1000" b="1">
                <a:solidFill>
                  <a:srgbClr val="7660D3"/>
                </a:solidFill>
                <a:latin typeface="Aptos" panose="020B0004020202020204" pitchFamily="34" charset="0"/>
              </a:rPr>
              <a:t>ETAPA 6 · FERRAMENTAS DE ESTUDO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92FE48E6-7604-5EB0-5C9F-5D2FA0C8D788}"/>
              </a:ext>
            </a:extLst>
          </p:cNvPr>
          <p:cNvSpPr txBox="1"/>
          <p:nvPr/>
        </p:nvSpPr>
        <p:spPr>
          <a:xfrm>
            <a:off x="609600" y="889000"/>
            <a:ext cx="10985500" cy="44627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2900" b="1">
                <a:solidFill>
                  <a:srgbClr val="273047"/>
                </a:solidFill>
                <a:latin typeface="Aptos" panose="020B0004020202020204" pitchFamily="34" charset="0"/>
              </a:rPr>
              <a:t>Organização também apoia a revisão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70939FA3-A963-4C1D-2119-B328404F9230}"/>
              </a:ext>
            </a:extLst>
          </p:cNvPr>
          <p:cNvSpPr txBox="1"/>
          <p:nvPr/>
        </p:nvSpPr>
        <p:spPr>
          <a:xfrm>
            <a:off x="609600" y="1816100"/>
            <a:ext cx="10998200" cy="2000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1300">
                <a:solidFill>
                  <a:srgbClr val="7B7F93"/>
                </a:solidFill>
                <a:latin typeface="Aptos" panose="020B0004020202020204" pitchFamily="34" charset="0"/>
              </a:rPr>
              <a:t>Notas, checklist e quiz mantêm o estudo dentro da jornada.</a:t>
            </a:r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412FC4AB-EE8D-C000-22DE-7F67977BF14F}"/>
              </a:ext>
            </a:extLst>
          </p:cNvPr>
          <p:cNvSpPr/>
          <p:nvPr/>
        </p:nvSpPr>
        <p:spPr>
          <a:xfrm>
            <a:off x="609600" y="6426200"/>
            <a:ext cx="10972800" cy="12700"/>
          </a:xfrm>
          <a:prstGeom prst="rect">
            <a:avLst/>
          </a:prstGeom>
          <a:solidFill>
            <a:srgbClr val="E2DFE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C4E95351-AFE1-0CA4-60E8-CC3FFB5AD2A1}"/>
              </a:ext>
            </a:extLst>
          </p:cNvPr>
          <p:cNvSpPr txBox="1"/>
          <p:nvPr/>
        </p:nvSpPr>
        <p:spPr>
          <a:xfrm>
            <a:off x="609600" y="6553200"/>
            <a:ext cx="9652000" cy="12311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800">
                <a:solidFill>
                  <a:srgbClr val="9690A5"/>
                </a:solidFill>
                <a:latin typeface="Aptos" panose="020B0004020202020204" pitchFamily="34" charset="0"/>
              </a:rPr>
              <a:t>Fonte: Etapa 2 · Ideias 13, 14 e 15 + Etapa 6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B7DCCB02-C1C6-8BC0-D85F-137451C4EB21}"/>
              </a:ext>
            </a:extLst>
          </p:cNvPr>
          <p:cNvSpPr txBox="1"/>
          <p:nvPr/>
        </p:nvSpPr>
        <p:spPr>
          <a:xfrm>
            <a:off x="10896600" y="6515100"/>
            <a:ext cx="7493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1000" b="1">
                <a:solidFill>
                  <a:srgbClr val="7660D3"/>
                </a:solidFill>
                <a:latin typeface="Aptos" panose="020B0004020202020204" pitchFamily="34" charset="0"/>
              </a:rPr>
              <a:t>27 / 40</a:t>
            </a:r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139E3853-A960-8DD5-37D1-D13E6199D218}"/>
              </a:ext>
            </a:extLst>
          </p:cNvPr>
          <p:cNvSpPr/>
          <p:nvPr/>
        </p:nvSpPr>
        <p:spPr>
          <a:xfrm>
            <a:off x="609600" y="2527300"/>
            <a:ext cx="63500" cy="368300"/>
          </a:xfrm>
          <a:prstGeom prst="rect">
            <a:avLst/>
          </a:prstGeom>
          <a:solidFill>
            <a:srgbClr val="C7B7E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2F4DAA07-209D-A25F-0D46-82F2735E05EC}"/>
              </a:ext>
            </a:extLst>
          </p:cNvPr>
          <p:cNvSpPr txBox="1"/>
          <p:nvPr/>
        </p:nvSpPr>
        <p:spPr>
          <a:xfrm>
            <a:off x="838200" y="2501900"/>
            <a:ext cx="31496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1600" b="1">
                <a:solidFill>
                  <a:srgbClr val="6550B5"/>
                </a:solidFill>
                <a:latin typeface="Aptos" panose="020B0004020202020204" pitchFamily="34" charset="0"/>
              </a:rPr>
              <a:t>Registrar ideias</a:t>
            </a:r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1B518D92-AF85-FD05-8144-73C43353250B}"/>
              </a:ext>
            </a:extLst>
          </p:cNvPr>
          <p:cNvSpPr txBox="1"/>
          <p:nvPr/>
        </p:nvSpPr>
        <p:spPr>
          <a:xfrm>
            <a:off x="838200" y="3009900"/>
            <a:ext cx="3149600" cy="19236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1250">
                <a:solidFill>
                  <a:srgbClr val="697187"/>
                </a:solidFill>
                <a:latin typeface="Aptos" panose="020B0004020202020204" pitchFamily="34" charset="0"/>
              </a:rPr>
              <a:t>Criar, editar e excluir notas pessoais.</a:t>
            </a:r>
          </a:p>
        </p:txBody>
      </p:sp>
      <p:sp>
        <p:nvSpPr>
          <p:cNvPr id="12" name="Retângulo 11">
            <a:extLst>
              <a:ext uri="{FF2B5EF4-FFF2-40B4-BE49-F238E27FC236}">
                <a16:creationId xmlns:a16="http://schemas.microsoft.com/office/drawing/2014/main" id="{76C5871B-B25D-6E8C-F6FF-C207BE03600C}"/>
              </a:ext>
            </a:extLst>
          </p:cNvPr>
          <p:cNvSpPr/>
          <p:nvPr/>
        </p:nvSpPr>
        <p:spPr>
          <a:xfrm>
            <a:off x="609600" y="3733800"/>
            <a:ext cx="63500" cy="368300"/>
          </a:xfrm>
          <a:prstGeom prst="rect">
            <a:avLst/>
          </a:prstGeom>
          <a:solidFill>
            <a:srgbClr val="C7B7E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5AAF8692-90F0-663F-6884-063CFD0D0ACD}"/>
              </a:ext>
            </a:extLst>
          </p:cNvPr>
          <p:cNvSpPr txBox="1"/>
          <p:nvPr/>
        </p:nvSpPr>
        <p:spPr>
          <a:xfrm>
            <a:off x="838200" y="3708400"/>
            <a:ext cx="31496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1600" b="1">
                <a:solidFill>
                  <a:srgbClr val="6550B5"/>
                </a:solidFill>
                <a:latin typeface="Aptos" panose="020B0004020202020204" pitchFamily="34" charset="0"/>
              </a:rPr>
              <a:t>Preparar a rotina</a:t>
            </a:r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CA7F1F70-20F3-9D2E-D14B-2A73691A6BBD}"/>
              </a:ext>
            </a:extLst>
          </p:cNvPr>
          <p:cNvSpPr txBox="1"/>
          <p:nvPr/>
        </p:nvSpPr>
        <p:spPr>
          <a:xfrm>
            <a:off x="838200" y="4216400"/>
            <a:ext cx="3149600" cy="19236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1250">
                <a:solidFill>
                  <a:srgbClr val="697187"/>
                </a:solidFill>
                <a:latin typeface="Aptos" panose="020B0004020202020204" pitchFamily="34" charset="0"/>
              </a:rPr>
              <a:t>Checklist de ações pessoais.</a:t>
            </a:r>
          </a:p>
        </p:txBody>
      </p:sp>
      <p:sp>
        <p:nvSpPr>
          <p:cNvPr id="15" name="Retângulo 14">
            <a:extLst>
              <a:ext uri="{FF2B5EF4-FFF2-40B4-BE49-F238E27FC236}">
                <a16:creationId xmlns:a16="http://schemas.microsoft.com/office/drawing/2014/main" id="{CA102E40-D8E7-3089-708A-E1971657B97F}"/>
              </a:ext>
            </a:extLst>
          </p:cNvPr>
          <p:cNvSpPr/>
          <p:nvPr/>
        </p:nvSpPr>
        <p:spPr>
          <a:xfrm>
            <a:off x="609600" y="4940300"/>
            <a:ext cx="63500" cy="368300"/>
          </a:xfrm>
          <a:prstGeom prst="rect">
            <a:avLst/>
          </a:prstGeom>
          <a:solidFill>
            <a:srgbClr val="C7B7E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6" name="CaixaDeTexto 15">
            <a:extLst>
              <a:ext uri="{FF2B5EF4-FFF2-40B4-BE49-F238E27FC236}">
                <a16:creationId xmlns:a16="http://schemas.microsoft.com/office/drawing/2014/main" id="{B621DD28-5D2B-0E3A-58EE-23B362076D7A}"/>
              </a:ext>
            </a:extLst>
          </p:cNvPr>
          <p:cNvSpPr txBox="1"/>
          <p:nvPr/>
        </p:nvSpPr>
        <p:spPr>
          <a:xfrm>
            <a:off x="838200" y="4914900"/>
            <a:ext cx="31496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1600" b="1">
                <a:solidFill>
                  <a:srgbClr val="6550B5"/>
                </a:solidFill>
                <a:latin typeface="Aptos" panose="020B0004020202020204" pitchFamily="34" charset="0"/>
              </a:rPr>
              <a:t>Praticar e revisar</a:t>
            </a:r>
          </a:p>
        </p:txBody>
      </p:sp>
      <p:sp>
        <p:nvSpPr>
          <p:cNvPr id="17" name="CaixaDeTexto 16">
            <a:extLst>
              <a:ext uri="{FF2B5EF4-FFF2-40B4-BE49-F238E27FC236}">
                <a16:creationId xmlns:a16="http://schemas.microsoft.com/office/drawing/2014/main" id="{CF948A9C-7E66-D6A5-B0FD-1B74AE80B830}"/>
              </a:ext>
            </a:extLst>
          </p:cNvPr>
          <p:cNvSpPr txBox="1"/>
          <p:nvPr/>
        </p:nvSpPr>
        <p:spPr>
          <a:xfrm>
            <a:off x="838200" y="5422900"/>
            <a:ext cx="3149600" cy="3847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1250">
                <a:solidFill>
                  <a:srgbClr val="697187"/>
                </a:solidFill>
                <a:latin typeface="Aptos" panose="020B0004020202020204" pitchFamily="34" charset="0"/>
              </a:rPr>
              <a:t>Perguntas locais, acertos, erros e explicações; sem geração por IA.</a:t>
            </a:r>
          </a:p>
        </p:txBody>
      </p:sp>
      <p:sp>
        <p:nvSpPr>
          <p:cNvPr id="18" name="Retângulo: Cantos Arredondados 17">
            <a:extLst>
              <a:ext uri="{FF2B5EF4-FFF2-40B4-BE49-F238E27FC236}">
                <a16:creationId xmlns:a16="http://schemas.microsoft.com/office/drawing/2014/main" id="{082B3ECA-191A-9DD8-AF10-F36F948A8F5D}"/>
              </a:ext>
            </a:extLst>
          </p:cNvPr>
          <p:cNvSpPr/>
          <p:nvPr/>
        </p:nvSpPr>
        <p:spPr>
          <a:xfrm>
            <a:off x="4241800" y="2463800"/>
            <a:ext cx="7340600" cy="3771900"/>
          </a:xfrm>
          <a:prstGeom prst="roundRect">
            <a:avLst>
              <a:gd name="adj" fmla="val 6000"/>
            </a:avLst>
          </a:prstGeom>
          <a:solidFill>
            <a:srgbClr val="EDE8F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9" name="Retângulo: Cantos Arredondados 18">
            <a:extLst>
              <a:ext uri="{FF2B5EF4-FFF2-40B4-BE49-F238E27FC236}">
                <a16:creationId xmlns:a16="http://schemas.microsoft.com/office/drawing/2014/main" id="{C32855FF-DDEF-4579-6206-9F00FBD0120C}"/>
              </a:ext>
            </a:extLst>
          </p:cNvPr>
          <p:cNvSpPr/>
          <p:nvPr/>
        </p:nvSpPr>
        <p:spPr>
          <a:xfrm>
            <a:off x="4318000" y="2826147"/>
            <a:ext cx="3543300" cy="247570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21" name="Imagem 20" descr="Anotações vinculadas às disciplinas">
            <a:extLst>
              <a:ext uri="{FF2B5EF4-FFF2-40B4-BE49-F238E27FC236}">
                <a16:creationId xmlns:a16="http://schemas.microsoft.com/office/drawing/2014/main" id="{72B4ED66-92CC-3FB1-2BE3-A5768BA01F14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81500" y="2889647"/>
            <a:ext cx="3416300" cy="2348706"/>
          </a:xfrm>
          <a:prstGeom prst="rect">
            <a:avLst/>
          </a:prstGeom>
        </p:spPr>
      </p:pic>
      <p:sp>
        <p:nvSpPr>
          <p:cNvPr id="22" name="CaixaDeTexto 21">
            <a:extLst>
              <a:ext uri="{FF2B5EF4-FFF2-40B4-BE49-F238E27FC236}">
                <a16:creationId xmlns:a16="http://schemas.microsoft.com/office/drawing/2014/main" id="{0C969396-DFBF-E2AD-FA31-D34932BA199C}"/>
              </a:ext>
            </a:extLst>
          </p:cNvPr>
          <p:cNvSpPr txBox="1"/>
          <p:nvPr/>
        </p:nvSpPr>
        <p:spPr>
          <a:xfrm>
            <a:off x="4381500" y="5537200"/>
            <a:ext cx="33909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1100" b="1">
                <a:solidFill>
                  <a:srgbClr val="75668D"/>
                </a:solidFill>
                <a:latin typeface="Aptos" panose="020B0004020202020204" pitchFamily="34" charset="0"/>
              </a:rPr>
              <a:t>Anotações vinculadas às disciplinas</a:t>
            </a:r>
          </a:p>
        </p:txBody>
      </p:sp>
      <p:sp>
        <p:nvSpPr>
          <p:cNvPr id="23" name="Retângulo: Cantos Arredondados 22">
            <a:extLst>
              <a:ext uri="{FF2B5EF4-FFF2-40B4-BE49-F238E27FC236}">
                <a16:creationId xmlns:a16="http://schemas.microsoft.com/office/drawing/2014/main" id="{A43CCB2B-9FE0-7DC8-88CA-9476B6339CD4}"/>
              </a:ext>
            </a:extLst>
          </p:cNvPr>
          <p:cNvSpPr/>
          <p:nvPr/>
        </p:nvSpPr>
        <p:spPr>
          <a:xfrm>
            <a:off x="7924800" y="2826147"/>
            <a:ext cx="3543300" cy="247570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25" name="Imagem 24" descr="Quiz local e histórico de resultados">
            <a:extLst>
              <a:ext uri="{FF2B5EF4-FFF2-40B4-BE49-F238E27FC236}">
                <a16:creationId xmlns:a16="http://schemas.microsoft.com/office/drawing/2014/main" id="{AC165E08-A758-59F4-4121-D9ED1FF6A762}"/>
              </a:ext>
            </a:extLst>
          </p:cNvPr>
          <p:cNvPicPr>
            <a:picLocks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88300" y="2889647"/>
            <a:ext cx="3416300" cy="2348706"/>
          </a:xfrm>
          <a:prstGeom prst="rect">
            <a:avLst/>
          </a:prstGeom>
        </p:spPr>
      </p:pic>
      <p:sp>
        <p:nvSpPr>
          <p:cNvPr id="26" name="CaixaDeTexto 25">
            <a:extLst>
              <a:ext uri="{FF2B5EF4-FFF2-40B4-BE49-F238E27FC236}">
                <a16:creationId xmlns:a16="http://schemas.microsoft.com/office/drawing/2014/main" id="{A68416CF-4528-FE71-4FCB-228EAB6A5993}"/>
              </a:ext>
            </a:extLst>
          </p:cNvPr>
          <p:cNvSpPr txBox="1"/>
          <p:nvPr/>
        </p:nvSpPr>
        <p:spPr>
          <a:xfrm>
            <a:off x="7988300" y="5537200"/>
            <a:ext cx="33909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1100" b="1">
                <a:solidFill>
                  <a:srgbClr val="75668D"/>
                </a:solidFill>
                <a:latin typeface="Aptos" panose="020B0004020202020204" pitchFamily="34" charset="0"/>
              </a:rPr>
              <a:t>Quiz local e histórico de resultados</a:t>
            </a:r>
          </a:p>
        </p:txBody>
      </p:sp>
    </p:spTree>
    <p:extLst>
      <p:ext uri="{BB962C8B-B14F-4D97-AF65-F5344CB8AC3E}">
        <p14:creationId xmlns:p14="http://schemas.microsoft.com/office/powerpoint/2010/main" val="158964282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5CBA21A-7B89-BEB7-D27A-2E6B7345932D}"/>
              </a:ext>
            </a:extLst>
          </p:cNvPr>
          <p:cNvSpPr/>
          <p:nvPr/>
        </p:nvSpPr>
        <p:spPr>
          <a:xfrm>
            <a:off x="609600" y="406400"/>
            <a:ext cx="63500" cy="254000"/>
          </a:xfrm>
          <a:prstGeom prst="rect">
            <a:avLst/>
          </a:prstGeom>
          <a:solidFill>
            <a:srgbClr val="7660D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96BD8672-40F5-22D9-EBCE-8D66501DFAA9}"/>
              </a:ext>
            </a:extLst>
          </p:cNvPr>
          <p:cNvSpPr txBox="1"/>
          <p:nvPr/>
        </p:nvSpPr>
        <p:spPr>
          <a:xfrm>
            <a:off x="812800" y="431800"/>
            <a:ext cx="102235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1000" b="1">
                <a:solidFill>
                  <a:srgbClr val="7660D3"/>
                </a:solidFill>
                <a:latin typeface="Aptos" panose="020B0004020202020204" pitchFamily="34" charset="0"/>
              </a:rPr>
              <a:t>ETAPA 6 · COMUNIDADE E MURAL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6C51884D-75C7-B5FE-E063-58F9A64576C6}"/>
              </a:ext>
            </a:extLst>
          </p:cNvPr>
          <p:cNvSpPr txBox="1"/>
          <p:nvPr/>
        </p:nvSpPr>
        <p:spPr>
          <a:xfrm>
            <a:off x="609600" y="889000"/>
            <a:ext cx="10985500" cy="44627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2900" b="1">
                <a:solidFill>
                  <a:srgbClr val="273047"/>
                </a:solidFill>
                <a:latin typeface="Aptos" panose="020B0004020202020204" pitchFamily="34" charset="0"/>
              </a:rPr>
              <a:t>Conversas e avisos com um contexto claro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9FE9352F-1025-5BC2-21D6-A2CADFF2500F}"/>
              </a:ext>
            </a:extLst>
          </p:cNvPr>
          <p:cNvSpPr txBox="1"/>
          <p:nvPr/>
        </p:nvSpPr>
        <p:spPr>
          <a:xfrm>
            <a:off x="609600" y="1816100"/>
            <a:ext cx="10998200" cy="2000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1300">
                <a:solidFill>
                  <a:srgbClr val="7B7F93"/>
                </a:solidFill>
                <a:latin typeface="Aptos" panose="020B0004020202020204" pitchFamily="34" charset="0"/>
              </a:rPr>
              <a:t>Turma, autor, data e conteúdo permanecem identificáveis.</a:t>
            </a:r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0CC45DFD-95F5-2068-1EDF-1ACA0747FBC6}"/>
              </a:ext>
            </a:extLst>
          </p:cNvPr>
          <p:cNvSpPr/>
          <p:nvPr/>
        </p:nvSpPr>
        <p:spPr>
          <a:xfrm>
            <a:off x="609600" y="6426200"/>
            <a:ext cx="10972800" cy="12700"/>
          </a:xfrm>
          <a:prstGeom prst="rect">
            <a:avLst/>
          </a:prstGeom>
          <a:solidFill>
            <a:srgbClr val="E2DFE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5D65F89D-A05B-73E0-3E1B-0ACE93AE0F98}"/>
              </a:ext>
            </a:extLst>
          </p:cNvPr>
          <p:cNvSpPr txBox="1"/>
          <p:nvPr/>
        </p:nvSpPr>
        <p:spPr>
          <a:xfrm>
            <a:off x="609600" y="6553200"/>
            <a:ext cx="9652000" cy="12311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800">
                <a:solidFill>
                  <a:srgbClr val="9690A5"/>
                </a:solidFill>
                <a:latin typeface="Aptos" panose="020B0004020202020204" pitchFamily="34" charset="0"/>
              </a:rPr>
              <a:t>Fonte: Etapa 2 · Ideias 4 e 19 + Etapa 6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D79C4FBE-4308-92DA-954D-BF0DDCA2CF06}"/>
              </a:ext>
            </a:extLst>
          </p:cNvPr>
          <p:cNvSpPr txBox="1"/>
          <p:nvPr/>
        </p:nvSpPr>
        <p:spPr>
          <a:xfrm>
            <a:off x="10896600" y="6515100"/>
            <a:ext cx="7493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1000" b="1">
                <a:solidFill>
                  <a:srgbClr val="7660D3"/>
                </a:solidFill>
                <a:latin typeface="Aptos" panose="020B0004020202020204" pitchFamily="34" charset="0"/>
              </a:rPr>
              <a:t>28 / 40</a:t>
            </a:r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E4C9FA5A-1EBA-FF47-C66C-ED0DF1A8B05F}"/>
              </a:ext>
            </a:extLst>
          </p:cNvPr>
          <p:cNvSpPr/>
          <p:nvPr/>
        </p:nvSpPr>
        <p:spPr>
          <a:xfrm>
            <a:off x="609600" y="2527300"/>
            <a:ext cx="63500" cy="368300"/>
          </a:xfrm>
          <a:prstGeom prst="rect">
            <a:avLst/>
          </a:prstGeom>
          <a:solidFill>
            <a:srgbClr val="C7B7E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DD26ADC4-EE5D-50F8-1E2A-CD96186DF681}"/>
              </a:ext>
            </a:extLst>
          </p:cNvPr>
          <p:cNvSpPr txBox="1"/>
          <p:nvPr/>
        </p:nvSpPr>
        <p:spPr>
          <a:xfrm>
            <a:off x="838200" y="2501900"/>
            <a:ext cx="31496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1600" b="1">
                <a:solidFill>
                  <a:srgbClr val="6550B5"/>
                </a:solidFill>
                <a:latin typeface="Aptos" panose="020B0004020202020204" pitchFamily="34" charset="0"/>
              </a:rPr>
              <a:t>Colaborar localmente</a:t>
            </a:r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0198C477-BFD8-D885-AFFF-401A32FC2D83}"/>
              </a:ext>
            </a:extLst>
          </p:cNvPr>
          <p:cNvSpPr txBox="1"/>
          <p:nvPr/>
        </p:nvSpPr>
        <p:spPr>
          <a:xfrm>
            <a:off x="838200" y="3009900"/>
            <a:ext cx="3149600" cy="19236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1250">
                <a:solidFill>
                  <a:srgbClr val="697187"/>
                </a:solidFill>
                <a:latin typeface="Aptos" panose="020B0004020202020204" pitchFamily="34" charset="0"/>
              </a:rPr>
              <a:t>Publicar dúvidas e responder discussões.</a:t>
            </a:r>
          </a:p>
        </p:txBody>
      </p:sp>
      <p:sp>
        <p:nvSpPr>
          <p:cNvPr id="12" name="Retângulo 11">
            <a:extLst>
              <a:ext uri="{FF2B5EF4-FFF2-40B4-BE49-F238E27FC236}">
                <a16:creationId xmlns:a16="http://schemas.microsoft.com/office/drawing/2014/main" id="{A08152E0-0C5F-373B-AED8-7528AF4C5D31}"/>
              </a:ext>
            </a:extLst>
          </p:cNvPr>
          <p:cNvSpPr/>
          <p:nvPr/>
        </p:nvSpPr>
        <p:spPr>
          <a:xfrm>
            <a:off x="609600" y="3733800"/>
            <a:ext cx="63500" cy="368300"/>
          </a:xfrm>
          <a:prstGeom prst="rect">
            <a:avLst/>
          </a:prstGeom>
          <a:solidFill>
            <a:srgbClr val="C7B7E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04D66144-78AE-9431-3037-1D03485BB5D8}"/>
              </a:ext>
            </a:extLst>
          </p:cNvPr>
          <p:cNvSpPr txBox="1"/>
          <p:nvPr/>
        </p:nvSpPr>
        <p:spPr>
          <a:xfrm>
            <a:off x="838200" y="3708400"/>
            <a:ext cx="31496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1600" b="1">
                <a:solidFill>
                  <a:srgbClr val="6550B5"/>
                </a:solidFill>
                <a:latin typeface="Aptos" panose="020B0004020202020204" pitchFamily="34" charset="0"/>
              </a:rPr>
              <a:t>Gerenciar conteúdo próprio</a:t>
            </a:r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ADD5783A-81CE-C617-1A18-1451FE7D4A79}"/>
              </a:ext>
            </a:extLst>
          </p:cNvPr>
          <p:cNvSpPr txBox="1"/>
          <p:nvPr/>
        </p:nvSpPr>
        <p:spPr>
          <a:xfrm>
            <a:off x="838200" y="4216400"/>
            <a:ext cx="3149600" cy="19236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1250">
                <a:solidFill>
                  <a:srgbClr val="697187"/>
                </a:solidFill>
                <a:latin typeface="Aptos" panose="020B0004020202020204" pitchFamily="34" charset="0"/>
              </a:rPr>
              <a:t>Excluir seus posts e comentários.</a:t>
            </a:r>
          </a:p>
        </p:txBody>
      </p:sp>
      <p:sp>
        <p:nvSpPr>
          <p:cNvPr id="15" name="Retângulo 14">
            <a:extLst>
              <a:ext uri="{FF2B5EF4-FFF2-40B4-BE49-F238E27FC236}">
                <a16:creationId xmlns:a16="http://schemas.microsoft.com/office/drawing/2014/main" id="{609A434F-9AC1-220F-C59A-B904F731E39A}"/>
              </a:ext>
            </a:extLst>
          </p:cNvPr>
          <p:cNvSpPr/>
          <p:nvPr/>
        </p:nvSpPr>
        <p:spPr>
          <a:xfrm>
            <a:off x="609600" y="4940300"/>
            <a:ext cx="63500" cy="368300"/>
          </a:xfrm>
          <a:prstGeom prst="rect">
            <a:avLst/>
          </a:prstGeom>
          <a:solidFill>
            <a:srgbClr val="C7B7E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6" name="CaixaDeTexto 15">
            <a:extLst>
              <a:ext uri="{FF2B5EF4-FFF2-40B4-BE49-F238E27FC236}">
                <a16:creationId xmlns:a16="http://schemas.microsoft.com/office/drawing/2014/main" id="{F0355DCB-5DFE-5445-7209-092E9FC73F1C}"/>
              </a:ext>
            </a:extLst>
          </p:cNvPr>
          <p:cNvSpPr txBox="1"/>
          <p:nvPr/>
        </p:nvSpPr>
        <p:spPr>
          <a:xfrm>
            <a:off x="838200" y="4914900"/>
            <a:ext cx="31496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1600" b="1">
                <a:solidFill>
                  <a:srgbClr val="6550B5"/>
                </a:solidFill>
                <a:latin typeface="Aptos" panose="020B0004020202020204" pitchFamily="34" charset="0"/>
              </a:rPr>
              <a:t>Acompanhar comunicados</a:t>
            </a:r>
          </a:p>
        </p:txBody>
      </p:sp>
      <p:sp>
        <p:nvSpPr>
          <p:cNvPr id="17" name="CaixaDeTexto 16">
            <a:extLst>
              <a:ext uri="{FF2B5EF4-FFF2-40B4-BE49-F238E27FC236}">
                <a16:creationId xmlns:a16="http://schemas.microsoft.com/office/drawing/2014/main" id="{970592D3-2316-42D7-D76D-78670F8B0F84}"/>
              </a:ext>
            </a:extLst>
          </p:cNvPr>
          <p:cNvSpPr txBox="1"/>
          <p:nvPr/>
        </p:nvSpPr>
        <p:spPr>
          <a:xfrm>
            <a:off x="838200" y="5422900"/>
            <a:ext cx="3149600" cy="3847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1250">
                <a:solidFill>
                  <a:srgbClr val="697187"/>
                </a:solidFill>
                <a:latin typeface="Aptos" panose="020B0004020202020204" pitchFamily="34" charset="0"/>
              </a:rPr>
              <a:t>Docente publica; aluno consulta e marca como lido.</a:t>
            </a:r>
          </a:p>
        </p:txBody>
      </p:sp>
      <p:sp>
        <p:nvSpPr>
          <p:cNvPr id="18" name="Retângulo: Cantos Arredondados 17">
            <a:extLst>
              <a:ext uri="{FF2B5EF4-FFF2-40B4-BE49-F238E27FC236}">
                <a16:creationId xmlns:a16="http://schemas.microsoft.com/office/drawing/2014/main" id="{A62400B0-AD1A-0DA0-0F83-B10658510B45}"/>
              </a:ext>
            </a:extLst>
          </p:cNvPr>
          <p:cNvSpPr/>
          <p:nvPr/>
        </p:nvSpPr>
        <p:spPr>
          <a:xfrm>
            <a:off x="4241800" y="2463800"/>
            <a:ext cx="7340600" cy="3771900"/>
          </a:xfrm>
          <a:prstGeom prst="roundRect">
            <a:avLst>
              <a:gd name="adj" fmla="val 6000"/>
            </a:avLst>
          </a:prstGeom>
          <a:solidFill>
            <a:srgbClr val="EDE8F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9" name="Retângulo: Cantos Arredondados 18">
            <a:extLst>
              <a:ext uri="{FF2B5EF4-FFF2-40B4-BE49-F238E27FC236}">
                <a16:creationId xmlns:a16="http://schemas.microsoft.com/office/drawing/2014/main" id="{89FCB5C0-97D9-F912-EDA7-DD7FE51038EC}"/>
              </a:ext>
            </a:extLst>
          </p:cNvPr>
          <p:cNvSpPr/>
          <p:nvPr/>
        </p:nvSpPr>
        <p:spPr>
          <a:xfrm>
            <a:off x="4318000" y="2826147"/>
            <a:ext cx="3543300" cy="247570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21" name="Imagem 20" descr="Posts, pesquisa e respostas por turma">
            <a:extLst>
              <a:ext uri="{FF2B5EF4-FFF2-40B4-BE49-F238E27FC236}">
                <a16:creationId xmlns:a16="http://schemas.microsoft.com/office/drawing/2014/main" id="{07B7C967-D154-4E7B-8074-1EBE7A779399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81500" y="2889647"/>
            <a:ext cx="3416300" cy="2348706"/>
          </a:xfrm>
          <a:prstGeom prst="rect">
            <a:avLst/>
          </a:prstGeom>
        </p:spPr>
      </p:pic>
      <p:sp>
        <p:nvSpPr>
          <p:cNvPr id="22" name="CaixaDeTexto 21">
            <a:extLst>
              <a:ext uri="{FF2B5EF4-FFF2-40B4-BE49-F238E27FC236}">
                <a16:creationId xmlns:a16="http://schemas.microsoft.com/office/drawing/2014/main" id="{81D90FED-4481-1846-6E5D-78E947BC36BF}"/>
              </a:ext>
            </a:extLst>
          </p:cNvPr>
          <p:cNvSpPr txBox="1"/>
          <p:nvPr/>
        </p:nvSpPr>
        <p:spPr>
          <a:xfrm>
            <a:off x="4381500" y="5537200"/>
            <a:ext cx="33909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1100" b="1">
                <a:solidFill>
                  <a:srgbClr val="75668D"/>
                </a:solidFill>
                <a:latin typeface="Aptos" panose="020B0004020202020204" pitchFamily="34" charset="0"/>
              </a:rPr>
              <a:t>Posts, pesquisa e respostas por turma</a:t>
            </a:r>
          </a:p>
        </p:txBody>
      </p:sp>
      <p:sp>
        <p:nvSpPr>
          <p:cNvPr id="23" name="Retângulo: Cantos Arredondados 22">
            <a:extLst>
              <a:ext uri="{FF2B5EF4-FFF2-40B4-BE49-F238E27FC236}">
                <a16:creationId xmlns:a16="http://schemas.microsoft.com/office/drawing/2014/main" id="{1CB17E4F-BA96-D843-1105-3C02AB1961C8}"/>
              </a:ext>
            </a:extLst>
          </p:cNvPr>
          <p:cNvSpPr/>
          <p:nvPr/>
        </p:nvSpPr>
        <p:spPr>
          <a:xfrm>
            <a:off x="7924800" y="2826147"/>
            <a:ext cx="3543300" cy="247570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25" name="Imagem 24" descr="Comunicados e estado de leitura">
            <a:extLst>
              <a:ext uri="{FF2B5EF4-FFF2-40B4-BE49-F238E27FC236}">
                <a16:creationId xmlns:a16="http://schemas.microsoft.com/office/drawing/2014/main" id="{6D949B6A-30FA-16CE-5BBF-3DB3539D73A3}"/>
              </a:ext>
            </a:extLst>
          </p:cNvPr>
          <p:cNvPicPr>
            <a:picLocks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88300" y="2889647"/>
            <a:ext cx="3416300" cy="2348706"/>
          </a:xfrm>
          <a:prstGeom prst="rect">
            <a:avLst/>
          </a:prstGeom>
        </p:spPr>
      </p:pic>
      <p:sp>
        <p:nvSpPr>
          <p:cNvPr id="26" name="CaixaDeTexto 25">
            <a:extLst>
              <a:ext uri="{FF2B5EF4-FFF2-40B4-BE49-F238E27FC236}">
                <a16:creationId xmlns:a16="http://schemas.microsoft.com/office/drawing/2014/main" id="{E53E3366-F2BA-DC67-B8D7-E48AB36FDD31}"/>
              </a:ext>
            </a:extLst>
          </p:cNvPr>
          <p:cNvSpPr txBox="1"/>
          <p:nvPr/>
        </p:nvSpPr>
        <p:spPr>
          <a:xfrm>
            <a:off x="7988300" y="5537200"/>
            <a:ext cx="33909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1100" b="1">
                <a:solidFill>
                  <a:srgbClr val="75668D"/>
                </a:solidFill>
                <a:latin typeface="Aptos" panose="020B0004020202020204" pitchFamily="34" charset="0"/>
              </a:rPr>
              <a:t>Comunicados e estado de leitura</a:t>
            </a:r>
          </a:p>
        </p:txBody>
      </p:sp>
    </p:spTree>
    <p:extLst>
      <p:ext uri="{BB962C8B-B14F-4D97-AF65-F5344CB8AC3E}">
        <p14:creationId xmlns:p14="http://schemas.microsoft.com/office/powerpoint/2010/main" val="86891477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370C43F0-9B95-36F8-C994-956104C70A0C}"/>
              </a:ext>
            </a:extLst>
          </p:cNvPr>
          <p:cNvSpPr/>
          <p:nvPr/>
        </p:nvSpPr>
        <p:spPr>
          <a:xfrm>
            <a:off x="609600" y="406400"/>
            <a:ext cx="63500" cy="254000"/>
          </a:xfrm>
          <a:prstGeom prst="rect">
            <a:avLst/>
          </a:prstGeom>
          <a:solidFill>
            <a:srgbClr val="7660D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94A11A52-BF33-094C-A65B-874DEE27A1A8}"/>
              </a:ext>
            </a:extLst>
          </p:cNvPr>
          <p:cNvSpPr txBox="1"/>
          <p:nvPr/>
        </p:nvSpPr>
        <p:spPr>
          <a:xfrm>
            <a:off x="812800" y="431800"/>
            <a:ext cx="102235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1000" b="1">
                <a:solidFill>
                  <a:srgbClr val="7660D3"/>
                </a:solidFill>
                <a:latin typeface="Aptos" panose="020B0004020202020204" pitchFamily="34" charset="0"/>
              </a:rPr>
              <a:t>ETAPA 6 · GESTÃO E TOTEM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82327844-DC82-AA40-7A27-E15C48436538}"/>
              </a:ext>
            </a:extLst>
          </p:cNvPr>
          <p:cNvSpPr txBox="1"/>
          <p:nvPr/>
        </p:nvSpPr>
        <p:spPr>
          <a:xfrm>
            <a:off x="609600" y="889000"/>
            <a:ext cx="10985500" cy="44627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2900" b="1">
                <a:solidFill>
                  <a:srgbClr val="273047"/>
                </a:solidFill>
                <a:latin typeface="Aptos" panose="020B0004020202020204" pitchFamily="34" charset="0"/>
              </a:rPr>
              <a:t>Complementos para a organização da escola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A2841390-F827-62E3-726B-E1B314F43099}"/>
              </a:ext>
            </a:extLst>
          </p:cNvPr>
          <p:cNvSpPr txBox="1"/>
          <p:nvPr/>
        </p:nvSpPr>
        <p:spPr>
          <a:xfrm>
            <a:off x="609600" y="1816100"/>
            <a:ext cx="10998200" cy="2000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1300">
                <a:solidFill>
                  <a:srgbClr val="7B7F93"/>
                </a:solidFill>
                <a:latin typeface="Aptos" panose="020B0004020202020204" pitchFamily="34" charset="0"/>
              </a:rPr>
              <a:t>Perfis fictícios, relacionamentos coerentes e informações públicas.</a:t>
            </a:r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DA3ECA3D-4085-A7FE-5FCB-5FCB428BBDD6}"/>
              </a:ext>
            </a:extLst>
          </p:cNvPr>
          <p:cNvSpPr/>
          <p:nvPr/>
        </p:nvSpPr>
        <p:spPr>
          <a:xfrm>
            <a:off x="609600" y="6426200"/>
            <a:ext cx="10972800" cy="12700"/>
          </a:xfrm>
          <a:prstGeom prst="rect">
            <a:avLst/>
          </a:prstGeom>
          <a:solidFill>
            <a:srgbClr val="E2DFE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4EF5A631-5F3A-4013-253E-72714BB97034}"/>
              </a:ext>
            </a:extLst>
          </p:cNvPr>
          <p:cNvSpPr txBox="1"/>
          <p:nvPr/>
        </p:nvSpPr>
        <p:spPr>
          <a:xfrm>
            <a:off x="609600" y="6553200"/>
            <a:ext cx="9652000" cy="12311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800">
                <a:solidFill>
                  <a:srgbClr val="9690A5"/>
                </a:solidFill>
                <a:latin typeface="Aptos" panose="020B0004020202020204" pitchFamily="34" charset="0"/>
              </a:rPr>
              <a:t>Fonte: Etapa 2 · Ideias 2 e 20 + Etapa 6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03B9746E-FB6C-50EF-16B3-92DF52CDF8C1}"/>
              </a:ext>
            </a:extLst>
          </p:cNvPr>
          <p:cNvSpPr txBox="1"/>
          <p:nvPr/>
        </p:nvSpPr>
        <p:spPr>
          <a:xfrm>
            <a:off x="10896600" y="6515100"/>
            <a:ext cx="7493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1000" b="1">
                <a:solidFill>
                  <a:srgbClr val="7660D3"/>
                </a:solidFill>
                <a:latin typeface="Aptos" panose="020B0004020202020204" pitchFamily="34" charset="0"/>
              </a:rPr>
              <a:t>29 / 40</a:t>
            </a:r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AC3E673A-4022-1A99-4F3F-1E4B1283F2FA}"/>
              </a:ext>
            </a:extLst>
          </p:cNvPr>
          <p:cNvSpPr/>
          <p:nvPr/>
        </p:nvSpPr>
        <p:spPr>
          <a:xfrm>
            <a:off x="609600" y="2527300"/>
            <a:ext cx="63500" cy="368300"/>
          </a:xfrm>
          <a:prstGeom prst="rect">
            <a:avLst/>
          </a:prstGeom>
          <a:solidFill>
            <a:srgbClr val="C7B7E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4CDC39F5-43A2-73FF-C790-4FB045FE0F63}"/>
              </a:ext>
            </a:extLst>
          </p:cNvPr>
          <p:cNvSpPr txBox="1"/>
          <p:nvPr/>
        </p:nvSpPr>
        <p:spPr>
          <a:xfrm>
            <a:off x="838200" y="2501900"/>
            <a:ext cx="31496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1600" b="1">
                <a:solidFill>
                  <a:srgbClr val="6550B5"/>
                </a:solidFill>
                <a:latin typeface="Aptos" panose="020B0004020202020204" pitchFamily="34" charset="0"/>
              </a:rPr>
              <a:t>Administrar a base</a:t>
            </a:r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648AE8BF-810C-7ACE-A07D-7C4B04AA02EE}"/>
              </a:ext>
            </a:extLst>
          </p:cNvPr>
          <p:cNvSpPr txBox="1"/>
          <p:nvPr/>
        </p:nvSpPr>
        <p:spPr>
          <a:xfrm>
            <a:off x="838200" y="3009900"/>
            <a:ext cx="3149600" cy="3847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1250">
                <a:solidFill>
                  <a:srgbClr val="697187"/>
                </a:solidFill>
                <a:latin typeface="Aptos" panose="020B0004020202020204" pitchFamily="34" charset="0"/>
              </a:rPr>
              <a:t>Cadastrar e editar turmas, disciplinas e usuários.</a:t>
            </a:r>
          </a:p>
        </p:txBody>
      </p:sp>
      <p:sp>
        <p:nvSpPr>
          <p:cNvPr id="12" name="Retângulo 11">
            <a:extLst>
              <a:ext uri="{FF2B5EF4-FFF2-40B4-BE49-F238E27FC236}">
                <a16:creationId xmlns:a16="http://schemas.microsoft.com/office/drawing/2014/main" id="{7D756744-09BA-76E4-A4D0-03E93C8935A9}"/>
              </a:ext>
            </a:extLst>
          </p:cNvPr>
          <p:cNvSpPr/>
          <p:nvPr/>
        </p:nvSpPr>
        <p:spPr>
          <a:xfrm>
            <a:off x="609600" y="3733800"/>
            <a:ext cx="63500" cy="368300"/>
          </a:xfrm>
          <a:prstGeom prst="rect">
            <a:avLst/>
          </a:prstGeom>
          <a:solidFill>
            <a:srgbClr val="C7B7E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0B50262F-36BC-08E1-9334-A7FD0D9F4659}"/>
              </a:ext>
            </a:extLst>
          </p:cNvPr>
          <p:cNvSpPr txBox="1"/>
          <p:nvPr/>
        </p:nvSpPr>
        <p:spPr>
          <a:xfrm>
            <a:off x="838200" y="3708400"/>
            <a:ext cx="31496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1600" b="1">
                <a:solidFill>
                  <a:srgbClr val="6550B5"/>
                </a:solidFill>
                <a:latin typeface="Aptos" panose="020B0004020202020204" pitchFamily="34" charset="0"/>
              </a:rPr>
              <a:t>Associar perfis</a:t>
            </a:r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83968706-AC0C-5237-77F3-A6E0387611B3}"/>
              </a:ext>
            </a:extLst>
          </p:cNvPr>
          <p:cNvSpPr txBox="1"/>
          <p:nvPr/>
        </p:nvSpPr>
        <p:spPr>
          <a:xfrm>
            <a:off x="838200" y="4216400"/>
            <a:ext cx="3149600" cy="19236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1250">
                <a:solidFill>
                  <a:srgbClr val="697187"/>
                </a:solidFill>
                <a:latin typeface="Aptos" panose="020B0004020202020204" pitchFamily="34" charset="0"/>
              </a:rPr>
              <a:t>Alunos à turma e docentes à disciplina.</a:t>
            </a:r>
          </a:p>
        </p:txBody>
      </p:sp>
      <p:sp>
        <p:nvSpPr>
          <p:cNvPr id="15" name="Retângulo 14">
            <a:extLst>
              <a:ext uri="{FF2B5EF4-FFF2-40B4-BE49-F238E27FC236}">
                <a16:creationId xmlns:a16="http://schemas.microsoft.com/office/drawing/2014/main" id="{EC622D5F-7014-B2EB-57D6-5131EBAC09D0}"/>
              </a:ext>
            </a:extLst>
          </p:cNvPr>
          <p:cNvSpPr/>
          <p:nvPr/>
        </p:nvSpPr>
        <p:spPr>
          <a:xfrm>
            <a:off x="609600" y="4940300"/>
            <a:ext cx="63500" cy="368300"/>
          </a:xfrm>
          <a:prstGeom prst="rect">
            <a:avLst/>
          </a:prstGeom>
          <a:solidFill>
            <a:srgbClr val="C7B7E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6" name="CaixaDeTexto 15">
            <a:extLst>
              <a:ext uri="{FF2B5EF4-FFF2-40B4-BE49-F238E27FC236}">
                <a16:creationId xmlns:a16="http://schemas.microsoft.com/office/drawing/2014/main" id="{A353D7F2-223B-2C09-C045-9C6CDD5AF0F1}"/>
              </a:ext>
            </a:extLst>
          </p:cNvPr>
          <p:cNvSpPr txBox="1"/>
          <p:nvPr/>
        </p:nvSpPr>
        <p:spPr>
          <a:xfrm>
            <a:off x="838200" y="4914900"/>
            <a:ext cx="31496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1600" b="1">
                <a:solidFill>
                  <a:srgbClr val="6550B5"/>
                </a:solidFill>
                <a:latin typeface="Aptos" panose="020B0004020202020204" pitchFamily="34" charset="0"/>
              </a:rPr>
              <a:t>Totem demonstrativo</a:t>
            </a:r>
          </a:p>
        </p:txBody>
      </p:sp>
      <p:sp>
        <p:nvSpPr>
          <p:cNvPr id="17" name="CaixaDeTexto 16">
            <a:extLst>
              <a:ext uri="{FF2B5EF4-FFF2-40B4-BE49-F238E27FC236}">
                <a16:creationId xmlns:a16="http://schemas.microsoft.com/office/drawing/2014/main" id="{E455269D-BE60-805B-C6BD-6A5C8533BAB2}"/>
              </a:ext>
            </a:extLst>
          </p:cNvPr>
          <p:cNvSpPr txBox="1"/>
          <p:nvPr/>
        </p:nvSpPr>
        <p:spPr>
          <a:xfrm>
            <a:off x="838200" y="5422900"/>
            <a:ext cx="3149600" cy="3847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1250">
                <a:solidFill>
                  <a:srgbClr val="697187"/>
                </a:solidFill>
                <a:latin typeface="Aptos" panose="020B0004020202020204" pitchFamily="34" charset="0"/>
              </a:rPr>
              <a:t>Sem equipamento físico; QR indisponível sem URL pública configurada.</a:t>
            </a:r>
          </a:p>
        </p:txBody>
      </p:sp>
      <p:sp>
        <p:nvSpPr>
          <p:cNvPr id="18" name="Retângulo: Cantos Arredondados 17">
            <a:extLst>
              <a:ext uri="{FF2B5EF4-FFF2-40B4-BE49-F238E27FC236}">
                <a16:creationId xmlns:a16="http://schemas.microsoft.com/office/drawing/2014/main" id="{5CDBD555-8834-B316-C072-6343D94C3499}"/>
              </a:ext>
            </a:extLst>
          </p:cNvPr>
          <p:cNvSpPr/>
          <p:nvPr/>
        </p:nvSpPr>
        <p:spPr>
          <a:xfrm>
            <a:off x="4241800" y="2463800"/>
            <a:ext cx="7340600" cy="3771900"/>
          </a:xfrm>
          <a:prstGeom prst="roundRect">
            <a:avLst>
              <a:gd name="adj" fmla="val 6000"/>
            </a:avLst>
          </a:prstGeom>
          <a:solidFill>
            <a:srgbClr val="EDE8F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9" name="Retângulo: Cantos Arredondados 18">
            <a:extLst>
              <a:ext uri="{FF2B5EF4-FFF2-40B4-BE49-F238E27FC236}">
                <a16:creationId xmlns:a16="http://schemas.microsoft.com/office/drawing/2014/main" id="{F0A8B3E7-565D-F902-36BF-8E57EC6546E0}"/>
              </a:ext>
            </a:extLst>
          </p:cNvPr>
          <p:cNvSpPr/>
          <p:nvPr/>
        </p:nvSpPr>
        <p:spPr>
          <a:xfrm>
            <a:off x="4318000" y="2826147"/>
            <a:ext cx="3543300" cy="247570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21" name="Imagem 20" descr="Cadastro de turmas, disciplinas e usuários">
            <a:extLst>
              <a:ext uri="{FF2B5EF4-FFF2-40B4-BE49-F238E27FC236}">
                <a16:creationId xmlns:a16="http://schemas.microsoft.com/office/drawing/2014/main" id="{870AE240-EFAA-0298-6D1B-31706E9D4608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81500" y="2889647"/>
            <a:ext cx="3416300" cy="2348706"/>
          </a:xfrm>
          <a:prstGeom prst="rect">
            <a:avLst/>
          </a:prstGeom>
        </p:spPr>
      </p:pic>
      <p:sp>
        <p:nvSpPr>
          <p:cNvPr id="22" name="CaixaDeTexto 21">
            <a:extLst>
              <a:ext uri="{FF2B5EF4-FFF2-40B4-BE49-F238E27FC236}">
                <a16:creationId xmlns:a16="http://schemas.microsoft.com/office/drawing/2014/main" id="{5676931E-E097-98D7-66B9-48D51F56A208}"/>
              </a:ext>
            </a:extLst>
          </p:cNvPr>
          <p:cNvSpPr txBox="1"/>
          <p:nvPr/>
        </p:nvSpPr>
        <p:spPr>
          <a:xfrm>
            <a:off x="4381500" y="5537200"/>
            <a:ext cx="33909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1100" b="1">
                <a:solidFill>
                  <a:srgbClr val="75668D"/>
                </a:solidFill>
                <a:latin typeface="Aptos" panose="020B0004020202020204" pitchFamily="34" charset="0"/>
              </a:rPr>
              <a:t>Cadastro de turmas, disciplinas e usuários</a:t>
            </a:r>
          </a:p>
        </p:txBody>
      </p:sp>
      <p:sp>
        <p:nvSpPr>
          <p:cNvPr id="23" name="Retângulo: Cantos Arredondados 22">
            <a:extLst>
              <a:ext uri="{FF2B5EF4-FFF2-40B4-BE49-F238E27FC236}">
                <a16:creationId xmlns:a16="http://schemas.microsoft.com/office/drawing/2014/main" id="{BFDAF054-26EF-2FA0-9125-403A6B35E633}"/>
              </a:ext>
            </a:extLst>
          </p:cNvPr>
          <p:cNvSpPr/>
          <p:nvPr/>
        </p:nvSpPr>
        <p:spPr>
          <a:xfrm>
            <a:off x="7924800" y="2826147"/>
            <a:ext cx="3543300" cy="247570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25" name="Imagem 24" descr="Avisos públicos e estado explicativo do QR Code">
            <a:extLst>
              <a:ext uri="{FF2B5EF4-FFF2-40B4-BE49-F238E27FC236}">
                <a16:creationId xmlns:a16="http://schemas.microsoft.com/office/drawing/2014/main" id="{B9AB9017-5BBB-F00A-ACAD-6901B857DD97}"/>
              </a:ext>
            </a:extLst>
          </p:cNvPr>
          <p:cNvPicPr>
            <a:picLocks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88300" y="2889647"/>
            <a:ext cx="3416300" cy="2348706"/>
          </a:xfrm>
          <a:prstGeom prst="rect">
            <a:avLst/>
          </a:prstGeom>
        </p:spPr>
      </p:pic>
      <p:sp>
        <p:nvSpPr>
          <p:cNvPr id="26" name="CaixaDeTexto 25">
            <a:extLst>
              <a:ext uri="{FF2B5EF4-FFF2-40B4-BE49-F238E27FC236}">
                <a16:creationId xmlns:a16="http://schemas.microsoft.com/office/drawing/2014/main" id="{99912330-B313-C761-2442-94A834EF7702}"/>
              </a:ext>
            </a:extLst>
          </p:cNvPr>
          <p:cNvSpPr txBox="1"/>
          <p:nvPr/>
        </p:nvSpPr>
        <p:spPr>
          <a:xfrm>
            <a:off x="7988300" y="5537200"/>
            <a:ext cx="33909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1100" b="1">
                <a:solidFill>
                  <a:srgbClr val="75668D"/>
                </a:solidFill>
                <a:latin typeface="Aptos" panose="020B0004020202020204" pitchFamily="34" charset="0"/>
              </a:rPr>
              <a:t>Avisos públicos e estado explicativo do QR Code</a:t>
            </a:r>
          </a:p>
        </p:txBody>
      </p:sp>
    </p:spTree>
    <p:extLst>
      <p:ext uri="{BB962C8B-B14F-4D97-AF65-F5344CB8AC3E}">
        <p14:creationId xmlns:p14="http://schemas.microsoft.com/office/powerpoint/2010/main" val="413821557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8813E59D-4D5F-E702-F0BA-DCCDA3978846}"/>
              </a:ext>
            </a:extLst>
          </p:cNvPr>
          <p:cNvSpPr/>
          <p:nvPr/>
        </p:nvSpPr>
        <p:spPr>
          <a:xfrm>
            <a:off x="609600" y="406400"/>
            <a:ext cx="63500" cy="254000"/>
          </a:xfrm>
          <a:prstGeom prst="rect">
            <a:avLst/>
          </a:prstGeom>
          <a:solidFill>
            <a:srgbClr val="7660D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2A33DE5C-A8F1-759E-0897-CC4C5A1C3B23}"/>
              </a:ext>
            </a:extLst>
          </p:cNvPr>
          <p:cNvSpPr txBox="1"/>
          <p:nvPr/>
        </p:nvSpPr>
        <p:spPr>
          <a:xfrm>
            <a:off x="812800" y="431800"/>
            <a:ext cx="102235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1000" b="1">
                <a:solidFill>
                  <a:srgbClr val="7660D3"/>
                </a:solidFill>
                <a:latin typeface="Aptos" panose="020B0004020202020204" pitchFamily="34" charset="0"/>
              </a:rPr>
              <a:t>ARQUITETURA · IMPLEMENTAÇÃO ATUAL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9129AE17-36C5-82FF-71C0-6A0D41491F63}"/>
              </a:ext>
            </a:extLst>
          </p:cNvPr>
          <p:cNvSpPr txBox="1"/>
          <p:nvPr/>
        </p:nvSpPr>
        <p:spPr>
          <a:xfrm>
            <a:off x="609600" y="889000"/>
            <a:ext cx="10985500" cy="44627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2900" b="1">
                <a:solidFill>
                  <a:srgbClr val="273047"/>
                </a:solidFill>
                <a:latin typeface="Aptos" panose="020B0004020202020204" pitchFamily="34" charset="0"/>
              </a:rPr>
              <a:t>Uma aplicação local com responsabilidades separadas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9F5AF173-1735-758D-C29A-9552E8255396}"/>
              </a:ext>
            </a:extLst>
          </p:cNvPr>
          <p:cNvSpPr txBox="1"/>
          <p:nvPr/>
        </p:nvSpPr>
        <p:spPr>
          <a:xfrm>
            <a:off x="609600" y="1816100"/>
            <a:ext cx="10998200" cy="2000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1300">
                <a:solidFill>
                  <a:srgbClr val="7B7F93"/>
                </a:solidFill>
                <a:latin typeface="Aptos" panose="020B0004020202020204" pitchFamily="34" charset="0"/>
              </a:rPr>
              <a:t>Arquitetura do protótipo; bibliotecas sugeridas no Markdown não são todas utilizadas.</a:t>
            </a:r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5B273E4A-6B72-C3A1-D55D-7171F7731CAF}"/>
              </a:ext>
            </a:extLst>
          </p:cNvPr>
          <p:cNvSpPr/>
          <p:nvPr/>
        </p:nvSpPr>
        <p:spPr>
          <a:xfrm>
            <a:off x="609600" y="6426200"/>
            <a:ext cx="10972800" cy="12700"/>
          </a:xfrm>
          <a:prstGeom prst="rect">
            <a:avLst/>
          </a:prstGeom>
          <a:solidFill>
            <a:srgbClr val="E2DFE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818C7935-DFFD-93E3-CFFE-DF090E8F27A5}"/>
              </a:ext>
            </a:extLst>
          </p:cNvPr>
          <p:cNvSpPr txBox="1"/>
          <p:nvPr/>
        </p:nvSpPr>
        <p:spPr>
          <a:xfrm>
            <a:off x="609600" y="6553200"/>
            <a:ext cx="9652000" cy="12311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800">
                <a:solidFill>
                  <a:srgbClr val="9690A5"/>
                </a:solidFill>
                <a:latin typeface="Aptos" panose="020B0004020202020204" pitchFamily="34" charset="0"/>
              </a:rPr>
              <a:t>Fonte: Etapa 6 · Direção técnica + código implementado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39940BC8-4B97-FCBA-4B76-16440D3125B3}"/>
              </a:ext>
            </a:extLst>
          </p:cNvPr>
          <p:cNvSpPr txBox="1"/>
          <p:nvPr/>
        </p:nvSpPr>
        <p:spPr>
          <a:xfrm>
            <a:off x="10896600" y="6515100"/>
            <a:ext cx="7493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1000" b="1">
                <a:solidFill>
                  <a:srgbClr val="7660D3"/>
                </a:solidFill>
                <a:latin typeface="Aptos" panose="020B0004020202020204" pitchFamily="34" charset="0"/>
              </a:rPr>
              <a:t>30 / 40</a:t>
            </a:r>
          </a:p>
        </p:txBody>
      </p:sp>
      <p:sp>
        <p:nvSpPr>
          <p:cNvPr id="9" name="Retângulo: Cantos Arredondados 8">
            <a:extLst>
              <a:ext uri="{FF2B5EF4-FFF2-40B4-BE49-F238E27FC236}">
                <a16:creationId xmlns:a16="http://schemas.microsoft.com/office/drawing/2014/main" id="{15858AA8-0BE8-485F-61E9-037FB7793131}"/>
              </a:ext>
            </a:extLst>
          </p:cNvPr>
          <p:cNvSpPr/>
          <p:nvPr/>
        </p:nvSpPr>
        <p:spPr>
          <a:xfrm>
            <a:off x="609600" y="2717800"/>
            <a:ext cx="3302000" cy="25527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" name="Retângulo: Cantos Arredondados 9">
            <a:extLst>
              <a:ext uri="{FF2B5EF4-FFF2-40B4-BE49-F238E27FC236}">
                <a16:creationId xmlns:a16="http://schemas.microsoft.com/office/drawing/2014/main" id="{A3B519D5-70BD-DC43-67BE-872526BBD104}"/>
              </a:ext>
            </a:extLst>
          </p:cNvPr>
          <p:cNvSpPr/>
          <p:nvPr/>
        </p:nvSpPr>
        <p:spPr>
          <a:xfrm>
            <a:off x="825500" y="2933700"/>
            <a:ext cx="406400" cy="342900"/>
          </a:xfrm>
          <a:prstGeom prst="roundRect">
            <a:avLst>
              <a:gd name="adj" fmla="val 6000"/>
            </a:avLst>
          </a:prstGeom>
          <a:solidFill>
            <a:srgbClr val="ECE6F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23D79D70-E6D0-C972-75DE-6E3D2D9D3A5D}"/>
              </a:ext>
            </a:extLst>
          </p:cNvPr>
          <p:cNvSpPr txBox="1"/>
          <p:nvPr/>
        </p:nvSpPr>
        <p:spPr>
          <a:xfrm>
            <a:off x="927100" y="2971800"/>
            <a:ext cx="2667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1200" b="1">
                <a:solidFill>
                  <a:srgbClr val="7660D3"/>
                </a:solidFill>
                <a:latin typeface="Aptos" panose="020B0004020202020204" pitchFamily="34" charset="0"/>
              </a:rPr>
              <a:t>01</a:t>
            </a:r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69B31635-3781-9E56-53CC-A9ADBA475232}"/>
              </a:ext>
            </a:extLst>
          </p:cNvPr>
          <p:cNvSpPr txBox="1"/>
          <p:nvPr/>
        </p:nvSpPr>
        <p:spPr>
          <a:xfrm>
            <a:off x="825500" y="3505200"/>
            <a:ext cx="28702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b="1">
                <a:solidFill>
                  <a:srgbClr val="6550B5"/>
                </a:solidFill>
                <a:latin typeface="Aptos" panose="020B0004020202020204" pitchFamily="34" charset="0"/>
              </a:rPr>
              <a:t>Interface e navegação</a:t>
            </a:r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308BE930-8B27-588A-3C15-B30565E1681B}"/>
              </a:ext>
            </a:extLst>
          </p:cNvPr>
          <p:cNvSpPr txBox="1"/>
          <p:nvPr/>
        </p:nvSpPr>
        <p:spPr>
          <a:xfrm>
            <a:off x="825500" y="4178300"/>
            <a:ext cx="2870200" cy="60016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1300">
                <a:solidFill>
                  <a:srgbClr val="626A80"/>
                </a:solidFill>
                <a:latin typeface="Aptos" panose="020B0004020202020204" pitchFamily="34" charset="0"/>
              </a:rPr>
              <a:t>React 19 + TypeScript estrito + Vite. CSS responsivo e rotas hash; componentes de formulário e diálogo.</a:t>
            </a:r>
          </a:p>
        </p:txBody>
      </p:sp>
      <p:cxnSp>
        <p:nvCxnSpPr>
          <p:cNvPr id="14" name="Conector de Seta Reta 13">
            <a:extLst>
              <a:ext uri="{FF2B5EF4-FFF2-40B4-BE49-F238E27FC236}">
                <a16:creationId xmlns:a16="http://schemas.microsoft.com/office/drawing/2014/main" id="{F15B7B62-4FC6-B0AE-114D-E4EEF803AB00}"/>
              </a:ext>
            </a:extLst>
          </p:cNvPr>
          <p:cNvCxnSpPr/>
          <p:nvPr/>
        </p:nvCxnSpPr>
        <p:spPr>
          <a:xfrm>
            <a:off x="4013200" y="3987800"/>
            <a:ext cx="330200" cy="0"/>
          </a:xfrm>
          <a:prstGeom prst="straightConnector1">
            <a:avLst/>
          </a:prstGeom>
          <a:ln w="25400">
            <a:solidFill>
              <a:srgbClr val="9B85D6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etângulo: Cantos Arredondados 14">
            <a:extLst>
              <a:ext uri="{FF2B5EF4-FFF2-40B4-BE49-F238E27FC236}">
                <a16:creationId xmlns:a16="http://schemas.microsoft.com/office/drawing/2014/main" id="{A715B11A-8A19-0122-AA1F-ADA93B2CB0FF}"/>
              </a:ext>
            </a:extLst>
          </p:cNvPr>
          <p:cNvSpPr/>
          <p:nvPr/>
        </p:nvSpPr>
        <p:spPr>
          <a:xfrm>
            <a:off x="4445000" y="2717800"/>
            <a:ext cx="3302000" cy="25527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6" name="Retângulo: Cantos Arredondados 15">
            <a:extLst>
              <a:ext uri="{FF2B5EF4-FFF2-40B4-BE49-F238E27FC236}">
                <a16:creationId xmlns:a16="http://schemas.microsoft.com/office/drawing/2014/main" id="{4C7F1170-068B-1C84-9B53-D47F5A889554}"/>
              </a:ext>
            </a:extLst>
          </p:cNvPr>
          <p:cNvSpPr/>
          <p:nvPr/>
        </p:nvSpPr>
        <p:spPr>
          <a:xfrm>
            <a:off x="4660900" y="2933700"/>
            <a:ext cx="406400" cy="342900"/>
          </a:xfrm>
          <a:prstGeom prst="roundRect">
            <a:avLst>
              <a:gd name="adj" fmla="val 6000"/>
            </a:avLst>
          </a:prstGeom>
          <a:solidFill>
            <a:srgbClr val="ECE6F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7" name="CaixaDeTexto 16">
            <a:extLst>
              <a:ext uri="{FF2B5EF4-FFF2-40B4-BE49-F238E27FC236}">
                <a16:creationId xmlns:a16="http://schemas.microsoft.com/office/drawing/2014/main" id="{4A7A1248-1EEA-930E-7A5B-839A1D867C8E}"/>
              </a:ext>
            </a:extLst>
          </p:cNvPr>
          <p:cNvSpPr txBox="1"/>
          <p:nvPr/>
        </p:nvSpPr>
        <p:spPr>
          <a:xfrm>
            <a:off x="4762500" y="2971800"/>
            <a:ext cx="2667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1200" b="1">
                <a:solidFill>
                  <a:srgbClr val="7660D3"/>
                </a:solidFill>
                <a:latin typeface="Aptos" panose="020B0004020202020204" pitchFamily="34" charset="0"/>
              </a:rPr>
              <a:t>02</a:t>
            </a:r>
          </a:p>
        </p:txBody>
      </p:sp>
      <p:sp>
        <p:nvSpPr>
          <p:cNvPr id="18" name="CaixaDeTexto 17">
            <a:extLst>
              <a:ext uri="{FF2B5EF4-FFF2-40B4-BE49-F238E27FC236}">
                <a16:creationId xmlns:a16="http://schemas.microsoft.com/office/drawing/2014/main" id="{26FCCE20-B81A-13C6-8DBB-8B32C675F626}"/>
              </a:ext>
            </a:extLst>
          </p:cNvPr>
          <p:cNvSpPr txBox="1"/>
          <p:nvPr/>
        </p:nvSpPr>
        <p:spPr>
          <a:xfrm>
            <a:off x="4660900" y="3505200"/>
            <a:ext cx="28702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b="1">
                <a:solidFill>
                  <a:srgbClr val="6550B5"/>
                </a:solidFill>
                <a:latin typeface="Aptos" panose="020B0004020202020204" pitchFamily="34" charset="0"/>
              </a:rPr>
              <a:t>Regras de negócio</a:t>
            </a:r>
          </a:p>
        </p:txBody>
      </p:sp>
      <p:sp>
        <p:nvSpPr>
          <p:cNvPr id="19" name="CaixaDeTexto 18">
            <a:extLst>
              <a:ext uri="{FF2B5EF4-FFF2-40B4-BE49-F238E27FC236}">
                <a16:creationId xmlns:a16="http://schemas.microsoft.com/office/drawing/2014/main" id="{981D88CA-CA2C-4092-7CBB-9388BAF3360D}"/>
              </a:ext>
            </a:extLst>
          </p:cNvPr>
          <p:cNvSpPr txBox="1"/>
          <p:nvPr/>
        </p:nvSpPr>
        <p:spPr>
          <a:xfrm>
            <a:off x="4660900" y="4178300"/>
            <a:ext cx="2870200" cy="60016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1300">
                <a:solidFill>
                  <a:srgbClr val="626A80"/>
                </a:solidFill>
                <a:latin typeface="Aptos" panose="020B0004020202020204" pitchFamily="34" charset="0"/>
              </a:rPr>
              <a:t>domain.ts centraliza prioridade, progresso, XP e recuperação. Assistente interpreta intenções locais.</a:t>
            </a:r>
          </a:p>
        </p:txBody>
      </p:sp>
      <p:cxnSp>
        <p:nvCxnSpPr>
          <p:cNvPr id="20" name="Conector de Seta Reta 19">
            <a:extLst>
              <a:ext uri="{FF2B5EF4-FFF2-40B4-BE49-F238E27FC236}">
                <a16:creationId xmlns:a16="http://schemas.microsoft.com/office/drawing/2014/main" id="{D9A05D99-C39E-E081-3CEF-AA07813D37A9}"/>
              </a:ext>
            </a:extLst>
          </p:cNvPr>
          <p:cNvCxnSpPr/>
          <p:nvPr/>
        </p:nvCxnSpPr>
        <p:spPr>
          <a:xfrm>
            <a:off x="7848600" y="3987800"/>
            <a:ext cx="330200" cy="0"/>
          </a:xfrm>
          <a:prstGeom prst="straightConnector1">
            <a:avLst/>
          </a:prstGeom>
          <a:ln w="25400">
            <a:solidFill>
              <a:srgbClr val="9B85D6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etângulo: Cantos Arredondados 20">
            <a:extLst>
              <a:ext uri="{FF2B5EF4-FFF2-40B4-BE49-F238E27FC236}">
                <a16:creationId xmlns:a16="http://schemas.microsoft.com/office/drawing/2014/main" id="{F7196D8C-8DCB-F61D-75E8-62A2E9D21E81}"/>
              </a:ext>
            </a:extLst>
          </p:cNvPr>
          <p:cNvSpPr/>
          <p:nvPr/>
        </p:nvSpPr>
        <p:spPr>
          <a:xfrm>
            <a:off x="8280400" y="2717800"/>
            <a:ext cx="3302000" cy="25527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2" name="Retângulo: Cantos Arredondados 21">
            <a:extLst>
              <a:ext uri="{FF2B5EF4-FFF2-40B4-BE49-F238E27FC236}">
                <a16:creationId xmlns:a16="http://schemas.microsoft.com/office/drawing/2014/main" id="{81A796F1-5086-DB37-C056-AD3D87FAACA1}"/>
              </a:ext>
            </a:extLst>
          </p:cNvPr>
          <p:cNvSpPr/>
          <p:nvPr/>
        </p:nvSpPr>
        <p:spPr>
          <a:xfrm>
            <a:off x="8496300" y="2933700"/>
            <a:ext cx="406400" cy="342900"/>
          </a:xfrm>
          <a:prstGeom prst="roundRect">
            <a:avLst>
              <a:gd name="adj" fmla="val 6000"/>
            </a:avLst>
          </a:prstGeom>
          <a:solidFill>
            <a:srgbClr val="ECE6F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3" name="CaixaDeTexto 22">
            <a:extLst>
              <a:ext uri="{FF2B5EF4-FFF2-40B4-BE49-F238E27FC236}">
                <a16:creationId xmlns:a16="http://schemas.microsoft.com/office/drawing/2014/main" id="{31F616A4-8559-8477-C7D1-EFC18AE97017}"/>
              </a:ext>
            </a:extLst>
          </p:cNvPr>
          <p:cNvSpPr txBox="1"/>
          <p:nvPr/>
        </p:nvSpPr>
        <p:spPr>
          <a:xfrm>
            <a:off x="8597900" y="2971800"/>
            <a:ext cx="2667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1200" b="1">
                <a:solidFill>
                  <a:srgbClr val="7660D3"/>
                </a:solidFill>
                <a:latin typeface="Aptos" panose="020B0004020202020204" pitchFamily="34" charset="0"/>
              </a:rPr>
              <a:t>03</a:t>
            </a:r>
          </a:p>
        </p:txBody>
      </p:sp>
      <p:sp>
        <p:nvSpPr>
          <p:cNvPr id="24" name="CaixaDeTexto 23">
            <a:extLst>
              <a:ext uri="{FF2B5EF4-FFF2-40B4-BE49-F238E27FC236}">
                <a16:creationId xmlns:a16="http://schemas.microsoft.com/office/drawing/2014/main" id="{4F08CAAA-860B-FABF-7064-6FBFCFDA22A9}"/>
              </a:ext>
            </a:extLst>
          </p:cNvPr>
          <p:cNvSpPr txBox="1"/>
          <p:nvPr/>
        </p:nvSpPr>
        <p:spPr>
          <a:xfrm>
            <a:off x="8496300" y="3505200"/>
            <a:ext cx="28702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b="1">
                <a:solidFill>
                  <a:srgbClr val="6550B5"/>
                </a:solidFill>
                <a:latin typeface="Aptos" panose="020B0004020202020204" pitchFamily="34" charset="0"/>
              </a:rPr>
              <a:t>Persistência local</a:t>
            </a:r>
          </a:p>
        </p:txBody>
      </p:sp>
      <p:sp>
        <p:nvSpPr>
          <p:cNvPr id="25" name="CaixaDeTexto 24">
            <a:extLst>
              <a:ext uri="{FF2B5EF4-FFF2-40B4-BE49-F238E27FC236}">
                <a16:creationId xmlns:a16="http://schemas.microsoft.com/office/drawing/2014/main" id="{1339EEC0-73D6-A54A-72BE-3B20FD134F55}"/>
              </a:ext>
            </a:extLst>
          </p:cNvPr>
          <p:cNvSpPr txBox="1"/>
          <p:nvPr/>
        </p:nvSpPr>
        <p:spPr>
          <a:xfrm>
            <a:off x="8496300" y="4178300"/>
            <a:ext cx="2870200" cy="60016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1300">
                <a:solidFill>
                  <a:srgbClr val="626A80"/>
                </a:solidFill>
                <a:latin typeface="Aptos" panose="020B0004020202020204" pitchFamily="34" charset="0"/>
              </a:rPr>
              <a:t>storage.ts acessa IndexedDB e serializa gravações. localStorage mantém preferências e perfil.</a:t>
            </a:r>
          </a:p>
        </p:txBody>
      </p:sp>
      <p:sp>
        <p:nvSpPr>
          <p:cNvPr id="26" name="Retângulo: Cantos Arredondados 25">
            <a:extLst>
              <a:ext uri="{FF2B5EF4-FFF2-40B4-BE49-F238E27FC236}">
                <a16:creationId xmlns:a16="http://schemas.microsoft.com/office/drawing/2014/main" id="{CFA9A746-1983-052C-43DE-04C7FFED9913}"/>
              </a:ext>
            </a:extLst>
          </p:cNvPr>
          <p:cNvSpPr/>
          <p:nvPr/>
        </p:nvSpPr>
        <p:spPr>
          <a:xfrm>
            <a:off x="609600" y="5499100"/>
            <a:ext cx="10972800" cy="762000"/>
          </a:xfrm>
          <a:prstGeom prst="roundRect">
            <a:avLst>
              <a:gd name="adj" fmla="val 6000"/>
            </a:avLst>
          </a:prstGeom>
          <a:solidFill>
            <a:srgbClr val="EDE7F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7" name="CaixaDeTexto 26">
            <a:extLst>
              <a:ext uri="{FF2B5EF4-FFF2-40B4-BE49-F238E27FC236}">
                <a16:creationId xmlns:a16="http://schemas.microsoft.com/office/drawing/2014/main" id="{B12B327B-ACA0-4C7A-DDB4-05B54D6DADCC}"/>
              </a:ext>
            </a:extLst>
          </p:cNvPr>
          <p:cNvSpPr txBox="1"/>
          <p:nvPr/>
        </p:nvSpPr>
        <p:spPr>
          <a:xfrm>
            <a:off x="812800" y="5626100"/>
            <a:ext cx="25400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1200" b="1">
                <a:solidFill>
                  <a:srgbClr val="6550B5"/>
                </a:solidFill>
                <a:latin typeface="Aptos" panose="020B0004020202020204" pitchFamily="34" charset="0"/>
              </a:rPr>
              <a:t>CAMADA OFFLINE</a:t>
            </a:r>
          </a:p>
        </p:txBody>
      </p:sp>
      <p:sp>
        <p:nvSpPr>
          <p:cNvPr id="28" name="CaixaDeTexto 27">
            <a:extLst>
              <a:ext uri="{FF2B5EF4-FFF2-40B4-BE49-F238E27FC236}">
                <a16:creationId xmlns:a16="http://schemas.microsoft.com/office/drawing/2014/main" id="{C00EB98C-2CBE-BCC4-2C63-F6C376232A3B}"/>
              </a:ext>
            </a:extLst>
          </p:cNvPr>
          <p:cNvSpPr txBox="1"/>
          <p:nvPr/>
        </p:nvSpPr>
        <p:spPr>
          <a:xfrm>
            <a:off x="3378200" y="5588000"/>
            <a:ext cx="7962900" cy="2000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1300">
                <a:solidFill>
                  <a:srgbClr val="626A80"/>
                </a:solidFill>
                <a:latin typeface="Aptos" panose="020B0004020202020204" pitchFamily="34" charset="0"/>
              </a:rPr>
              <a:t>demo.ts contém seed e quiz. Service worker guarda arquivos da versão de produção para recarga sem rede.</a:t>
            </a:r>
          </a:p>
        </p:txBody>
      </p:sp>
    </p:spTree>
    <p:extLst>
      <p:ext uri="{BB962C8B-B14F-4D97-AF65-F5344CB8AC3E}">
        <p14:creationId xmlns:p14="http://schemas.microsoft.com/office/powerpoint/2010/main" val="198765259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30273DEC-76ED-9D6C-B37C-42F49516D201}"/>
              </a:ext>
            </a:extLst>
          </p:cNvPr>
          <p:cNvSpPr/>
          <p:nvPr/>
        </p:nvSpPr>
        <p:spPr>
          <a:xfrm>
            <a:off x="609600" y="406400"/>
            <a:ext cx="63500" cy="254000"/>
          </a:xfrm>
          <a:prstGeom prst="rect">
            <a:avLst/>
          </a:prstGeom>
          <a:solidFill>
            <a:srgbClr val="7660D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49392B27-58AE-9020-39D1-4F476A25E9D9}"/>
              </a:ext>
            </a:extLst>
          </p:cNvPr>
          <p:cNvSpPr txBox="1"/>
          <p:nvPr/>
        </p:nvSpPr>
        <p:spPr>
          <a:xfrm>
            <a:off x="812800" y="431800"/>
            <a:ext cx="102235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1000" b="1">
                <a:solidFill>
                  <a:srgbClr val="7660D3"/>
                </a:solidFill>
                <a:latin typeface="Aptos" panose="020B0004020202020204" pitchFamily="34" charset="0"/>
              </a:rPr>
              <a:t>ARQUITETURA · DADOS E RELACIONAMENTOS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EF57C3C1-57A6-9835-36C4-6B46B07066B7}"/>
              </a:ext>
            </a:extLst>
          </p:cNvPr>
          <p:cNvSpPr txBox="1"/>
          <p:nvPr/>
        </p:nvSpPr>
        <p:spPr>
          <a:xfrm>
            <a:off x="609600" y="889000"/>
            <a:ext cx="10985500" cy="44627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2900" b="1">
                <a:solidFill>
                  <a:srgbClr val="273047"/>
                </a:solidFill>
                <a:latin typeface="Aptos" panose="020B0004020202020204" pitchFamily="34" charset="0"/>
              </a:rPr>
              <a:t>Uma atividade compartilhada. Progresso individual.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1A394B29-68DB-2CBD-0155-3CD20F9B52B0}"/>
              </a:ext>
            </a:extLst>
          </p:cNvPr>
          <p:cNvSpPr txBox="1"/>
          <p:nvPr/>
        </p:nvSpPr>
        <p:spPr>
          <a:xfrm>
            <a:off x="609600" y="1816100"/>
            <a:ext cx="10998200" cy="2000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1300">
                <a:solidFill>
                  <a:srgbClr val="7B7F93"/>
                </a:solidFill>
                <a:latin typeface="Aptos" panose="020B0004020202020204" pitchFamily="34" charset="0"/>
              </a:rPr>
              <a:t>IDs estáveis conectam a turma às responsabilidades de cada estudante.</a:t>
            </a:r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8A578913-16FD-95C7-C82F-D9D4A08A39CD}"/>
              </a:ext>
            </a:extLst>
          </p:cNvPr>
          <p:cNvSpPr/>
          <p:nvPr/>
        </p:nvSpPr>
        <p:spPr>
          <a:xfrm>
            <a:off x="609600" y="6426200"/>
            <a:ext cx="10972800" cy="12700"/>
          </a:xfrm>
          <a:prstGeom prst="rect">
            <a:avLst/>
          </a:prstGeom>
          <a:solidFill>
            <a:srgbClr val="E2DFE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39A98AAE-D32A-3F23-D1B6-016D4EBC1978}"/>
              </a:ext>
            </a:extLst>
          </p:cNvPr>
          <p:cNvSpPr txBox="1"/>
          <p:nvPr/>
        </p:nvSpPr>
        <p:spPr>
          <a:xfrm>
            <a:off x="609600" y="6553200"/>
            <a:ext cx="9652000" cy="12311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800">
                <a:solidFill>
                  <a:srgbClr val="9690A5"/>
                </a:solidFill>
                <a:latin typeface="Aptos" panose="020B0004020202020204" pitchFamily="34" charset="0"/>
              </a:rPr>
              <a:t>Fonte: Etapa 6 · Dados fictícios coerentes e persistência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C766A677-5D3F-8F81-663F-206C26DC5F44}"/>
              </a:ext>
            </a:extLst>
          </p:cNvPr>
          <p:cNvSpPr txBox="1"/>
          <p:nvPr/>
        </p:nvSpPr>
        <p:spPr>
          <a:xfrm>
            <a:off x="10896600" y="6515100"/>
            <a:ext cx="7493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1000" b="1">
                <a:solidFill>
                  <a:srgbClr val="7660D3"/>
                </a:solidFill>
                <a:latin typeface="Aptos" panose="020B0004020202020204" pitchFamily="34" charset="0"/>
              </a:rPr>
              <a:t>31 / 40</a:t>
            </a:r>
          </a:p>
        </p:txBody>
      </p:sp>
      <p:sp>
        <p:nvSpPr>
          <p:cNvPr id="9" name="Retângulo: Cantos Arredondados 8">
            <a:extLst>
              <a:ext uri="{FF2B5EF4-FFF2-40B4-BE49-F238E27FC236}">
                <a16:creationId xmlns:a16="http://schemas.microsoft.com/office/drawing/2014/main" id="{A645C690-4902-F980-5311-E27C09393D3E}"/>
              </a:ext>
            </a:extLst>
          </p:cNvPr>
          <p:cNvSpPr/>
          <p:nvPr/>
        </p:nvSpPr>
        <p:spPr>
          <a:xfrm>
            <a:off x="609600" y="2476500"/>
            <a:ext cx="3522133" cy="1778000"/>
          </a:xfrm>
          <a:prstGeom prst="roundRect">
            <a:avLst>
              <a:gd name="adj" fmla="val 6000"/>
            </a:avLst>
          </a:prstGeom>
          <a:solidFill>
            <a:srgbClr val="EFEAF9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99BD4675-978B-A45B-CB48-465274B94858}"/>
              </a:ext>
            </a:extLst>
          </p:cNvPr>
          <p:cNvSpPr txBox="1"/>
          <p:nvPr/>
        </p:nvSpPr>
        <p:spPr>
          <a:xfrm>
            <a:off x="838200" y="2717800"/>
            <a:ext cx="3064933" cy="2616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1700" b="1">
                <a:solidFill>
                  <a:srgbClr val="6550B5"/>
                </a:solidFill>
                <a:latin typeface="Aptos" panose="020B0004020202020204" pitchFamily="34" charset="0"/>
              </a:rPr>
              <a:t>Turma + disciplina</a:t>
            </a:r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48C83694-F18B-3A55-AE7C-37876C88D86E}"/>
              </a:ext>
            </a:extLst>
          </p:cNvPr>
          <p:cNvSpPr txBox="1"/>
          <p:nvPr/>
        </p:nvSpPr>
        <p:spPr>
          <a:xfrm>
            <a:off x="838200" y="3390900"/>
            <a:ext cx="3064933" cy="43088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1400">
                <a:solidFill>
                  <a:srgbClr val="626A80"/>
                </a:solidFill>
                <a:latin typeface="Aptos" panose="020B0004020202020204" pitchFamily="34" charset="0"/>
              </a:rPr>
              <a:t>Organizam os usuários e o contexto acadêmico.</a:t>
            </a:r>
          </a:p>
        </p:txBody>
      </p:sp>
      <p:cxnSp>
        <p:nvCxnSpPr>
          <p:cNvPr id="12" name="Conector de Seta Reta 11">
            <a:extLst>
              <a:ext uri="{FF2B5EF4-FFF2-40B4-BE49-F238E27FC236}">
                <a16:creationId xmlns:a16="http://schemas.microsoft.com/office/drawing/2014/main" id="{86251A87-9D2E-5627-82FE-FFEB84D84B0E}"/>
              </a:ext>
            </a:extLst>
          </p:cNvPr>
          <p:cNvCxnSpPr/>
          <p:nvPr/>
        </p:nvCxnSpPr>
        <p:spPr>
          <a:xfrm>
            <a:off x="4157133" y="3365500"/>
            <a:ext cx="152400" cy="0"/>
          </a:xfrm>
          <a:prstGeom prst="straightConnector1">
            <a:avLst/>
          </a:prstGeom>
          <a:ln w="19050">
            <a:solidFill>
              <a:srgbClr val="9B85D6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etângulo: Cantos Arredondados 12">
            <a:extLst>
              <a:ext uri="{FF2B5EF4-FFF2-40B4-BE49-F238E27FC236}">
                <a16:creationId xmlns:a16="http://schemas.microsoft.com/office/drawing/2014/main" id="{9F85E5CF-D5D7-3784-B121-737290674C28}"/>
              </a:ext>
            </a:extLst>
          </p:cNvPr>
          <p:cNvSpPr/>
          <p:nvPr/>
        </p:nvSpPr>
        <p:spPr>
          <a:xfrm>
            <a:off x="4334933" y="2476500"/>
            <a:ext cx="3522134" cy="1778000"/>
          </a:xfrm>
          <a:prstGeom prst="roundRect">
            <a:avLst>
              <a:gd name="adj" fmla="val 6000"/>
            </a:avLst>
          </a:prstGeom>
          <a:solidFill>
            <a:srgbClr val="EFEAF9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12B7BB98-90DF-03EE-577A-5739C8C454E4}"/>
              </a:ext>
            </a:extLst>
          </p:cNvPr>
          <p:cNvSpPr txBox="1"/>
          <p:nvPr/>
        </p:nvSpPr>
        <p:spPr>
          <a:xfrm>
            <a:off x="4563533" y="2717800"/>
            <a:ext cx="3064933" cy="2616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1700" b="1">
                <a:solidFill>
                  <a:srgbClr val="6550B5"/>
                </a:solidFill>
                <a:latin typeface="Aptos" panose="020B0004020202020204" pitchFamily="34" charset="0"/>
              </a:rPr>
              <a:t>Atividade + etapas</a:t>
            </a:r>
          </a:p>
        </p:txBody>
      </p:sp>
      <p:sp>
        <p:nvSpPr>
          <p:cNvPr id="15" name="CaixaDeTexto 14">
            <a:extLst>
              <a:ext uri="{FF2B5EF4-FFF2-40B4-BE49-F238E27FC236}">
                <a16:creationId xmlns:a16="http://schemas.microsoft.com/office/drawing/2014/main" id="{F5CC2C02-216B-3FC9-3721-53D7422F7CDC}"/>
              </a:ext>
            </a:extLst>
          </p:cNvPr>
          <p:cNvSpPr txBox="1"/>
          <p:nvPr/>
        </p:nvSpPr>
        <p:spPr>
          <a:xfrm>
            <a:off x="4563533" y="3390900"/>
            <a:ext cx="3064933" cy="43088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1400">
                <a:solidFill>
                  <a:srgbClr val="626A80"/>
                </a:solidFill>
                <a:latin typeface="Aptos" panose="020B0004020202020204" pitchFamily="34" charset="0"/>
              </a:rPr>
              <a:t>Um registro com prazo e orientações comuns.</a:t>
            </a:r>
          </a:p>
        </p:txBody>
      </p:sp>
      <p:cxnSp>
        <p:nvCxnSpPr>
          <p:cNvPr id="16" name="Conector de Seta Reta 15">
            <a:extLst>
              <a:ext uri="{FF2B5EF4-FFF2-40B4-BE49-F238E27FC236}">
                <a16:creationId xmlns:a16="http://schemas.microsoft.com/office/drawing/2014/main" id="{9F8ED027-94C4-C30C-DE0B-4541AC19C91B}"/>
              </a:ext>
            </a:extLst>
          </p:cNvPr>
          <p:cNvCxnSpPr/>
          <p:nvPr/>
        </p:nvCxnSpPr>
        <p:spPr>
          <a:xfrm>
            <a:off x="7882467" y="3365500"/>
            <a:ext cx="152400" cy="0"/>
          </a:xfrm>
          <a:prstGeom prst="straightConnector1">
            <a:avLst/>
          </a:prstGeom>
          <a:ln w="19050">
            <a:solidFill>
              <a:srgbClr val="9B85D6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etângulo: Cantos Arredondados 16">
            <a:extLst>
              <a:ext uri="{FF2B5EF4-FFF2-40B4-BE49-F238E27FC236}">
                <a16:creationId xmlns:a16="http://schemas.microsoft.com/office/drawing/2014/main" id="{5DCB562D-BB08-F85B-3879-A5311C8ADEC9}"/>
              </a:ext>
            </a:extLst>
          </p:cNvPr>
          <p:cNvSpPr/>
          <p:nvPr/>
        </p:nvSpPr>
        <p:spPr>
          <a:xfrm>
            <a:off x="8060267" y="2476500"/>
            <a:ext cx="3522133" cy="1778000"/>
          </a:xfrm>
          <a:prstGeom prst="roundRect">
            <a:avLst>
              <a:gd name="adj" fmla="val 6000"/>
            </a:avLst>
          </a:prstGeom>
          <a:solidFill>
            <a:srgbClr val="EFEAF9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8" name="CaixaDeTexto 17">
            <a:extLst>
              <a:ext uri="{FF2B5EF4-FFF2-40B4-BE49-F238E27FC236}">
                <a16:creationId xmlns:a16="http://schemas.microsoft.com/office/drawing/2014/main" id="{0DF41EF1-0FAF-8D31-5F35-413337B56795}"/>
              </a:ext>
            </a:extLst>
          </p:cNvPr>
          <p:cNvSpPr txBox="1"/>
          <p:nvPr/>
        </p:nvSpPr>
        <p:spPr>
          <a:xfrm>
            <a:off x="8288867" y="2717800"/>
            <a:ext cx="3064933" cy="2616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1700" b="1">
                <a:solidFill>
                  <a:srgbClr val="6550B5"/>
                </a:solidFill>
                <a:latin typeface="Aptos" panose="020B0004020202020204" pitchFamily="34" charset="0"/>
              </a:rPr>
              <a:t>Aluno + progresso</a:t>
            </a:r>
          </a:p>
        </p:txBody>
      </p:sp>
      <p:sp>
        <p:nvSpPr>
          <p:cNvPr id="19" name="CaixaDeTexto 18">
            <a:extLst>
              <a:ext uri="{FF2B5EF4-FFF2-40B4-BE49-F238E27FC236}">
                <a16:creationId xmlns:a16="http://schemas.microsoft.com/office/drawing/2014/main" id="{FF77C36E-AC9E-9437-0D3B-CED45D9BB3CF}"/>
              </a:ext>
            </a:extLst>
          </p:cNvPr>
          <p:cNvSpPr txBox="1"/>
          <p:nvPr/>
        </p:nvSpPr>
        <p:spPr>
          <a:xfrm>
            <a:off x="8288867" y="3390900"/>
            <a:ext cx="3064933" cy="43088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1400">
                <a:solidFill>
                  <a:srgbClr val="626A80"/>
                </a:solidFill>
                <a:latin typeface="Aptos" panose="020B0004020202020204" pitchFamily="34" charset="0"/>
              </a:rPr>
              <a:t>Conclusões por usuário e etapa, sem duplicar a atividade.</a:t>
            </a:r>
          </a:p>
        </p:txBody>
      </p:sp>
      <p:sp>
        <p:nvSpPr>
          <p:cNvPr id="20" name="Retângulo: Cantos Arredondados 19">
            <a:extLst>
              <a:ext uri="{FF2B5EF4-FFF2-40B4-BE49-F238E27FC236}">
                <a16:creationId xmlns:a16="http://schemas.microsoft.com/office/drawing/2014/main" id="{3DFC8D5B-6D8E-803B-353E-7B87001179AC}"/>
              </a:ext>
            </a:extLst>
          </p:cNvPr>
          <p:cNvSpPr/>
          <p:nvPr/>
        </p:nvSpPr>
        <p:spPr>
          <a:xfrm>
            <a:off x="609600" y="4457700"/>
            <a:ext cx="3522133" cy="1778000"/>
          </a:xfrm>
          <a:prstGeom prst="roundRect">
            <a:avLst>
              <a:gd name="adj" fmla="val 6000"/>
            </a:avLst>
          </a:prstGeom>
          <a:solidFill>
            <a:srgbClr val="EFEAF9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1" name="CaixaDeTexto 20">
            <a:extLst>
              <a:ext uri="{FF2B5EF4-FFF2-40B4-BE49-F238E27FC236}">
                <a16:creationId xmlns:a16="http://schemas.microsoft.com/office/drawing/2014/main" id="{A052FD4E-63A7-4082-24A3-DB3EB6DF939D}"/>
              </a:ext>
            </a:extLst>
          </p:cNvPr>
          <p:cNvSpPr txBox="1"/>
          <p:nvPr/>
        </p:nvSpPr>
        <p:spPr>
          <a:xfrm>
            <a:off x="838200" y="4699000"/>
            <a:ext cx="3064933" cy="2616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1700" b="1">
                <a:solidFill>
                  <a:srgbClr val="6550B5"/>
                </a:solidFill>
                <a:latin typeface="Aptos" panose="020B0004020202020204" pitchFamily="34" charset="0"/>
              </a:rPr>
              <a:t>Cálculos derivados</a:t>
            </a:r>
          </a:p>
        </p:txBody>
      </p:sp>
      <p:sp>
        <p:nvSpPr>
          <p:cNvPr id="22" name="CaixaDeTexto 21">
            <a:extLst>
              <a:ext uri="{FF2B5EF4-FFF2-40B4-BE49-F238E27FC236}">
                <a16:creationId xmlns:a16="http://schemas.microsoft.com/office/drawing/2014/main" id="{E68BCFBF-C9FB-8E6C-2AF3-17E158EAEF81}"/>
              </a:ext>
            </a:extLst>
          </p:cNvPr>
          <p:cNvSpPr txBox="1"/>
          <p:nvPr/>
        </p:nvSpPr>
        <p:spPr>
          <a:xfrm>
            <a:off x="838200" y="5372100"/>
            <a:ext cx="3064933" cy="43088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1400">
                <a:solidFill>
                  <a:srgbClr val="626A80"/>
                </a:solidFill>
                <a:latin typeface="Aptos" panose="020B0004020202020204" pitchFamily="34" charset="0"/>
              </a:rPr>
              <a:t>Status, prioridade, percentual e XP recalculados.</a:t>
            </a:r>
          </a:p>
        </p:txBody>
      </p:sp>
      <p:cxnSp>
        <p:nvCxnSpPr>
          <p:cNvPr id="23" name="Conector de Seta Reta 22">
            <a:extLst>
              <a:ext uri="{FF2B5EF4-FFF2-40B4-BE49-F238E27FC236}">
                <a16:creationId xmlns:a16="http://schemas.microsoft.com/office/drawing/2014/main" id="{9D60B3EB-9D74-B6FC-8CB3-A97B6ECC3413}"/>
              </a:ext>
            </a:extLst>
          </p:cNvPr>
          <p:cNvCxnSpPr/>
          <p:nvPr/>
        </p:nvCxnSpPr>
        <p:spPr>
          <a:xfrm>
            <a:off x="4157133" y="5346700"/>
            <a:ext cx="152400" cy="0"/>
          </a:xfrm>
          <a:prstGeom prst="straightConnector1">
            <a:avLst/>
          </a:prstGeom>
          <a:ln w="19050">
            <a:solidFill>
              <a:srgbClr val="9B85D6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tângulo: Cantos Arredondados 23">
            <a:extLst>
              <a:ext uri="{FF2B5EF4-FFF2-40B4-BE49-F238E27FC236}">
                <a16:creationId xmlns:a16="http://schemas.microsoft.com/office/drawing/2014/main" id="{8F2CF578-1636-30D4-8C03-E94E56AF1FC4}"/>
              </a:ext>
            </a:extLst>
          </p:cNvPr>
          <p:cNvSpPr/>
          <p:nvPr/>
        </p:nvSpPr>
        <p:spPr>
          <a:xfrm>
            <a:off x="4334933" y="4457700"/>
            <a:ext cx="3522134" cy="1778000"/>
          </a:xfrm>
          <a:prstGeom prst="roundRect">
            <a:avLst>
              <a:gd name="adj" fmla="val 6000"/>
            </a:avLst>
          </a:prstGeom>
          <a:solidFill>
            <a:srgbClr val="EFEAF9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5" name="CaixaDeTexto 24">
            <a:extLst>
              <a:ext uri="{FF2B5EF4-FFF2-40B4-BE49-F238E27FC236}">
                <a16:creationId xmlns:a16="http://schemas.microsoft.com/office/drawing/2014/main" id="{7F63BF96-8179-D823-0E98-0279D63AA1A1}"/>
              </a:ext>
            </a:extLst>
          </p:cNvPr>
          <p:cNvSpPr txBox="1"/>
          <p:nvPr/>
        </p:nvSpPr>
        <p:spPr>
          <a:xfrm>
            <a:off x="4563533" y="4699000"/>
            <a:ext cx="3064933" cy="2616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1700" b="1">
                <a:solidFill>
                  <a:srgbClr val="6550B5"/>
                </a:solidFill>
                <a:latin typeface="Aptos" panose="020B0004020202020204" pitchFamily="34" charset="0"/>
              </a:rPr>
              <a:t>Conteúdo relacionado</a:t>
            </a:r>
          </a:p>
        </p:txBody>
      </p:sp>
      <p:sp>
        <p:nvSpPr>
          <p:cNvPr id="26" name="CaixaDeTexto 25">
            <a:extLst>
              <a:ext uri="{FF2B5EF4-FFF2-40B4-BE49-F238E27FC236}">
                <a16:creationId xmlns:a16="http://schemas.microsoft.com/office/drawing/2014/main" id="{59D36366-076E-C0CB-5892-63199138B37C}"/>
              </a:ext>
            </a:extLst>
          </p:cNvPr>
          <p:cNvSpPr txBox="1"/>
          <p:nvPr/>
        </p:nvSpPr>
        <p:spPr>
          <a:xfrm>
            <a:off x="4563533" y="5372100"/>
            <a:ext cx="3064933" cy="43088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1400">
                <a:solidFill>
                  <a:srgbClr val="626A80"/>
                </a:solidFill>
                <a:latin typeface="Aptos" panose="020B0004020202020204" pitchFamily="34" charset="0"/>
              </a:rPr>
              <a:t>Notas, posts, comunicados e tentativas de quiz.</a:t>
            </a:r>
          </a:p>
        </p:txBody>
      </p:sp>
      <p:cxnSp>
        <p:nvCxnSpPr>
          <p:cNvPr id="27" name="Conector de Seta Reta 26">
            <a:extLst>
              <a:ext uri="{FF2B5EF4-FFF2-40B4-BE49-F238E27FC236}">
                <a16:creationId xmlns:a16="http://schemas.microsoft.com/office/drawing/2014/main" id="{F465F17C-E47C-AEEE-96CC-02F099B4FC10}"/>
              </a:ext>
            </a:extLst>
          </p:cNvPr>
          <p:cNvCxnSpPr/>
          <p:nvPr/>
        </p:nvCxnSpPr>
        <p:spPr>
          <a:xfrm>
            <a:off x="7882467" y="5346700"/>
            <a:ext cx="152400" cy="0"/>
          </a:xfrm>
          <a:prstGeom prst="straightConnector1">
            <a:avLst/>
          </a:prstGeom>
          <a:ln w="19050">
            <a:solidFill>
              <a:srgbClr val="9B85D6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etângulo: Cantos Arredondados 27">
            <a:extLst>
              <a:ext uri="{FF2B5EF4-FFF2-40B4-BE49-F238E27FC236}">
                <a16:creationId xmlns:a16="http://schemas.microsoft.com/office/drawing/2014/main" id="{19547520-9838-07C5-E7DC-514321A8F16A}"/>
              </a:ext>
            </a:extLst>
          </p:cNvPr>
          <p:cNvSpPr/>
          <p:nvPr/>
        </p:nvSpPr>
        <p:spPr>
          <a:xfrm>
            <a:off x="8060267" y="4457700"/>
            <a:ext cx="3522133" cy="1778000"/>
          </a:xfrm>
          <a:prstGeom prst="roundRect">
            <a:avLst>
              <a:gd name="adj" fmla="val 6000"/>
            </a:avLst>
          </a:prstGeom>
          <a:solidFill>
            <a:srgbClr val="EFEAF9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9" name="CaixaDeTexto 28">
            <a:extLst>
              <a:ext uri="{FF2B5EF4-FFF2-40B4-BE49-F238E27FC236}">
                <a16:creationId xmlns:a16="http://schemas.microsoft.com/office/drawing/2014/main" id="{4FFB2807-F1A0-034D-3255-636BD6E287D1}"/>
              </a:ext>
            </a:extLst>
          </p:cNvPr>
          <p:cNvSpPr txBox="1"/>
          <p:nvPr/>
        </p:nvSpPr>
        <p:spPr>
          <a:xfrm>
            <a:off x="8288867" y="4699000"/>
            <a:ext cx="3064933" cy="2616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1700" b="1">
                <a:solidFill>
                  <a:srgbClr val="6550B5"/>
                </a:solidFill>
                <a:latin typeface="Aptos" panose="020B0004020202020204" pitchFamily="34" charset="0"/>
              </a:rPr>
              <a:t>Prazo autorizado</a:t>
            </a:r>
          </a:p>
        </p:txBody>
      </p:sp>
      <p:sp>
        <p:nvSpPr>
          <p:cNvPr id="30" name="CaixaDeTexto 29">
            <a:extLst>
              <a:ext uri="{FF2B5EF4-FFF2-40B4-BE49-F238E27FC236}">
                <a16:creationId xmlns:a16="http://schemas.microsoft.com/office/drawing/2014/main" id="{699B6286-70C4-C2F4-1C38-B81675E6A9D5}"/>
              </a:ext>
            </a:extLst>
          </p:cNvPr>
          <p:cNvSpPr txBox="1"/>
          <p:nvPr/>
        </p:nvSpPr>
        <p:spPr>
          <a:xfrm>
            <a:off x="8288867" y="5372100"/>
            <a:ext cx="3064933" cy="43088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1400">
                <a:solidFill>
                  <a:srgbClr val="626A80"/>
                </a:solidFill>
                <a:latin typeface="Aptos" panose="020B0004020202020204" pitchFamily="34" charset="0"/>
              </a:rPr>
              <a:t>Pedido de extensão → decisão docente → atualização compartilhada.</a:t>
            </a:r>
          </a:p>
        </p:txBody>
      </p:sp>
    </p:spTree>
    <p:extLst>
      <p:ext uri="{BB962C8B-B14F-4D97-AF65-F5344CB8AC3E}">
        <p14:creationId xmlns:p14="http://schemas.microsoft.com/office/powerpoint/2010/main" val="190726966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5AC2624B-F916-A9E8-DD69-B52B3DA20588}"/>
              </a:ext>
            </a:extLst>
          </p:cNvPr>
          <p:cNvSpPr/>
          <p:nvPr/>
        </p:nvSpPr>
        <p:spPr>
          <a:xfrm>
            <a:off x="609600" y="406400"/>
            <a:ext cx="63500" cy="254000"/>
          </a:xfrm>
          <a:prstGeom prst="rect">
            <a:avLst/>
          </a:prstGeom>
          <a:solidFill>
            <a:srgbClr val="7660D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913EC461-746A-0042-E2EB-7CAC67600233}"/>
              </a:ext>
            </a:extLst>
          </p:cNvPr>
          <p:cNvSpPr txBox="1"/>
          <p:nvPr/>
        </p:nvSpPr>
        <p:spPr>
          <a:xfrm>
            <a:off x="812800" y="431800"/>
            <a:ext cx="102235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1000" b="1">
                <a:solidFill>
                  <a:srgbClr val="7660D3"/>
                </a:solidFill>
                <a:latin typeface="Aptos" panose="020B0004020202020204" pitchFamily="34" charset="0"/>
              </a:rPr>
              <a:t>EXPERIÊNCIA · RESPONSIVIDADE E ACESSIBILIDADE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2F6AF721-34D7-D0BD-2AA8-872B9129621D}"/>
              </a:ext>
            </a:extLst>
          </p:cNvPr>
          <p:cNvSpPr txBox="1"/>
          <p:nvPr/>
        </p:nvSpPr>
        <p:spPr>
          <a:xfrm>
            <a:off x="609600" y="889000"/>
            <a:ext cx="10985500" cy="44627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2900" b="1">
                <a:solidFill>
                  <a:srgbClr val="273047"/>
                </a:solidFill>
                <a:latin typeface="Aptos" panose="020B0004020202020204" pitchFamily="34" charset="0"/>
              </a:rPr>
              <a:t>A mesma jornada, em diferentes condições de uso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342FF5B3-7D47-E63B-A345-4B531808B9A2}"/>
              </a:ext>
            </a:extLst>
          </p:cNvPr>
          <p:cNvSpPr txBox="1"/>
          <p:nvPr/>
        </p:nvSpPr>
        <p:spPr>
          <a:xfrm>
            <a:off x="609600" y="1816100"/>
            <a:ext cx="10998200" cy="2000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1300">
                <a:solidFill>
                  <a:srgbClr val="7B7F93"/>
                </a:solidFill>
                <a:latin typeface="Aptos" panose="020B0004020202020204" pitchFamily="34" charset="0"/>
              </a:rPr>
              <a:t>Mobile, tema escuro e controles de conforto visual.</a:t>
            </a:r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411B40B4-FA01-C58B-C5F3-41E348F077C0}"/>
              </a:ext>
            </a:extLst>
          </p:cNvPr>
          <p:cNvSpPr/>
          <p:nvPr/>
        </p:nvSpPr>
        <p:spPr>
          <a:xfrm>
            <a:off x="609600" y="6426200"/>
            <a:ext cx="10972800" cy="12700"/>
          </a:xfrm>
          <a:prstGeom prst="rect">
            <a:avLst/>
          </a:prstGeom>
          <a:solidFill>
            <a:srgbClr val="E2DFE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9D0E39CA-C81B-500C-7B2D-6DA54678513D}"/>
              </a:ext>
            </a:extLst>
          </p:cNvPr>
          <p:cNvSpPr txBox="1"/>
          <p:nvPr/>
        </p:nvSpPr>
        <p:spPr>
          <a:xfrm>
            <a:off x="609600" y="6553200"/>
            <a:ext cx="9652000" cy="12311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800">
                <a:solidFill>
                  <a:srgbClr val="9690A5"/>
                </a:solidFill>
                <a:latin typeface="Aptos" panose="020B0004020202020204" pitchFamily="34" charset="0"/>
              </a:rPr>
              <a:t>Fonte: Etapas 3 e 6 · Experiência e acessibilidade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9EF8074F-A3FB-0AB5-6088-6596EB80EBE7}"/>
              </a:ext>
            </a:extLst>
          </p:cNvPr>
          <p:cNvSpPr txBox="1"/>
          <p:nvPr/>
        </p:nvSpPr>
        <p:spPr>
          <a:xfrm>
            <a:off x="10896600" y="6515100"/>
            <a:ext cx="7493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1000" b="1">
                <a:solidFill>
                  <a:srgbClr val="7660D3"/>
                </a:solidFill>
                <a:latin typeface="Aptos" panose="020B0004020202020204" pitchFamily="34" charset="0"/>
              </a:rPr>
              <a:t>32 / 40</a:t>
            </a:r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AB73864A-807C-DB91-F803-7C4FE57C7C5D}"/>
              </a:ext>
            </a:extLst>
          </p:cNvPr>
          <p:cNvSpPr/>
          <p:nvPr/>
        </p:nvSpPr>
        <p:spPr>
          <a:xfrm>
            <a:off x="609600" y="2527300"/>
            <a:ext cx="63500" cy="368300"/>
          </a:xfrm>
          <a:prstGeom prst="rect">
            <a:avLst/>
          </a:prstGeom>
          <a:solidFill>
            <a:srgbClr val="C7B7E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29349CBA-6598-5395-80C9-BD286B953296}"/>
              </a:ext>
            </a:extLst>
          </p:cNvPr>
          <p:cNvSpPr txBox="1"/>
          <p:nvPr/>
        </p:nvSpPr>
        <p:spPr>
          <a:xfrm>
            <a:off x="838200" y="2501900"/>
            <a:ext cx="31496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1600" b="1">
                <a:solidFill>
                  <a:srgbClr val="6550B5"/>
                </a:solidFill>
                <a:latin typeface="Aptos" panose="020B0004020202020204" pitchFamily="34" charset="0"/>
              </a:rPr>
              <a:t>Hierarquia simples</a:t>
            </a:r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D852092A-80B6-AF08-5727-79CC407C4A95}"/>
              </a:ext>
            </a:extLst>
          </p:cNvPr>
          <p:cNvSpPr txBox="1"/>
          <p:nvPr/>
        </p:nvSpPr>
        <p:spPr>
          <a:xfrm>
            <a:off x="838200" y="3009900"/>
            <a:ext cx="3149600" cy="19236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1250">
                <a:solidFill>
                  <a:srgbClr val="697187"/>
                </a:solidFill>
                <a:latin typeface="Aptos" panose="020B0004020202020204" pitchFamily="34" charset="0"/>
              </a:rPr>
              <a:t>Prioridade → ação → progresso.</a:t>
            </a:r>
          </a:p>
        </p:txBody>
      </p:sp>
      <p:sp>
        <p:nvSpPr>
          <p:cNvPr id="12" name="Retângulo 11">
            <a:extLst>
              <a:ext uri="{FF2B5EF4-FFF2-40B4-BE49-F238E27FC236}">
                <a16:creationId xmlns:a16="http://schemas.microsoft.com/office/drawing/2014/main" id="{F4826BF3-9D59-ACBF-4B0B-BC4CBF59DDD5}"/>
              </a:ext>
            </a:extLst>
          </p:cNvPr>
          <p:cNvSpPr/>
          <p:nvPr/>
        </p:nvSpPr>
        <p:spPr>
          <a:xfrm>
            <a:off x="609600" y="3733800"/>
            <a:ext cx="63500" cy="368300"/>
          </a:xfrm>
          <a:prstGeom prst="rect">
            <a:avLst/>
          </a:prstGeom>
          <a:solidFill>
            <a:srgbClr val="C7B7E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8F0B8220-E84B-A9FA-710B-8F32B6FC4B2F}"/>
              </a:ext>
            </a:extLst>
          </p:cNvPr>
          <p:cNvSpPr txBox="1"/>
          <p:nvPr/>
        </p:nvSpPr>
        <p:spPr>
          <a:xfrm>
            <a:off x="838200" y="3708400"/>
            <a:ext cx="31496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1600" b="1">
                <a:solidFill>
                  <a:srgbClr val="6550B5"/>
                </a:solidFill>
                <a:latin typeface="Aptos" panose="020B0004020202020204" pitchFamily="34" charset="0"/>
              </a:rPr>
              <a:t>Preferências locais</a:t>
            </a:r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A5AF8641-D854-62CF-55BC-338C5CA5D99E}"/>
              </a:ext>
            </a:extLst>
          </p:cNvPr>
          <p:cNvSpPr txBox="1"/>
          <p:nvPr/>
        </p:nvSpPr>
        <p:spPr>
          <a:xfrm>
            <a:off x="838200" y="4216400"/>
            <a:ext cx="3149600" cy="19236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1250">
                <a:solidFill>
                  <a:srgbClr val="697187"/>
                </a:solidFill>
                <a:latin typeface="Aptos" panose="020B0004020202020204" pitchFamily="34" charset="0"/>
              </a:rPr>
              <a:t>Tema, fonte, contraste e movimento reduzido.</a:t>
            </a:r>
          </a:p>
        </p:txBody>
      </p:sp>
      <p:sp>
        <p:nvSpPr>
          <p:cNvPr id="15" name="Retângulo 14">
            <a:extLst>
              <a:ext uri="{FF2B5EF4-FFF2-40B4-BE49-F238E27FC236}">
                <a16:creationId xmlns:a16="http://schemas.microsoft.com/office/drawing/2014/main" id="{A764C88E-4C25-2ABB-5E72-5789FA333F63}"/>
              </a:ext>
            </a:extLst>
          </p:cNvPr>
          <p:cNvSpPr/>
          <p:nvPr/>
        </p:nvSpPr>
        <p:spPr>
          <a:xfrm>
            <a:off x="609600" y="4940300"/>
            <a:ext cx="63500" cy="368300"/>
          </a:xfrm>
          <a:prstGeom prst="rect">
            <a:avLst/>
          </a:prstGeom>
          <a:solidFill>
            <a:srgbClr val="C7B7E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6" name="CaixaDeTexto 15">
            <a:extLst>
              <a:ext uri="{FF2B5EF4-FFF2-40B4-BE49-F238E27FC236}">
                <a16:creationId xmlns:a16="http://schemas.microsoft.com/office/drawing/2014/main" id="{53C9C7B0-6603-D6A8-3235-2AB49E8ACCD9}"/>
              </a:ext>
            </a:extLst>
          </p:cNvPr>
          <p:cNvSpPr txBox="1"/>
          <p:nvPr/>
        </p:nvSpPr>
        <p:spPr>
          <a:xfrm>
            <a:off x="838200" y="4914900"/>
            <a:ext cx="31496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1600" b="1">
                <a:solidFill>
                  <a:srgbClr val="6550B5"/>
                </a:solidFill>
                <a:latin typeface="Aptos" panose="020B0004020202020204" pitchFamily="34" charset="0"/>
              </a:rPr>
              <a:t>Ações compreensíveis</a:t>
            </a:r>
          </a:p>
        </p:txBody>
      </p:sp>
      <p:sp>
        <p:nvSpPr>
          <p:cNvPr id="17" name="CaixaDeTexto 16">
            <a:extLst>
              <a:ext uri="{FF2B5EF4-FFF2-40B4-BE49-F238E27FC236}">
                <a16:creationId xmlns:a16="http://schemas.microsoft.com/office/drawing/2014/main" id="{D8DF598B-5AAF-1C53-BA6A-C29299E7E10F}"/>
              </a:ext>
            </a:extLst>
          </p:cNvPr>
          <p:cNvSpPr txBox="1"/>
          <p:nvPr/>
        </p:nvSpPr>
        <p:spPr>
          <a:xfrm>
            <a:off x="838200" y="5422900"/>
            <a:ext cx="3149600" cy="19236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1250">
                <a:solidFill>
                  <a:srgbClr val="697187"/>
                </a:solidFill>
                <a:latin typeface="Aptos" panose="020B0004020202020204" pitchFamily="34" charset="0"/>
              </a:rPr>
              <a:t>Foco visível, labels, feedback e confirmações.</a:t>
            </a:r>
          </a:p>
        </p:txBody>
      </p:sp>
      <p:sp>
        <p:nvSpPr>
          <p:cNvPr id="18" name="Retângulo: Cantos Arredondados 17">
            <a:extLst>
              <a:ext uri="{FF2B5EF4-FFF2-40B4-BE49-F238E27FC236}">
                <a16:creationId xmlns:a16="http://schemas.microsoft.com/office/drawing/2014/main" id="{E32D6BC8-9C47-4458-E80E-0853F94D6C86}"/>
              </a:ext>
            </a:extLst>
          </p:cNvPr>
          <p:cNvSpPr/>
          <p:nvPr/>
        </p:nvSpPr>
        <p:spPr>
          <a:xfrm>
            <a:off x="4241800" y="2463800"/>
            <a:ext cx="7340600" cy="3771900"/>
          </a:xfrm>
          <a:prstGeom prst="roundRect">
            <a:avLst>
              <a:gd name="adj" fmla="val 6000"/>
            </a:avLst>
          </a:prstGeom>
          <a:solidFill>
            <a:srgbClr val="EDE8F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9" name="Retângulo: Cantos Arredondados 18">
            <a:extLst>
              <a:ext uri="{FF2B5EF4-FFF2-40B4-BE49-F238E27FC236}">
                <a16:creationId xmlns:a16="http://schemas.microsoft.com/office/drawing/2014/main" id="{A60D7888-2B3B-6BEA-E278-0591ED2D8889}"/>
              </a:ext>
            </a:extLst>
          </p:cNvPr>
          <p:cNvSpPr/>
          <p:nvPr/>
        </p:nvSpPr>
        <p:spPr>
          <a:xfrm>
            <a:off x="4449966" y="2540000"/>
            <a:ext cx="1641068" cy="3403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21" name="Imagem 20" descr="Mobile com ação principal em destaque">
            <a:extLst>
              <a:ext uri="{FF2B5EF4-FFF2-40B4-BE49-F238E27FC236}">
                <a16:creationId xmlns:a16="http://schemas.microsoft.com/office/drawing/2014/main" id="{2A93A2E7-86B3-CD1C-3A83-2514CA97117C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13466" y="2603500"/>
            <a:ext cx="1514069" cy="3276600"/>
          </a:xfrm>
          <a:prstGeom prst="rect">
            <a:avLst/>
          </a:prstGeom>
        </p:spPr>
      </p:pic>
      <p:sp>
        <p:nvSpPr>
          <p:cNvPr id="22" name="Retângulo: Cantos Arredondados 21">
            <a:extLst>
              <a:ext uri="{FF2B5EF4-FFF2-40B4-BE49-F238E27FC236}">
                <a16:creationId xmlns:a16="http://schemas.microsoft.com/office/drawing/2014/main" id="{773E3754-6E22-0BEA-D418-292075F9E49A}"/>
              </a:ext>
            </a:extLst>
          </p:cNvPr>
          <p:cNvSpPr/>
          <p:nvPr/>
        </p:nvSpPr>
        <p:spPr>
          <a:xfrm>
            <a:off x="6643254" y="2603500"/>
            <a:ext cx="4468091" cy="31115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24" name="Imagem 23" descr="Tema escuro aplicado à mesma interface">
            <a:extLst>
              <a:ext uri="{FF2B5EF4-FFF2-40B4-BE49-F238E27FC236}">
                <a16:creationId xmlns:a16="http://schemas.microsoft.com/office/drawing/2014/main" id="{1FE99CCA-5D1B-C5FA-7D88-8071C6A3E3D1}"/>
              </a:ext>
            </a:extLst>
          </p:cNvPr>
          <p:cNvPicPr>
            <a:picLocks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06754" y="2667000"/>
            <a:ext cx="4341091" cy="2984500"/>
          </a:xfrm>
          <a:prstGeom prst="rect">
            <a:avLst/>
          </a:prstGeom>
        </p:spPr>
      </p:pic>
      <p:sp>
        <p:nvSpPr>
          <p:cNvPr id="25" name="CaixaDeTexto 24">
            <a:extLst>
              <a:ext uri="{FF2B5EF4-FFF2-40B4-BE49-F238E27FC236}">
                <a16:creationId xmlns:a16="http://schemas.microsoft.com/office/drawing/2014/main" id="{A6DD52A0-0E7E-3CDC-B11A-B552C4DEC430}"/>
              </a:ext>
            </a:extLst>
          </p:cNvPr>
          <p:cNvSpPr txBox="1"/>
          <p:nvPr/>
        </p:nvSpPr>
        <p:spPr>
          <a:xfrm>
            <a:off x="4381500" y="5981700"/>
            <a:ext cx="1905000" cy="12311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800">
                <a:solidFill>
                  <a:srgbClr val="8B7CA6"/>
                </a:solidFill>
                <a:latin typeface="Aptos" panose="020B0004020202020204" pitchFamily="34" charset="0"/>
              </a:rPr>
              <a:t>Mobile com ação principal em destaque</a:t>
            </a:r>
          </a:p>
        </p:txBody>
      </p:sp>
      <p:sp>
        <p:nvSpPr>
          <p:cNvPr id="26" name="CaixaDeTexto 25">
            <a:extLst>
              <a:ext uri="{FF2B5EF4-FFF2-40B4-BE49-F238E27FC236}">
                <a16:creationId xmlns:a16="http://schemas.microsoft.com/office/drawing/2014/main" id="{FB034880-D6E4-4F58-7DCA-682F093992AA}"/>
              </a:ext>
            </a:extLst>
          </p:cNvPr>
          <p:cNvSpPr txBox="1"/>
          <p:nvPr/>
        </p:nvSpPr>
        <p:spPr>
          <a:xfrm>
            <a:off x="6375400" y="5791200"/>
            <a:ext cx="50038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900">
                <a:solidFill>
                  <a:srgbClr val="8B7CA6"/>
                </a:solidFill>
                <a:latin typeface="Aptos" panose="020B0004020202020204" pitchFamily="34" charset="0"/>
              </a:rPr>
              <a:t>Tema escuro aplicado à mesma interface</a:t>
            </a:r>
          </a:p>
        </p:txBody>
      </p:sp>
    </p:spTree>
    <p:extLst>
      <p:ext uri="{BB962C8B-B14F-4D97-AF65-F5344CB8AC3E}">
        <p14:creationId xmlns:p14="http://schemas.microsoft.com/office/powerpoint/2010/main" val="148179881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3295C8A6-169E-8EF5-B6C8-111010D2944D}"/>
              </a:ext>
            </a:extLst>
          </p:cNvPr>
          <p:cNvSpPr/>
          <p:nvPr/>
        </p:nvSpPr>
        <p:spPr>
          <a:xfrm>
            <a:off x="609600" y="406400"/>
            <a:ext cx="63500" cy="254000"/>
          </a:xfrm>
          <a:prstGeom prst="rect">
            <a:avLst/>
          </a:prstGeom>
          <a:solidFill>
            <a:srgbClr val="7660D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E972B26D-3DD4-F634-7E78-D40374FC8295}"/>
              </a:ext>
            </a:extLst>
          </p:cNvPr>
          <p:cNvSpPr txBox="1"/>
          <p:nvPr/>
        </p:nvSpPr>
        <p:spPr>
          <a:xfrm>
            <a:off x="812800" y="431800"/>
            <a:ext cx="102235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1000" b="1">
                <a:solidFill>
                  <a:srgbClr val="7660D3"/>
                </a:solidFill>
                <a:latin typeface="Aptos" panose="020B0004020202020204" pitchFamily="34" charset="0"/>
              </a:rPr>
              <a:t>ESCOPO · TRANSPARÊNCIA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402B1441-68AE-B724-3B00-0AF624DF63FC}"/>
              </a:ext>
            </a:extLst>
          </p:cNvPr>
          <p:cNvSpPr txBox="1"/>
          <p:nvPr/>
        </p:nvSpPr>
        <p:spPr>
          <a:xfrm>
            <a:off x="609600" y="889000"/>
            <a:ext cx="10985500" cy="44627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2900" b="1">
                <a:solidFill>
                  <a:srgbClr val="273047"/>
                </a:solidFill>
                <a:latin typeface="Aptos" panose="020B0004020202020204" pitchFamily="34" charset="0"/>
              </a:rPr>
              <a:t>O que está pronto e o que ainda é evolução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6A08B8A0-5DCE-73FE-AB13-8474C878F19F}"/>
              </a:ext>
            </a:extLst>
          </p:cNvPr>
          <p:cNvSpPr txBox="1"/>
          <p:nvPr/>
        </p:nvSpPr>
        <p:spPr>
          <a:xfrm>
            <a:off x="609600" y="1816100"/>
            <a:ext cx="10998200" cy="2000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1300">
                <a:solidFill>
                  <a:srgbClr val="7B7F93"/>
                </a:solidFill>
                <a:latin typeface="Aptos" panose="020B0004020202020204" pitchFamily="34" charset="0"/>
              </a:rPr>
              <a:t>A demonstração prova ações locais; não simula serviços remotos como reais.</a:t>
            </a:r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27C3757E-B288-6465-0DD6-5A246A01A948}"/>
              </a:ext>
            </a:extLst>
          </p:cNvPr>
          <p:cNvSpPr/>
          <p:nvPr/>
        </p:nvSpPr>
        <p:spPr>
          <a:xfrm>
            <a:off x="609600" y="6426200"/>
            <a:ext cx="10972800" cy="12700"/>
          </a:xfrm>
          <a:prstGeom prst="rect">
            <a:avLst/>
          </a:prstGeom>
          <a:solidFill>
            <a:srgbClr val="E2DFE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069CEECC-3211-C3FE-99BA-7B734578A520}"/>
              </a:ext>
            </a:extLst>
          </p:cNvPr>
          <p:cNvSpPr txBox="1"/>
          <p:nvPr/>
        </p:nvSpPr>
        <p:spPr>
          <a:xfrm>
            <a:off x="609600" y="6553200"/>
            <a:ext cx="9652000" cy="12311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800">
                <a:solidFill>
                  <a:srgbClr val="9690A5"/>
                </a:solidFill>
                <a:latin typeface="Aptos" panose="020B0004020202020204" pitchFamily="34" charset="0"/>
              </a:rPr>
              <a:t>Fonte: Etapa 6 · Escopo e funções que não devem ser prometidas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B6D852E6-F265-5A9D-586E-0A7DB8DA25C5}"/>
              </a:ext>
            </a:extLst>
          </p:cNvPr>
          <p:cNvSpPr txBox="1"/>
          <p:nvPr/>
        </p:nvSpPr>
        <p:spPr>
          <a:xfrm>
            <a:off x="10896600" y="6515100"/>
            <a:ext cx="7493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1000" b="1">
                <a:solidFill>
                  <a:srgbClr val="7660D3"/>
                </a:solidFill>
                <a:latin typeface="Aptos" panose="020B0004020202020204" pitchFamily="34" charset="0"/>
              </a:rPr>
              <a:t>33 / 40</a:t>
            </a:r>
          </a:p>
        </p:txBody>
      </p:sp>
      <p:sp>
        <p:nvSpPr>
          <p:cNvPr id="9" name="Retângulo: Cantos Arredondados 8">
            <a:extLst>
              <a:ext uri="{FF2B5EF4-FFF2-40B4-BE49-F238E27FC236}">
                <a16:creationId xmlns:a16="http://schemas.microsoft.com/office/drawing/2014/main" id="{B0C03156-85EE-D528-AA18-669C18478CD7}"/>
              </a:ext>
            </a:extLst>
          </p:cNvPr>
          <p:cNvSpPr/>
          <p:nvPr/>
        </p:nvSpPr>
        <p:spPr>
          <a:xfrm>
            <a:off x="609600" y="2476500"/>
            <a:ext cx="3522133" cy="3759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36B70790-43CA-8471-013A-9F8BABA57459}"/>
              </a:ext>
            </a:extLst>
          </p:cNvPr>
          <p:cNvSpPr txBox="1"/>
          <p:nvPr/>
        </p:nvSpPr>
        <p:spPr>
          <a:xfrm>
            <a:off x="838200" y="2717800"/>
            <a:ext cx="3064933" cy="2923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1900" b="1">
                <a:solidFill>
                  <a:srgbClr val="6550B5"/>
                </a:solidFill>
                <a:latin typeface="Aptos" panose="020B0004020202020204" pitchFamily="34" charset="0"/>
              </a:rPr>
              <a:t>Funcional no navegador</a:t>
            </a:r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DB7229FE-B9C3-F96C-391A-DC3DEB611EE2}"/>
              </a:ext>
            </a:extLst>
          </p:cNvPr>
          <p:cNvSpPr txBox="1"/>
          <p:nvPr/>
        </p:nvSpPr>
        <p:spPr>
          <a:xfrm>
            <a:off x="838200" y="3390900"/>
            <a:ext cx="3064933" cy="73866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1600">
                <a:solidFill>
                  <a:srgbClr val="626A80"/>
                </a:solidFill>
                <a:latin typeface="Aptos" panose="020B0004020202020204" pitchFamily="34" charset="0"/>
              </a:rPr>
              <a:t>Atividades, etapas, calendário, XP, metas, notas, quiz, comunidade, mural, recuperação e gestão.</a:t>
            </a:r>
          </a:p>
        </p:txBody>
      </p:sp>
      <p:sp>
        <p:nvSpPr>
          <p:cNvPr id="12" name="Retângulo: Cantos Arredondados 11">
            <a:extLst>
              <a:ext uri="{FF2B5EF4-FFF2-40B4-BE49-F238E27FC236}">
                <a16:creationId xmlns:a16="http://schemas.microsoft.com/office/drawing/2014/main" id="{A79A08FD-5737-B2E2-5F79-8DBADB496DEB}"/>
              </a:ext>
            </a:extLst>
          </p:cNvPr>
          <p:cNvSpPr/>
          <p:nvPr/>
        </p:nvSpPr>
        <p:spPr>
          <a:xfrm>
            <a:off x="4334933" y="2476500"/>
            <a:ext cx="3522134" cy="3759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13DACAE1-38AC-E395-33B8-401318E0F136}"/>
              </a:ext>
            </a:extLst>
          </p:cNvPr>
          <p:cNvSpPr txBox="1"/>
          <p:nvPr/>
        </p:nvSpPr>
        <p:spPr>
          <a:xfrm>
            <a:off x="4563533" y="2717800"/>
            <a:ext cx="3064933" cy="58477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1900" b="1">
                <a:solidFill>
                  <a:srgbClr val="6550B5"/>
                </a:solidFill>
                <a:latin typeface="Aptos" panose="020B0004020202020204" pitchFamily="34" charset="0"/>
              </a:rPr>
              <a:t>Demonstrativo e identificado</a:t>
            </a:r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7A2759CF-CB1A-88BE-DCC7-B0246BF74A21}"/>
              </a:ext>
            </a:extLst>
          </p:cNvPr>
          <p:cNvSpPr txBox="1"/>
          <p:nvPr/>
        </p:nvSpPr>
        <p:spPr>
          <a:xfrm>
            <a:off x="4563533" y="3390900"/>
            <a:ext cx="3064933" cy="98488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1600">
                <a:solidFill>
                  <a:srgbClr val="626A80"/>
                </a:solidFill>
                <a:latin typeface="Aptos" panose="020B0004020202020204" pitchFamily="34" charset="0"/>
              </a:rPr>
              <a:t>Troca de perfis, assistente por regras, comunidade local, simulação offline e totem sem equipamento.</a:t>
            </a:r>
          </a:p>
        </p:txBody>
      </p:sp>
      <p:sp>
        <p:nvSpPr>
          <p:cNvPr id="15" name="Retângulo: Cantos Arredondados 14">
            <a:extLst>
              <a:ext uri="{FF2B5EF4-FFF2-40B4-BE49-F238E27FC236}">
                <a16:creationId xmlns:a16="http://schemas.microsoft.com/office/drawing/2014/main" id="{F16C39A2-DC9C-B3DB-AF1A-9A2FFB581892}"/>
              </a:ext>
            </a:extLst>
          </p:cNvPr>
          <p:cNvSpPr/>
          <p:nvPr/>
        </p:nvSpPr>
        <p:spPr>
          <a:xfrm>
            <a:off x="8060267" y="2476500"/>
            <a:ext cx="3522133" cy="3759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6" name="CaixaDeTexto 15">
            <a:extLst>
              <a:ext uri="{FF2B5EF4-FFF2-40B4-BE49-F238E27FC236}">
                <a16:creationId xmlns:a16="http://schemas.microsoft.com/office/drawing/2014/main" id="{0374DA0F-4B3B-78F9-A985-EF499A071B50}"/>
              </a:ext>
            </a:extLst>
          </p:cNvPr>
          <p:cNvSpPr txBox="1"/>
          <p:nvPr/>
        </p:nvSpPr>
        <p:spPr>
          <a:xfrm>
            <a:off x="8288867" y="2717800"/>
            <a:ext cx="3064933" cy="2923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1900" b="1">
                <a:solidFill>
                  <a:srgbClr val="6550B5"/>
                </a:solidFill>
                <a:latin typeface="Aptos" panose="020B0004020202020204" pitchFamily="34" charset="0"/>
              </a:rPr>
              <a:t>Evoluções futuras</a:t>
            </a:r>
          </a:p>
        </p:txBody>
      </p:sp>
      <p:sp>
        <p:nvSpPr>
          <p:cNvPr id="17" name="CaixaDeTexto 16">
            <a:extLst>
              <a:ext uri="{FF2B5EF4-FFF2-40B4-BE49-F238E27FC236}">
                <a16:creationId xmlns:a16="http://schemas.microsoft.com/office/drawing/2014/main" id="{E2C8E737-A721-1A34-4E92-D53CC78F89A6}"/>
              </a:ext>
            </a:extLst>
          </p:cNvPr>
          <p:cNvSpPr txBox="1"/>
          <p:nvPr/>
        </p:nvSpPr>
        <p:spPr>
          <a:xfrm>
            <a:off x="8288867" y="3390900"/>
            <a:ext cx="3064933" cy="98488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1600">
                <a:solidFill>
                  <a:srgbClr val="626A80"/>
                </a:solidFill>
                <a:latin typeface="Aptos" panose="020B0004020202020204" pitchFamily="34" charset="0"/>
              </a:rPr>
              <a:t>Autenticação segura, backend, sincronização, voz/IA generativa, multiplayer, ranking e notificações externas.</a:t>
            </a:r>
          </a:p>
        </p:txBody>
      </p:sp>
    </p:spTree>
    <p:extLst>
      <p:ext uri="{BB962C8B-B14F-4D97-AF65-F5344CB8AC3E}">
        <p14:creationId xmlns:p14="http://schemas.microsoft.com/office/powerpoint/2010/main" val="90201646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104F2D83-DC5D-09C6-C1C5-D601BBCED211}"/>
              </a:ext>
            </a:extLst>
          </p:cNvPr>
          <p:cNvSpPr/>
          <p:nvPr/>
        </p:nvSpPr>
        <p:spPr>
          <a:xfrm>
            <a:off x="609600" y="406400"/>
            <a:ext cx="63500" cy="254000"/>
          </a:xfrm>
          <a:prstGeom prst="rect">
            <a:avLst/>
          </a:prstGeom>
          <a:solidFill>
            <a:srgbClr val="7660D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F2258500-1E81-F0A7-40DD-1BBEF69A862F}"/>
              </a:ext>
            </a:extLst>
          </p:cNvPr>
          <p:cNvSpPr txBox="1"/>
          <p:nvPr/>
        </p:nvSpPr>
        <p:spPr>
          <a:xfrm>
            <a:off x="812800" y="431800"/>
            <a:ext cx="102235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1000" b="1">
                <a:solidFill>
                  <a:srgbClr val="7660D3"/>
                </a:solidFill>
                <a:latin typeface="Aptos" panose="020B0004020202020204" pitchFamily="34" charset="0"/>
              </a:rPr>
              <a:t>VALIDAÇÃO · PROTÓTIPO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A895E6D8-1033-48F7-F7DE-72AA4E0DC5CC}"/>
              </a:ext>
            </a:extLst>
          </p:cNvPr>
          <p:cNvSpPr txBox="1"/>
          <p:nvPr/>
        </p:nvSpPr>
        <p:spPr>
          <a:xfrm>
            <a:off x="609600" y="889000"/>
            <a:ext cx="10985500" cy="44627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2900" b="1">
                <a:solidFill>
                  <a:srgbClr val="273047"/>
                </a:solidFill>
                <a:latin typeface="Aptos" panose="020B0004020202020204" pitchFamily="34" charset="0"/>
              </a:rPr>
              <a:t>Ações verificadas, além de telas estáticas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AF8563B4-755A-475A-A372-527B61E4C534}"/>
              </a:ext>
            </a:extLst>
          </p:cNvPr>
          <p:cNvSpPr txBox="1"/>
          <p:nvPr/>
        </p:nvSpPr>
        <p:spPr>
          <a:xfrm>
            <a:off x="609600" y="1816100"/>
            <a:ext cx="10998200" cy="2000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1300">
                <a:solidFill>
                  <a:srgbClr val="7B7F93"/>
                </a:solidFill>
                <a:latin typeface="Aptos" panose="020B0004020202020204" pitchFamily="34" charset="0"/>
              </a:rPr>
              <a:t>10 testes de regras + 17 cenários em navegador aprovados.</a:t>
            </a:r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59C215F6-0452-18D0-986E-14828539A0F1}"/>
              </a:ext>
            </a:extLst>
          </p:cNvPr>
          <p:cNvSpPr/>
          <p:nvPr/>
        </p:nvSpPr>
        <p:spPr>
          <a:xfrm>
            <a:off x="609600" y="6426200"/>
            <a:ext cx="10972800" cy="12700"/>
          </a:xfrm>
          <a:prstGeom prst="rect">
            <a:avLst/>
          </a:prstGeom>
          <a:solidFill>
            <a:srgbClr val="E2DFE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028386BC-4AA9-00CE-9A49-CC21E909A4DD}"/>
              </a:ext>
            </a:extLst>
          </p:cNvPr>
          <p:cNvSpPr txBox="1"/>
          <p:nvPr/>
        </p:nvSpPr>
        <p:spPr>
          <a:xfrm>
            <a:off x="609600" y="6553200"/>
            <a:ext cx="9652000" cy="12311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800">
                <a:solidFill>
                  <a:srgbClr val="9690A5"/>
                </a:solidFill>
                <a:latin typeface="Aptos" panose="020B0004020202020204" pitchFamily="34" charset="0"/>
              </a:rPr>
              <a:t>Fonte: Etapa 3 · Aceitação + artefatos dos testes implementados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43C95F84-B9D7-7E01-E249-7BF3C8EC5BCA}"/>
              </a:ext>
            </a:extLst>
          </p:cNvPr>
          <p:cNvSpPr txBox="1"/>
          <p:nvPr/>
        </p:nvSpPr>
        <p:spPr>
          <a:xfrm>
            <a:off x="10896600" y="6515100"/>
            <a:ext cx="7493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1000" b="1">
                <a:solidFill>
                  <a:srgbClr val="7660D3"/>
                </a:solidFill>
                <a:latin typeface="Aptos" panose="020B0004020202020204" pitchFamily="34" charset="0"/>
              </a:rPr>
              <a:t>34 / 40</a:t>
            </a:r>
          </a:p>
        </p:txBody>
      </p:sp>
      <p:sp>
        <p:nvSpPr>
          <p:cNvPr id="9" name="Retângulo: Cantos Arredondados 8">
            <a:extLst>
              <a:ext uri="{FF2B5EF4-FFF2-40B4-BE49-F238E27FC236}">
                <a16:creationId xmlns:a16="http://schemas.microsoft.com/office/drawing/2014/main" id="{AB866D5D-52A1-0063-A0CB-08ABE4F9B28E}"/>
              </a:ext>
            </a:extLst>
          </p:cNvPr>
          <p:cNvSpPr/>
          <p:nvPr/>
        </p:nvSpPr>
        <p:spPr>
          <a:xfrm>
            <a:off x="609600" y="2476500"/>
            <a:ext cx="5384800" cy="1778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FCBA012B-C9BD-C590-6D6A-B5B454DBE72C}"/>
              </a:ext>
            </a:extLst>
          </p:cNvPr>
          <p:cNvSpPr txBox="1"/>
          <p:nvPr/>
        </p:nvSpPr>
        <p:spPr>
          <a:xfrm>
            <a:off x="838200" y="2717800"/>
            <a:ext cx="4927600" cy="2616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1700" b="1">
                <a:solidFill>
                  <a:srgbClr val="6550B5"/>
                </a:solidFill>
                <a:latin typeface="Aptos" panose="020B0004020202020204" pitchFamily="34" charset="0"/>
              </a:rPr>
              <a:t>Consistência dos dados</a:t>
            </a:r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58871CDF-6A48-A2E2-4F13-C40F59D7AA81}"/>
              </a:ext>
            </a:extLst>
          </p:cNvPr>
          <p:cNvSpPr txBox="1"/>
          <p:nvPr/>
        </p:nvSpPr>
        <p:spPr>
          <a:xfrm>
            <a:off x="838200" y="3390900"/>
            <a:ext cx="4927600" cy="43088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1400">
                <a:solidFill>
                  <a:srgbClr val="626A80"/>
                </a:solidFill>
                <a:latin typeface="Aptos" panose="020B0004020202020204" pitchFamily="34" charset="0"/>
              </a:rPr>
              <a:t>Publicação entre perfis, progresso individual, alteração de prazo e persistência após recarga.</a:t>
            </a:r>
          </a:p>
        </p:txBody>
      </p:sp>
      <p:sp>
        <p:nvSpPr>
          <p:cNvPr id="12" name="Retângulo: Cantos Arredondados 11">
            <a:extLst>
              <a:ext uri="{FF2B5EF4-FFF2-40B4-BE49-F238E27FC236}">
                <a16:creationId xmlns:a16="http://schemas.microsoft.com/office/drawing/2014/main" id="{92DE6359-D0FE-D1DA-35D3-BE198EA8130F}"/>
              </a:ext>
            </a:extLst>
          </p:cNvPr>
          <p:cNvSpPr/>
          <p:nvPr/>
        </p:nvSpPr>
        <p:spPr>
          <a:xfrm>
            <a:off x="6197600" y="2476500"/>
            <a:ext cx="5384800" cy="1778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009FE07B-FFDF-B477-857A-0D5E3E491201}"/>
              </a:ext>
            </a:extLst>
          </p:cNvPr>
          <p:cNvSpPr txBox="1"/>
          <p:nvPr/>
        </p:nvSpPr>
        <p:spPr>
          <a:xfrm>
            <a:off x="6426200" y="2717800"/>
            <a:ext cx="4927600" cy="2616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1700" b="1">
                <a:solidFill>
                  <a:srgbClr val="6550B5"/>
                </a:solidFill>
                <a:latin typeface="Aptos" panose="020B0004020202020204" pitchFamily="34" charset="0"/>
              </a:rPr>
              <a:t>Regras determinísticas</a:t>
            </a:r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ACB65869-4CAC-36CE-1BA9-D29D5800F344}"/>
              </a:ext>
            </a:extLst>
          </p:cNvPr>
          <p:cNvSpPr txBox="1"/>
          <p:nvPr/>
        </p:nvSpPr>
        <p:spPr>
          <a:xfrm>
            <a:off x="6426200" y="3390900"/>
            <a:ext cx="4927600" cy="43088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1400">
                <a:solidFill>
                  <a:srgbClr val="626A80"/>
                </a:solidFill>
                <a:latin typeface="Aptos" panose="020B0004020202020204" pitchFamily="34" charset="0"/>
              </a:rPr>
              <a:t>XP reversível sem duplicação, prioridade explicável e plano que preserva datas oficiais.</a:t>
            </a:r>
          </a:p>
        </p:txBody>
      </p:sp>
      <p:sp>
        <p:nvSpPr>
          <p:cNvPr id="15" name="Retângulo: Cantos Arredondados 14">
            <a:extLst>
              <a:ext uri="{FF2B5EF4-FFF2-40B4-BE49-F238E27FC236}">
                <a16:creationId xmlns:a16="http://schemas.microsoft.com/office/drawing/2014/main" id="{367E2DDE-0717-9485-BB60-F1AE0282218B}"/>
              </a:ext>
            </a:extLst>
          </p:cNvPr>
          <p:cNvSpPr/>
          <p:nvPr/>
        </p:nvSpPr>
        <p:spPr>
          <a:xfrm>
            <a:off x="609600" y="4457700"/>
            <a:ext cx="5384800" cy="1778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6" name="CaixaDeTexto 15">
            <a:extLst>
              <a:ext uri="{FF2B5EF4-FFF2-40B4-BE49-F238E27FC236}">
                <a16:creationId xmlns:a16="http://schemas.microsoft.com/office/drawing/2014/main" id="{5248BE01-7E13-F9CD-52CA-2E67E1C887F6}"/>
              </a:ext>
            </a:extLst>
          </p:cNvPr>
          <p:cNvSpPr txBox="1"/>
          <p:nvPr/>
        </p:nvSpPr>
        <p:spPr>
          <a:xfrm>
            <a:off x="838200" y="4699000"/>
            <a:ext cx="4927600" cy="2616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1700" b="1">
                <a:solidFill>
                  <a:srgbClr val="6550B5"/>
                </a:solidFill>
                <a:latin typeface="Aptos" panose="020B0004020202020204" pitchFamily="34" charset="0"/>
              </a:rPr>
              <a:t>Experiência funcional</a:t>
            </a:r>
          </a:p>
        </p:txBody>
      </p:sp>
      <p:sp>
        <p:nvSpPr>
          <p:cNvPr id="17" name="CaixaDeTexto 16">
            <a:extLst>
              <a:ext uri="{FF2B5EF4-FFF2-40B4-BE49-F238E27FC236}">
                <a16:creationId xmlns:a16="http://schemas.microsoft.com/office/drawing/2014/main" id="{2515E7A3-DBC2-4E84-1BE1-76AA5DF349E8}"/>
              </a:ext>
            </a:extLst>
          </p:cNvPr>
          <p:cNvSpPr txBox="1"/>
          <p:nvPr/>
        </p:nvSpPr>
        <p:spPr>
          <a:xfrm>
            <a:off x="838200" y="5372100"/>
            <a:ext cx="4927600" cy="43088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1400">
                <a:solidFill>
                  <a:srgbClr val="626A80"/>
                </a:solidFill>
                <a:latin typeface="Aptos" panose="020B0004020202020204" pitchFamily="34" charset="0"/>
              </a:rPr>
              <a:t>Filtros, formulário inválido, estudo, comunidade, mural, prorrogação, teclado e mobile.</a:t>
            </a:r>
          </a:p>
        </p:txBody>
      </p:sp>
      <p:sp>
        <p:nvSpPr>
          <p:cNvPr id="18" name="Retângulo: Cantos Arredondados 17">
            <a:extLst>
              <a:ext uri="{FF2B5EF4-FFF2-40B4-BE49-F238E27FC236}">
                <a16:creationId xmlns:a16="http://schemas.microsoft.com/office/drawing/2014/main" id="{4C1B65D7-0860-BA3B-687D-1323E6332E03}"/>
              </a:ext>
            </a:extLst>
          </p:cNvPr>
          <p:cNvSpPr/>
          <p:nvPr/>
        </p:nvSpPr>
        <p:spPr>
          <a:xfrm>
            <a:off x="6197600" y="4457700"/>
            <a:ext cx="5384800" cy="1778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9" name="CaixaDeTexto 18">
            <a:extLst>
              <a:ext uri="{FF2B5EF4-FFF2-40B4-BE49-F238E27FC236}">
                <a16:creationId xmlns:a16="http://schemas.microsoft.com/office/drawing/2014/main" id="{332D94C5-3806-E22E-C810-590421562BB2}"/>
              </a:ext>
            </a:extLst>
          </p:cNvPr>
          <p:cNvSpPr txBox="1"/>
          <p:nvPr/>
        </p:nvSpPr>
        <p:spPr>
          <a:xfrm>
            <a:off x="6426200" y="4699000"/>
            <a:ext cx="4927600" cy="2616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1700" b="1">
                <a:solidFill>
                  <a:srgbClr val="6550B5"/>
                </a:solidFill>
                <a:latin typeface="Aptos" panose="020B0004020202020204" pitchFamily="34" charset="0"/>
              </a:rPr>
              <a:t>Continuidade local</a:t>
            </a:r>
          </a:p>
        </p:txBody>
      </p:sp>
      <p:sp>
        <p:nvSpPr>
          <p:cNvPr id="20" name="CaixaDeTexto 19">
            <a:extLst>
              <a:ext uri="{FF2B5EF4-FFF2-40B4-BE49-F238E27FC236}">
                <a16:creationId xmlns:a16="http://schemas.microsoft.com/office/drawing/2014/main" id="{C1166D7E-8C7B-09C7-1B39-936051EF9A61}"/>
              </a:ext>
            </a:extLst>
          </p:cNvPr>
          <p:cNvSpPr txBox="1"/>
          <p:nvPr/>
        </p:nvSpPr>
        <p:spPr>
          <a:xfrm>
            <a:off x="6426200" y="5372100"/>
            <a:ext cx="4927600" cy="43088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1400">
                <a:solidFill>
                  <a:srgbClr val="626A80"/>
                </a:solidFill>
                <a:latin typeface="Aptos" panose="020B0004020202020204" pitchFamily="34" charset="0"/>
              </a:rPr>
              <a:t>Recarga realmente sem rede por PWA e restauração explícita dos dados demonstrativos.</a:t>
            </a:r>
          </a:p>
        </p:txBody>
      </p:sp>
    </p:spTree>
    <p:extLst>
      <p:ext uri="{BB962C8B-B14F-4D97-AF65-F5344CB8AC3E}">
        <p14:creationId xmlns:p14="http://schemas.microsoft.com/office/powerpoint/2010/main" val="323624132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A40C2F9C-EE28-828E-5A1A-16C0ECBAE465}"/>
              </a:ext>
            </a:extLst>
          </p:cNvPr>
          <p:cNvSpPr/>
          <p:nvPr/>
        </p:nvSpPr>
        <p:spPr>
          <a:xfrm>
            <a:off x="609600" y="406400"/>
            <a:ext cx="63500" cy="254000"/>
          </a:xfrm>
          <a:prstGeom prst="rect">
            <a:avLst/>
          </a:prstGeom>
          <a:solidFill>
            <a:srgbClr val="7660D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17B3CA59-F017-5F6C-DF05-1EA5610F6C77}"/>
              </a:ext>
            </a:extLst>
          </p:cNvPr>
          <p:cNvSpPr txBox="1"/>
          <p:nvPr/>
        </p:nvSpPr>
        <p:spPr>
          <a:xfrm>
            <a:off x="812800" y="431800"/>
            <a:ext cx="102235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1000" b="1">
                <a:solidFill>
                  <a:srgbClr val="7660D3"/>
                </a:solidFill>
                <a:latin typeface="Aptos" panose="020B0004020202020204" pitchFamily="34" charset="0"/>
              </a:rPr>
              <a:t>ROTEIRO · DEMONSTRAÇÃO AO VIVO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EE50053F-9F3B-E362-D3E9-47DDE93B079A}"/>
              </a:ext>
            </a:extLst>
          </p:cNvPr>
          <p:cNvSpPr txBox="1"/>
          <p:nvPr/>
        </p:nvSpPr>
        <p:spPr>
          <a:xfrm>
            <a:off x="609600" y="889000"/>
            <a:ext cx="10985500" cy="44627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2900" b="1">
                <a:solidFill>
                  <a:srgbClr val="273047"/>
                </a:solidFill>
                <a:latin typeface="Aptos" panose="020B0004020202020204" pitchFamily="34" charset="0"/>
              </a:rPr>
              <a:t>Mostre uma jornada, não apenas uma sequência de telas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555D0C54-CE14-B9B1-5726-B73F94F64126}"/>
              </a:ext>
            </a:extLst>
          </p:cNvPr>
          <p:cNvSpPr txBox="1"/>
          <p:nvPr/>
        </p:nvSpPr>
        <p:spPr>
          <a:xfrm>
            <a:off x="609600" y="1816100"/>
            <a:ext cx="10998200" cy="2000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1300">
                <a:solidFill>
                  <a:srgbClr val="7B7F93"/>
                </a:solidFill>
                <a:latin typeface="Aptos" panose="020B0004020202020204" pitchFamily="34" charset="0"/>
              </a:rPr>
              <a:t>Roteiro sugerido de 5 a 7 minutos; ajuste ao tempo disponível.</a:t>
            </a:r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BE5A1A3D-D55F-CD38-2B98-DA208DCD23F5}"/>
              </a:ext>
            </a:extLst>
          </p:cNvPr>
          <p:cNvSpPr/>
          <p:nvPr/>
        </p:nvSpPr>
        <p:spPr>
          <a:xfrm>
            <a:off x="609600" y="6426200"/>
            <a:ext cx="10972800" cy="12700"/>
          </a:xfrm>
          <a:prstGeom prst="rect">
            <a:avLst/>
          </a:prstGeom>
          <a:solidFill>
            <a:srgbClr val="E2DFE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B2F371DE-D4E2-2143-EA3E-C0FDBEE9EF04}"/>
              </a:ext>
            </a:extLst>
          </p:cNvPr>
          <p:cNvSpPr txBox="1"/>
          <p:nvPr/>
        </p:nvSpPr>
        <p:spPr>
          <a:xfrm>
            <a:off x="609600" y="6553200"/>
            <a:ext cx="9652000" cy="12311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800">
                <a:solidFill>
                  <a:srgbClr val="9690A5"/>
                </a:solidFill>
                <a:latin typeface="Aptos" panose="020B0004020202020204" pitchFamily="34" charset="0"/>
              </a:rPr>
              <a:t>Fonte: Etapa 6 · Roteiro de demonstração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0920CF4E-8FD5-7539-8121-9547A3025796}"/>
              </a:ext>
            </a:extLst>
          </p:cNvPr>
          <p:cNvSpPr txBox="1"/>
          <p:nvPr/>
        </p:nvSpPr>
        <p:spPr>
          <a:xfrm>
            <a:off x="10896600" y="6515100"/>
            <a:ext cx="7493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1000" b="1">
                <a:solidFill>
                  <a:srgbClr val="7660D3"/>
                </a:solidFill>
                <a:latin typeface="Aptos" panose="020B0004020202020204" pitchFamily="34" charset="0"/>
              </a:rPr>
              <a:t>35 / 40</a:t>
            </a:r>
          </a:p>
        </p:txBody>
      </p:sp>
      <p:sp>
        <p:nvSpPr>
          <p:cNvPr id="9" name="Retângulo: Cantos Arredondados 8">
            <a:extLst>
              <a:ext uri="{FF2B5EF4-FFF2-40B4-BE49-F238E27FC236}">
                <a16:creationId xmlns:a16="http://schemas.microsoft.com/office/drawing/2014/main" id="{DB0F9656-7A91-85D3-8B1B-CF6A8202589F}"/>
              </a:ext>
            </a:extLst>
          </p:cNvPr>
          <p:cNvSpPr/>
          <p:nvPr/>
        </p:nvSpPr>
        <p:spPr>
          <a:xfrm>
            <a:off x="609600" y="2476500"/>
            <a:ext cx="3522133" cy="1778000"/>
          </a:xfrm>
          <a:prstGeom prst="roundRect">
            <a:avLst>
              <a:gd name="adj" fmla="val 6000"/>
            </a:avLst>
          </a:prstGeom>
          <a:solidFill>
            <a:srgbClr val="EFEAF9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186B9EB4-4D0E-E24C-AB54-154C79E4E4D2}"/>
              </a:ext>
            </a:extLst>
          </p:cNvPr>
          <p:cNvSpPr txBox="1"/>
          <p:nvPr/>
        </p:nvSpPr>
        <p:spPr>
          <a:xfrm>
            <a:off x="838200" y="2717800"/>
            <a:ext cx="3064933" cy="2616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1700" b="1">
                <a:solidFill>
                  <a:srgbClr val="6550B5"/>
                </a:solidFill>
                <a:latin typeface="Aptos" panose="020B0004020202020204" pitchFamily="34" charset="0"/>
              </a:rPr>
              <a:t>01 · Problema</a:t>
            </a:r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5754A05D-93BC-6C4D-8DA8-DC19B80BF9D0}"/>
              </a:ext>
            </a:extLst>
          </p:cNvPr>
          <p:cNvSpPr txBox="1"/>
          <p:nvPr/>
        </p:nvSpPr>
        <p:spPr>
          <a:xfrm>
            <a:off x="838200" y="3390900"/>
            <a:ext cx="3064933" cy="43088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1400">
                <a:solidFill>
                  <a:srgbClr val="626A80"/>
                </a:solidFill>
                <a:latin typeface="Aptos" panose="020B0004020202020204" pitchFamily="34" charset="0"/>
              </a:rPr>
              <a:t>Explique a dispersão e mostre o dashboard.</a:t>
            </a:r>
          </a:p>
        </p:txBody>
      </p:sp>
      <p:cxnSp>
        <p:nvCxnSpPr>
          <p:cNvPr id="12" name="Conector de Seta Reta 11">
            <a:extLst>
              <a:ext uri="{FF2B5EF4-FFF2-40B4-BE49-F238E27FC236}">
                <a16:creationId xmlns:a16="http://schemas.microsoft.com/office/drawing/2014/main" id="{28072691-3360-DB85-14ED-B42652289CE0}"/>
              </a:ext>
            </a:extLst>
          </p:cNvPr>
          <p:cNvCxnSpPr/>
          <p:nvPr/>
        </p:nvCxnSpPr>
        <p:spPr>
          <a:xfrm>
            <a:off x="4157133" y="3365500"/>
            <a:ext cx="152400" cy="0"/>
          </a:xfrm>
          <a:prstGeom prst="straightConnector1">
            <a:avLst/>
          </a:prstGeom>
          <a:ln w="19050">
            <a:solidFill>
              <a:srgbClr val="9B85D6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etângulo: Cantos Arredondados 12">
            <a:extLst>
              <a:ext uri="{FF2B5EF4-FFF2-40B4-BE49-F238E27FC236}">
                <a16:creationId xmlns:a16="http://schemas.microsoft.com/office/drawing/2014/main" id="{879C4061-90F2-0FD2-A9E0-6C2418AEB5D7}"/>
              </a:ext>
            </a:extLst>
          </p:cNvPr>
          <p:cNvSpPr/>
          <p:nvPr/>
        </p:nvSpPr>
        <p:spPr>
          <a:xfrm>
            <a:off x="4334933" y="2476500"/>
            <a:ext cx="3522134" cy="1778000"/>
          </a:xfrm>
          <a:prstGeom prst="roundRect">
            <a:avLst>
              <a:gd name="adj" fmla="val 6000"/>
            </a:avLst>
          </a:prstGeom>
          <a:solidFill>
            <a:srgbClr val="EFEAF9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4F6B58C1-AC8E-7A86-977B-349B04B79FEC}"/>
              </a:ext>
            </a:extLst>
          </p:cNvPr>
          <p:cNvSpPr txBox="1"/>
          <p:nvPr/>
        </p:nvSpPr>
        <p:spPr>
          <a:xfrm>
            <a:off x="4563533" y="2717800"/>
            <a:ext cx="3064933" cy="2616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1700" b="1">
                <a:solidFill>
                  <a:srgbClr val="6550B5"/>
                </a:solidFill>
                <a:latin typeface="Aptos" panose="020B0004020202020204" pitchFamily="34" charset="0"/>
              </a:rPr>
              <a:t>02 · Centralização</a:t>
            </a:r>
          </a:p>
        </p:txBody>
      </p:sp>
      <p:sp>
        <p:nvSpPr>
          <p:cNvPr id="15" name="CaixaDeTexto 14">
            <a:extLst>
              <a:ext uri="{FF2B5EF4-FFF2-40B4-BE49-F238E27FC236}">
                <a16:creationId xmlns:a16="http://schemas.microsoft.com/office/drawing/2014/main" id="{A7E9E23E-7FEE-D8B7-C67C-8638065A284D}"/>
              </a:ext>
            </a:extLst>
          </p:cNvPr>
          <p:cNvSpPr txBox="1"/>
          <p:nvPr/>
        </p:nvSpPr>
        <p:spPr>
          <a:xfrm>
            <a:off x="4563533" y="3390900"/>
            <a:ext cx="3064933" cy="43088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1400">
                <a:solidFill>
                  <a:srgbClr val="626A80"/>
                </a:solidFill>
                <a:latin typeface="Aptos" panose="020B0004020202020204" pitchFamily="34" charset="0"/>
              </a:rPr>
              <a:t>Professor publica uma atividade com etapas.</a:t>
            </a:r>
          </a:p>
        </p:txBody>
      </p:sp>
      <p:cxnSp>
        <p:nvCxnSpPr>
          <p:cNvPr id="16" name="Conector de Seta Reta 15">
            <a:extLst>
              <a:ext uri="{FF2B5EF4-FFF2-40B4-BE49-F238E27FC236}">
                <a16:creationId xmlns:a16="http://schemas.microsoft.com/office/drawing/2014/main" id="{D1AF1530-C368-42C2-B4B8-59B0FCBF4E80}"/>
              </a:ext>
            </a:extLst>
          </p:cNvPr>
          <p:cNvCxnSpPr/>
          <p:nvPr/>
        </p:nvCxnSpPr>
        <p:spPr>
          <a:xfrm>
            <a:off x="7882467" y="3365500"/>
            <a:ext cx="152400" cy="0"/>
          </a:xfrm>
          <a:prstGeom prst="straightConnector1">
            <a:avLst/>
          </a:prstGeom>
          <a:ln w="19050">
            <a:solidFill>
              <a:srgbClr val="9B85D6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etângulo: Cantos Arredondados 16">
            <a:extLst>
              <a:ext uri="{FF2B5EF4-FFF2-40B4-BE49-F238E27FC236}">
                <a16:creationId xmlns:a16="http://schemas.microsoft.com/office/drawing/2014/main" id="{2F5BA933-55A0-A9A2-AE9A-DDC5251C4290}"/>
              </a:ext>
            </a:extLst>
          </p:cNvPr>
          <p:cNvSpPr/>
          <p:nvPr/>
        </p:nvSpPr>
        <p:spPr>
          <a:xfrm>
            <a:off x="8060267" y="2476500"/>
            <a:ext cx="3522133" cy="1778000"/>
          </a:xfrm>
          <a:prstGeom prst="roundRect">
            <a:avLst>
              <a:gd name="adj" fmla="val 6000"/>
            </a:avLst>
          </a:prstGeom>
          <a:solidFill>
            <a:srgbClr val="EFEAF9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8" name="CaixaDeTexto 17">
            <a:extLst>
              <a:ext uri="{FF2B5EF4-FFF2-40B4-BE49-F238E27FC236}">
                <a16:creationId xmlns:a16="http://schemas.microsoft.com/office/drawing/2014/main" id="{C625D62D-C85E-C5F7-4DC8-411B3A415876}"/>
              </a:ext>
            </a:extLst>
          </p:cNvPr>
          <p:cNvSpPr txBox="1"/>
          <p:nvPr/>
        </p:nvSpPr>
        <p:spPr>
          <a:xfrm>
            <a:off x="8288867" y="2717800"/>
            <a:ext cx="3064933" cy="2616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1700" b="1">
                <a:solidFill>
                  <a:srgbClr val="6550B5"/>
                </a:solidFill>
                <a:latin typeface="Aptos" panose="020B0004020202020204" pitchFamily="34" charset="0"/>
              </a:rPr>
              <a:t>03 · Próximo passo</a:t>
            </a:r>
          </a:p>
        </p:txBody>
      </p:sp>
      <p:sp>
        <p:nvSpPr>
          <p:cNvPr id="19" name="CaixaDeTexto 18">
            <a:extLst>
              <a:ext uri="{FF2B5EF4-FFF2-40B4-BE49-F238E27FC236}">
                <a16:creationId xmlns:a16="http://schemas.microsoft.com/office/drawing/2014/main" id="{F5E063AF-1FDB-AAA2-96C1-77B210DE2BD6}"/>
              </a:ext>
            </a:extLst>
          </p:cNvPr>
          <p:cNvSpPr txBox="1"/>
          <p:nvPr/>
        </p:nvSpPr>
        <p:spPr>
          <a:xfrm>
            <a:off x="8288867" y="3390900"/>
            <a:ext cx="3064933" cy="21544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1400">
                <a:solidFill>
                  <a:srgbClr val="626A80"/>
                </a:solidFill>
                <a:latin typeface="Aptos" panose="020B0004020202020204" pitchFamily="34" charset="0"/>
              </a:rPr>
              <a:t>Aluno abre a atividade recém-criada.</a:t>
            </a:r>
          </a:p>
        </p:txBody>
      </p:sp>
      <p:sp>
        <p:nvSpPr>
          <p:cNvPr id="20" name="Retângulo: Cantos Arredondados 19">
            <a:extLst>
              <a:ext uri="{FF2B5EF4-FFF2-40B4-BE49-F238E27FC236}">
                <a16:creationId xmlns:a16="http://schemas.microsoft.com/office/drawing/2014/main" id="{D7398E5C-01E4-D7AD-3F78-86A052FBB420}"/>
              </a:ext>
            </a:extLst>
          </p:cNvPr>
          <p:cNvSpPr/>
          <p:nvPr/>
        </p:nvSpPr>
        <p:spPr>
          <a:xfrm>
            <a:off x="609600" y="4457700"/>
            <a:ext cx="3522133" cy="1778000"/>
          </a:xfrm>
          <a:prstGeom prst="roundRect">
            <a:avLst>
              <a:gd name="adj" fmla="val 6000"/>
            </a:avLst>
          </a:prstGeom>
          <a:solidFill>
            <a:srgbClr val="EFEAF9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1" name="CaixaDeTexto 20">
            <a:extLst>
              <a:ext uri="{FF2B5EF4-FFF2-40B4-BE49-F238E27FC236}">
                <a16:creationId xmlns:a16="http://schemas.microsoft.com/office/drawing/2014/main" id="{7340E875-C60D-3908-AB82-B54FB10AD6E6}"/>
              </a:ext>
            </a:extLst>
          </p:cNvPr>
          <p:cNvSpPr txBox="1"/>
          <p:nvPr/>
        </p:nvSpPr>
        <p:spPr>
          <a:xfrm>
            <a:off x="838200" y="4699000"/>
            <a:ext cx="3064933" cy="2616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1700" b="1">
                <a:solidFill>
                  <a:srgbClr val="6550B5"/>
                </a:solidFill>
                <a:latin typeface="Aptos" panose="020B0004020202020204" pitchFamily="34" charset="0"/>
              </a:rPr>
              <a:t>04 · Progresso</a:t>
            </a:r>
          </a:p>
        </p:txBody>
      </p:sp>
      <p:sp>
        <p:nvSpPr>
          <p:cNvPr id="22" name="CaixaDeTexto 21">
            <a:extLst>
              <a:ext uri="{FF2B5EF4-FFF2-40B4-BE49-F238E27FC236}">
                <a16:creationId xmlns:a16="http://schemas.microsoft.com/office/drawing/2014/main" id="{C41F886F-6225-F69C-0181-3D3DFE0DD647}"/>
              </a:ext>
            </a:extLst>
          </p:cNvPr>
          <p:cNvSpPr txBox="1"/>
          <p:nvPr/>
        </p:nvSpPr>
        <p:spPr>
          <a:xfrm>
            <a:off x="838200" y="5372100"/>
            <a:ext cx="3064933" cy="43088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1400">
                <a:solidFill>
                  <a:srgbClr val="626A80"/>
                </a:solidFill>
                <a:latin typeface="Aptos" panose="020B0004020202020204" pitchFamily="34" charset="0"/>
              </a:rPr>
              <a:t>Marque uma etapa; mostre percentual e XP.</a:t>
            </a:r>
          </a:p>
        </p:txBody>
      </p:sp>
      <p:cxnSp>
        <p:nvCxnSpPr>
          <p:cNvPr id="23" name="Conector de Seta Reta 22">
            <a:extLst>
              <a:ext uri="{FF2B5EF4-FFF2-40B4-BE49-F238E27FC236}">
                <a16:creationId xmlns:a16="http://schemas.microsoft.com/office/drawing/2014/main" id="{74FB661F-F793-B337-1F94-67BB93796E77}"/>
              </a:ext>
            </a:extLst>
          </p:cNvPr>
          <p:cNvCxnSpPr/>
          <p:nvPr/>
        </p:nvCxnSpPr>
        <p:spPr>
          <a:xfrm>
            <a:off x="4157133" y="5346700"/>
            <a:ext cx="152400" cy="0"/>
          </a:xfrm>
          <a:prstGeom prst="straightConnector1">
            <a:avLst/>
          </a:prstGeom>
          <a:ln w="19050">
            <a:solidFill>
              <a:srgbClr val="9B85D6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tângulo: Cantos Arredondados 23">
            <a:extLst>
              <a:ext uri="{FF2B5EF4-FFF2-40B4-BE49-F238E27FC236}">
                <a16:creationId xmlns:a16="http://schemas.microsoft.com/office/drawing/2014/main" id="{CA6629FC-0EE7-9C02-A344-08D5E35F5215}"/>
              </a:ext>
            </a:extLst>
          </p:cNvPr>
          <p:cNvSpPr/>
          <p:nvPr/>
        </p:nvSpPr>
        <p:spPr>
          <a:xfrm>
            <a:off x="4334933" y="4457700"/>
            <a:ext cx="3522134" cy="1778000"/>
          </a:xfrm>
          <a:prstGeom prst="roundRect">
            <a:avLst>
              <a:gd name="adj" fmla="val 6000"/>
            </a:avLst>
          </a:prstGeom>
          <a:solidFill>
            <a:srgbClr val="EFEAF9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5" name="CaixaDeTexto 24">
            <a:extLst>
              <a:ext uri="{FF2B5EF4-FFF2-40B4-BE49-F238E27FC236}">
                <a16:creationId xmlns:a16="http://schemas.microsoft.com/office/drawing/2014/main" id="{BEEFBE86-1D3A-63AE-0C49-B23E107039E3}"/>
              </a:ext>
            </a:extLst>
          </p:cNvPr>
          <p:cNvSpPr txBox="1"/>
          <p:nvPr/>
        </p:nvSpPr>
        <p:spPr>
          <a:xfrm>
            <a:off x="4563533" y="4699000"/>
            <a:ext cx="3064933" cy="2616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1700" b="1">
                <a:solidFill>
                  <a:srgbClr val="6550B5"/>
                </a:solidFill>
                <a:latin typeface="Aptos" panose="020B0004020202020204" pitchFamily="34" charset="0"/>
              </a:rPr>
              <a:t>05 · Recuperação</a:t>
            </a:r>
          </a:p>
        </p:txBody>
      </p:sp>
      <p:sp>
        <p:nvSpPr>
          <p:cNvPr id="26" name="CaixaDeTexto 25">
            <a:extLst>
              <a:ext uri="{FF2B5EF4-FFF2-40B4-BE49-F238E27FC236}">
                <a16:creationId xmlns:a16="http://schemas.microsoft.com/office/drawing/2014/main" id="{E4AAB391-B745-DEE8-DFC8-D5D33080ADFA}"/>
              </a:ext>
            </a:extLst>
          </p:cNvPr>
          <p:cNvSpPr txBox="1"/>
          <p:nvPr/>
        </p:nvSpPr>
        <p:spPr>
          <a:xfrm>
            <a:off x="4563533" y="5372100"/>
            <a:ext cx="3064933" cy="21544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1400">
                <a:solidFill>
                  <a:srgbClr val="626A80"/>
                </a:solidFill>
                <a:latin typeface="Aptos" panose="020B0004020202020204" pitchFamily="34" charset="0"/>
              </a:rPr>
              <a:t>Aceite e ajuste um dia de estudo.</a:t>
            </a:r>
          </a:p>
        </p:txBody>
      </p:sp>
      <p:cxnSp>
        <p:nvCxnSpPr>
          <p:cNvPr id="27" name="Conector de Seta Reta 26">
            <a:extLst>
              <a:ext uri="{FF2B5EF4-FFF2-40B4-BE49-F238E27FC236}">
                <a16:creationId xmlns:a16="http://schemas.microsoft.com/office/drawing/2014/main" id="{D4ACA6C9-35ED-B539-1B48-C1F07640DAC0}"/>
              </a:ext>
            </a:extLst>
          </p:cNvPr>
          <p:cNvCxnSpPr/>
          <p:nvPr/>
        </p:nvCxnSpPr>
        <p:spPr>
          <a:xfrm>
            <a:off x="7882467" y="5346700"/>
            <a:ext cx="152400" cy="0"/>
          </a:xfrm>
          <a:prstGeom prst="straightConnector1">
            <a:avLst/>
          </a:prstGeom>
          <a:ln w="19050">
            <a:solidFill>
              <a:srgbClr val="9B85D6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etângulo: Cantos Arredondados 27">
            <a:extLst>
              <a:ext uri="{FF2B5EF4-FFF2-40B4-BE49-F238E27FC236}">
                <a16:creationId xmlns:a16="http://schemas.microsoft.com/office/drawing/2014/main" id="{769E2EF3-88E4-B9A0-CA60-0AF56891E5E1}"/>
              </a:ext>
            </a:extLst>
          </p:cNvPr>
          <p:cNvSpPr/>
          <p:nvPr/>
        </p:nvSpPr>
        <p:spPr>
          <a:xfrm>
            <a:off x="8060267" y="4457700"/>
            <a:ext cx="3522133" cy="1778000"/>
          </a:xfrm>
          <a:prstGeom prst="roundRect">
            <a:avLst>
              <a:gd name="adj" fmla="val 6000"/>
            </a:avLst>
          </a:prstGeom>
          <a:solidFill>
            <a:srgbClr val="EFEAF9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9" name="CaixaDeTexto 28">
            <a:extLst>
              <a:ext uri="{FF2B5EF4-FFF2-40B4-BE49-F238E27FC236}">
                <a16:creationId xmlns:a16="http://schemas.microsoft.com/office/drawing/2014/main" id="{1D4F9DB5-EC2B-473B-AB84-E88AD46CE961}"/>
              </a:ext>
            </a:extLst>
          </p:cNvPr>
          <p:cNvSpPr txBox="1"/>
          <p:nvPr/>
        </p:nvSpPr>
        <p:spPr>
          <a:xfrm>
            <a:off x="8288867" y="4699000"/>
            <a:ext cx="3064933" cy="2616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1700" b="1">
                <a:solidFill>
                  <a:srgbClr val="6550B5"/>
                </a:solidFill>
                <a:latin typeface="Aptos" panose="020B0004020202020204" pitchFamily="34" charset="0"/>
              </a:rPr>
              <a:t>06 · Offline</a:t>
            </a:r>
          </a:p>
        </p:txBody>
      </p:sp>
      <p:sp>
        <p:nvSpPr>
          <p:cNvPr id="30" name="CaixaDeTexto 29">
            <a:extLst>
              <a:ext uri="{FF2B5EF4-FFF2-40B4-BE49-F238E27FC236}">
                <a16:creationId xmlns:a16="http://schemas.microsoft.com/office/drawing/2014/main" id="{E6FA9924-1FDF-B6F5-61FD-109D622EF67F}"/>
              </a:ext>
            </a:extLst>
          </p:cNvPr>
          <p:cNvSpPr txBox="1"/>
          <p:nvPr/>
        </p:nvSpPr>
        <p:spPr>
          <a:xfrm>
            <a:off x="8288867" y="5372100"/>
            <a:ext cx="3064933" cy="43088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1400">
                <a:solidFill>
                  <a:srgbClr val="626A80"/>
                </a:solidFill>
                <a:latin typeface="Aptos" panose="020B0004020202020204" pitchFamily="34" charset="0"/>
              </a:rPr>
              <a:t>Ative a simulação, registre progresso e recarregue.</a:t>
            </a:r>
          </a:p>
        </p:txBody>
      </p:sp>
    </p:spTree>
    <p:extLst>
      <p:ext uri="{BB962C8B-B14F-4D97-AF65-F5344CB8AC3E}">
        <p14:creationId xmlns:p14="http://schemas.microsoft.com/office/powerpoint/2010/main" val="2402025230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22B1DE84-AD45-4B49-C19F-FAD416318E8E}"/>
              </a:ext>
            </a:extLst>
          </p:cNvPr>
          <p:cNvSpPr/>
          <p:nvPr/>
        </p:nvSpPr>
        <p:spPr>
          <a:xfrm>
            <a:off x="609600" y="406400"/>
            <a:ext cx="63500" cy="254000"/>
          </a:xfrm>
          <a:prstGeom prst="rect">
            <a:avLst/>
          </a:prstGeom>
          <a:solidFill>
            <a:srgbClr val="7660D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986C1845-CAA9-2837-E316-7CBA7DC65C9B}"/>
              </a:ext>
            </a:extLst>
          </p:cNvPr>
          <p:cNvSpPr txBox="1"/>
          <p:nvPr/>
        </p:nvSpPr>
        <p:spPr>
          <a:xfrm>
            <a:off x="812800" y="431800"/>
            <a:ext cx="102235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1000" b="1">
                <a:solidFill>
                  <a:srgbClr val="7660D3"/>
                </a:solidFill>
                <a:latin typeface="Aptos" panose="020B0004020202020204" pitchFamily="34" charset="0"/>
              </a:rPr>
              <a:t>PRÓXIMA ETAPA · VALIDAR COM USUÁRIOS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9DB39725-C729-FA4C-070D-70B92523F8EC}"/>
              </a:ext>
            </a:extLst>
          </p:cNvPr>
          <p:cNvSpPr txBox="1"/>
          <p:nvPr/>
        </p:nvSpPr>
        <p:spPr>
          <a:xfrm>
            <a:off x="609600" y="889000"/>
            <a:ext cx="10985500" cy="44627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2900" b="1">
                <a:solidFill>
                  <a:srgbClr val="273047"/>
                </a:solidFill>
                <a:latin typeface="Aptos" panose="020B0004020202020204" pitchFamily="34" charset="0"/>
              </a:rPr>
              <a:t>O sucesso precisa ser medido na rotina acadêmica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6B31C789-0652-A0C1-16F9-60F070FDF407}"/>
              </a:ext>
            </a:extLst>
          </p:cNvPr>
          <p:cNvSpPr txBox="1"/>
          <p:nvPr/>
        </p:nvSpPr>
        <p:spPr>
          <a:xfrm>
            <a:off x="609600" y="1816100"/>
            <a:ext cx="10998200" cy="2000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1300">
                <a:solidFill>
                  <a:srgbClr val="7B7F93"/>
                </a:solidFill>
                <a:latin typeface="Aptos" panose="020B0004020202020204" pitchFamily="34" charset="0"/>
              </a:rPr>
              <a:t>Indicadores propostos no documento. Ainda não há resultados medidos.</a:t>
            </a:r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6FDB12E4-0D27-DBD0-E7D7-87EA44589145}"/>
              </a:ext>
            </a:extLst>
          </p:cNvPr>
          <p:cNvSpPr/>
          <p:nvPr/>
        </p:nvSpPr>
        <p:spPr>
          <a:xfrm>
            <a:off x="609600" y="6426200"/>
            <a:ext cx="10972800" cy="12700"/>
          </a:xfrm>
          <a:prstGeom prst="rect">
            <a:avLst/>
          </a:prstGeom>
          <a:solidFill>
            <a:srgbClr val="E2DFE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547048B1-8737-5D18-5A5F-F304EDDB23A9}"/>
              </a:ext>
            </a:extLst>
          </p:cNvPr>
          <p:cNvSpPr txBox="1"/>
          <p:nvPr/>
        </p:nvSpPr>
        <p:spPr>
          <a:xfrm>
            <a:off x="609600" y="6553200"/>
            <a:ext cx="9652000" cy="12311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800">
                <a:solidFill>
                  <a:srgbClr val="9690A5"/>
                </a:solidFill>
                <a:latin typeface="Aptos" panose="020B0004020202020204" pitchFamily="34" charset="0"/>
              </a:rPr>
              <a:t>Fonte: Etapa 6 · Indicadores para validar posteriormente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6210075D-D93D-2D88-CB8F-E4B84C2BB5F0}"/>
              </a:ext>
            </a:extLst>
          </p:cNvPr>
          <p:cNvSpPr txBox="1"/>
          <p:nvPr/>
        </p:nvSpPr>
        <p:spPr>
          <a:xfrm>
            <a:off x="10896600" y="6515100"/>
            <a:ext cx="7493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1000" b="1">
                <a:solidFill>
                  <a:srgbClr val="7660D3"/>
                </a:solidFill>
                <a:latin typeface="Aptos" panose="020B0004020202020204" pitchFamily="34" charset="0"/>
              </a:rPr>
              <a:t>36 / 40</a:t>
            </a:r>
          </a:p>
        </p:txBody>
      </p:sp>
      <p:sp>
        <p:nvSpPr>
          <p:cNvPr id="9" name="Retângulo: Cantos Arredondados 8">
            <a:extLst>
              <a:ext uri="{FF2B5EF4-FFF2-40B4-BE49-F238E27FC236}">
                <a16:creationId xmlns:a16="http://schemas.microsoft.com/office/drawing/2014/main" id="{81994617-8E80-E820-F76F-12FCD44439A7}"/>
              </a:ext>
            </a:extLst>
          </p:cNvPr>
          <p:cNvSpPr/>
          <p:nvPr/>
        </p:nvSpPr>
        <p:spPr>
          <a:xfrm>
            <a:off x="609600" y="2476500"/>
            <a:ext cx="5384800" cy="1778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E3F79BD3-19F1-8C47-7148-FBD4FE3768FD}"/>
              </a:ext>
            </a:extLst>
          </p:cNvPr>
          <p:cNvSpPr txBox="1"/>
          <p:nvPr/>
        </p:nvSpPr>
        <p:spPr>
          <a:xfrm>
            <a:off x="838200" y="2717800"/>
            <a:ext cx="4927600" cy="2616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1700" b="1">
                <a:solidFill>
                  <a:srgbClr val="6550B5"/>
                </a:solidFill>
                <a:latin typeface="Aptos" panose="020B0004020202020204" pitchFamily="34" charset="0"/>
              </a:rPr>
              <a:t>Conclusão no prazo</a:t>
            </a:r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4FAF0135-99FA-4883-71F1-308D5E729F81}"/>
              </a:ext>
            </a:extLst>
          </p:cNvPr>
          <p:cNvSpPr txBox="1"/>
          <p:nvPr/>
        </p:nvSpPr>
        <p:spPr>
          <a:xfrm>
            <a:off x="838200" y="3390900"/>
            <a:ext cx="4927600" cy="21544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1400">
                <a:solidFill>
                  <a:srgbClr val="626A80"/>
                </a:solidFill>
                <a:latin typeface="Aptos" panose="020B0004020202020204" pitchFamily="34" charset="0"/>
              </a:rPr>
              <a:t>Percentual de atividades entregues dentro da data oficial.</a:t>
            </a:r>
          </a:p>
        </p:txBody>
      </p:sp>
      <p:sp>
        <p:nvSpPr>
          <p:cNvPr id="12" name="Retângulo: Cantos Arredondados 11">
            <a:extLst>
              <a:ext uri="{FF2B5EF4-FFF2-40B4-BE49-F238E27FC236}">
                <a16:creationId xmlns:a16="http://schemas.microsoft.com/office/drawing/2014/main" id="{0237B79B-DFB1-EEB7-F424-4F2969809676}"/>
              </a:ext>
            </a:extLst>
          </p:cNvPr>
          <p:cNvSpPr/>
          <p:nvPr/>
        </p:nvSpPr>
        <p:spPr>
          <a:xfrm>
            <a:off x="6197600" y="2476500"/>
            <a:ext cx="5384800" cy="1778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FA2A8256-88D0-73E8-A542-497B21908AC6}"/>
              </a:ext>
            </a:extLst>
          </p:cNvPr>
          <p:cNvSpPr txBox="1"/>
          <p:nvPr/>
        </p:nvSpPr>
        <p:spPr>
          <a:xfrm>
            <a:off x="6426200" y="2717800"/>
            <a:ext cx="4927600" cy="2616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1700" b="1">
                <a:solidFill>
                  <a:srgbClr val="6550B5"/>
                </a:solidFill>
                <a:latin typeface="Aptos" panose="020B0004020202020204" pitchFamily="34" charset="0"/>
              </a:rPr>
              <a:t>Atrasos por período</a:t>
            </a:r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373B4700-9DED-6A3A-19FA-586C9033CB71}"/>
              </a:ext>
            </a:extLst>
          </p:cNvPr>
          <p:cNvSpPr txBox="1"/>
          <p:nvPr/>
        </p:nvSpPr>
        <p:spPr>
          <a:xfrm>
            <a:off x="6426200" y="3390900"/>
            <a:ext cx="4927600" cy="43088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1400">
                <a:solidFill>
                  <a:srgbClr val="626A80"/>
                </a:solidFill>
                <a:latin typeface="Aptos" panose="020B0004020202020204" pitchFamily="34" charset="0"/>
              </a:rPr>
              <a:t>Quantidade de atrasos, observada ao longo de um período definido.</a:t>
            </a:r>
          </a:p>
        </p:txBody>
      </p:sp>
      <p:sp>
        <p:nvSpPr>
          <p:cNvPr id="15" name="Retângulo: Cantos Arredondados 14">
            <a:extLst>
              <a:ext uri="{FF2B5EF4-FFF2-40B4-BE49-F238E27FC236}">
                <a16:creationId xmlns:a16="http://schemas.microsoft.com/office/drawing/2014/main" id="{EB94D444-10FE-C78C-E801-45B31524B0E1}"/>
              </a:ext>
            </a:extLst>
          </p:cNvPr>
          <p:cNvSpPr/>
          <p:nvPr/>
        </p:nvSpPr>
        <p:spPr>
          <a:xfrm>
            <a:off x="609600" y="4457700"/>
            <a:ext cx="5384800" cy="1778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6" name="CaixaDeTexto 15">
            <a:extLst>
              <a:ext uri="{FF2B5EF4-FFF2-40B4-BE49-F238E27FC236}">
                <a16:creationId xmlns:a16="http://schemas.microsoft.com/office/drawing/2014/main" id="{A24BAC9B-D8B4-8585-8698-B86FCB007C0C}"/>
              </a:ext>
            </a:extLst>
          </p:cNvPr>
          <p:cNvSpPr txBox="1"/>
          <p:nvPr/>
        </p:nvSpPr>
        <p:spPr>
          <a:xfrm>
            <a:off x="838200" y="4699000"/>
            <a:ext cx="4927600" cy="2616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1700" b="1">
                <a:solidFill>
                  <a:srgbClr val="6550B5"/>
                </a:solidFill>
                <a:latin typeface="Aptos" panose="020B0004020202020204" pitchFamily="34" charset="0"/>
              </a:rPr>
              <a:t>Início antecipado</a:t>
            </a:r>
          </a:p>
        </p:txBody>
      </p:sp>
      <p:sp>
        <p:nvSpPr>
          <p:cNvPr id="17" name="CaixaDeTexto 16">
            <a:extLst>
              <a:ext uri="{FF2B5EF4-FFF2-40B4-BE49-F238E27FC236}">
                <a16:creationId xmlns:a16="http://schemas.microsoft.com/office/drawing/2014/main" id="{8A307420-2EC8-DDE7-223F-B82CA1749378}"/>
              </a:ext>
            </a:extLst>
          </p:cNvPr>
          <p:cNvSpPr txBox="1"/>
          <p:nvPr/>
        </p:nvSpPr>
        <p:spPr>
          <a:xfrm>
            <a:off x="838200" y="5372100"/>
            <a:ext cx="4927600" cy="21544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1400">
                <a:solidFill>
                  <a:srgbClr val="626A80"/>
                </a:solidFill>
                <a:latin typeface="Aptos" panose="020B0004020202020204" pitchFamily="34" charset="0"/>
              </a:rPr>
              <a:t>Percentual de tarefas iniciadas antes do dia do vencimento.</a:t>
            </a:r>
          </a:p>
        </p:txBody>
      </p:sp>
      <p:sp>
        <p:nvSpPr>
          <p:cNvPr id="18" name="Retângulo: Cantos Arredondados 17">
            <a:extLst>
              <a:ext uri="{FF2B5EF4-FFF2-40B4-BE49-F238E27FC236}">
                <a16:creationId xmlns:a16="http://schemas.microsoft.com/office/drawing/2014/main" id="{6A9059ED-2C8A-CBF0-2FFB-1C3E1802717D}"/>
              </a:ext>
            </a:extLst>
          </p:cNvPr>
          <p:cNvSpPr/>
          <p:nvPr/>
        </p:nvSpPr>
        <p:spPr>
          <a:xfrm>
            <a:off x="6197600" y="4457700"/>
            <a:ext cx="5384800" cy="1778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9" name="CaixaDeTexto 18">
            <a:extLst>
              <a:ext uri="{FF2B5EF4-FFF2-40B4-BE49-F238E27FC236}">
                <a16:creationId xmlns:a16="http://schemas.microsoft.com/office/drawing/2014/main" id="{6FA8DBF7-E112-8BF5-E571-B025EA4C84BB}"/>
              </a:ext>
            </a:extLst>
          </p:cNvPr>
          <p:cNvSpPr txBox="1"/>
          <p:nvPr/>
        </p:nvSpPr>
        <p:spPr>
          <a:xfrm>
            <a:off x="6426200" y="4699000"/>
            <a:ext cx="4927600" cy="2616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1700" b="1">
                <a:solidFill>
                  <a:srgbClr val="6550B5"/>
                </a:solidFill>
                <a:latin typeface="Aptos" panose="020B0004020202020204" pitchFamily="34" charset="0"/>
              </a:rPr>
              <a:t>Facilidade de uso</a:t>
            </a:r>
          </a:p>
        </p:txBody>
      </p:sp>
      <p:sp>
        <p:nvSpPr>
          <p:cNvPr id="20" name="CaixaDeTexto 19">
            <a:extLst>
              <a:ext uri="{FF2B5EF4-FFF2-40B4-BE49-F238E27FC236}">
                <a16:creationId xmlns:a16="http://schemas.microsoft.com/office/drawing/2014/main" id="{C3686561-F331-789F-EF09-516371DDBF84}"/>
              </a:ext>
            </a:extLst>
          </p:cNvPr>
          <p:cNvSpPr txBox="1"/>
          <p:nvPr/>
        </p:nvSpPr>
        <p:spPr>
          <a:xfrm>
            <a:off x="6426200" y="5372100"/>
            <a:ext cx="4927600" cy="43088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1400">
                <a:solidFill>
                  <a:srgbClr val="626A80"/>
                </a:solidFill>
                <a:latin typeface="Aptos" panose="020B0004020202020204" pitchFamily="34" charset="0"/>
              </a:rPr>
              <a:t>Percepção de alunos e docentes, com atenção à acessibilidade e ao uso mobile.</a:t>
            </a:r>
          </a:p>
        </p:txBody>
      </p:sp>
    </p:spTree>
    <p:extLst>
      <p:ext uri="{BB962C8B-B14F-4D97-AF65-F5344CB8AC3E}">
        <p14:creationId xmlns:p14="http://schemas.microsoft.com/office/powerpoint/2010/main" val="3214202119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D12E4DB3-8BA3-05D3-2970-31D37364D595}"/>
              </a:ext>
            </a:extLst>
          </p:cNvPr>
          <p:cNvSpPr/>
          <p:nvPr/>
        </p:nvSpPr>
        <p:spPr>
          <a:xfrm>
            <a:off x="609600" y="406400"/>
            <a:ext cx="63500" cy="254000"/>
          </a:xfrm>
          <a:prstGeom prst="rect">
            <a:avLst/>
          </a:prstGeom>
          <a:solidFill>
            <a:srgbClr val="7660D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B5E23FAF-1A4C-B151-33E7-5CE88303E8BA}"/>
              </a:ext>
            </a:extLst>
          </p:cNvPr>
          <p:cNvSpPr txBox="1"/>
          <p:nvPr/>
        </p:nvSpPr>
        <p:spPr>
          <a:xfrm>
            <a:off x="812800" y="431800"/>
            <a:ext cx="102235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1000" b="1">
                <a:solidFill>
                  <a:srgbClr val="7660D3"/>
                </a:solidFill>
                <a:latin typeface="Aptos" panose="020B0004020202020204" pitchFamily="34" charset="0"/>
              </a:rPr>
              <a:t>FECHAMENTO · POSICIONAMENTO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19FFCE15-3234-C20A-EF02-C59703A07864}"/>
              </a:ext>
            </a:extLst>
          </p:cNvPr>
          <p:cNvSpPr txBox="1"/>
          <p:nvPr/>
        </p:nvSpPr>
        <p:spPr>
          <a:xfrm>
            <a:off x="609600" y="889000"/>
            <a:ext cx="10985500" cy="44627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2900" b="1">
                <a:solidFill>
                  <a:srgbClr val="273047"/>
                </a:solidFill>
                <a:latin typeface="Aptos" panose="020B0004020202020204" pitchFamily="34" charset="0"/>
              </a:rPr>
              <a:t>De uma lista de prazos para uma jornada de execução.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5DF06325-3638-955E-CA98-C0BB7E1DC3F2}"/>
              </a:ext>
            </a:extLst>
          </p:cNvPr>
          <p:cNvSpPr txBox="1"/>
          <p:nvPr/>
        </p:nvSpPr>
        <p:spPr>
          <a:xfrm>
            <a:off x="609600" y="1816100"/>
            <a:ext cx="10998200" cy="2000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1300">
                <a:solidFill>
                  <a:srgbClr val="7B7F93"/>
                </a:solidFill>
                <a:latin typeface="Aptos" panose="020B0004020202020204" pitchFamily="34" charset="0"/>
              </a:rPr>
              <a:t>Mais do que lembrar prazos, ajudamos você a concluir cada etapa.</a:t>
            </a:r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6B6C33A8-770C-DC6D-F1F4-AB19207C658D}"/>
              </a:ext>
            </a:extLst>
          </p:cNvPr>
          <p:cNvSpPr/>
          <p:nvPr/>
        </p:nvSpPr>
        <p:spPr>
          <a:xfrm>
            <a:off x="609600" y="6426200"/>
            <a:ext cx="10972800" cy="12700"/>
          </a:xfrm>
          <a:prstGeom prst="rect">
            <a:avLst/>
          </a:prstGeom>
          <a:solidFill>
            <a:srgbClr val="E2DFE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C9C2FCFE-C137-1174-7D23-783DCFD43310}"/>
              </a:ext>
            </a:extLst>
          </p:cNvPr>
          <p:cNvSpPr txBox="1"/>
          <p:nvPr/>
        </p:nvSpPr>
        <p:spPr>
          <a:xfrm>
            <a:off x="609600" y="6553200"/>
            <a:ext cx="9652000" cy="12311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800">
                <a:solidFill>
                  <a:srgbClr val="9690A5"/>
                </a:solidFill>
                <a:latin typeface="Aptos" panose="020B0004020202020204" pitchFamily="34" charset="0"/>
              </a:rPr>
              <a:t>Fonte: Síntese do posicionamento do documento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17EF43D6-D08C-E381-8FCD-660AA0569139}"/>
              </a:ext>
            </a:extLst>
          </p:cNvPr>
          <p:cNvSpPr txBox="1"/>
          <p:nvPr/>
        </p:nvSpPr>
        <p:spPr>
          <a:xfrm>
            <a:off x="10896600" y="6515100"/>
            <a:ext cx="7493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1000" b="1">
                <a:solidFill>
                  <a:srgbClr val="7660D3"/>
                </a:solidFill>
                <a:latin typeface="Aptos" panose="020B0004020202020204" pitchFamily="34" charset="0"/>
              </a:rPr>
              <a:t>37 / 40</a:t>
            </a:r>
          </a:p>
        </p:txBody>
      </p:sp>
      <p:sp>
        <p:nvSpPr>
          <p:cNvPr id="9" name="Retângulo: Cantos Arredondados 8">
            <a:extLst>
              <a:ext uri="{FF2B5EF4-FFF2-40B4-BE49-F238E27FC236}">
                <a16:creationId xmlns:a16="http://schemas.microsoft.com/office/drawing/2014/main" id="{1B36AA2A-3E1A-3DFE-8912-8E6576F38CD7}"/>
              </a:ext>
            </a:extLst>
          </p:cNvPr>
          <p:cNvSpPr/>
          <p:nvPr/>
        </p:nvSpPr>
        <p:spPr>
          <a:xfrm>
            <a:off x="609600" y="2463800"/>
            <a:ext cx="10972800" cy="2209800"/>
          </a:xfrm>
          <a:prstGeom prst="roundRect">
            <a:avLst>
              <a:gd name="adj" fmla="val 6000"/>
            </a:avLst>
          </a:prstGeom>
          <a:solidFill>
            <a:srgbClr val="EDE7F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D155218D-86DB-3F48-170E-88CF66C4753A}"/>
              </a:ext>
            </a:extLst>
          </p:cNvPr>
          <p:cNvSpPr txBox="1"/>
          <p:nvPr/>
        </p:nvSpPr>
        <p:spPr>
          <a:xfrm>
            <a:off x="965200" y="2781300"/>
            <a:ext cx="10287000" cy="86177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2800" b="1">
                <a:solidFill>
                  <a:srgbClr val="6550B5"/>
                </a:solidFill>
                <a:latin typeface="Aptos" panose="020B0004020202020204" pitchFamily="34" charset="0"/>
              </a:rPr>
              <a:t>Mais do que lembrar prazos, ajudamos você a concluir cada etapa.</a:t>
            </a:r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69A7C59B-5705-4AA7-6717-F0EC7BAC6629}"/>
              </a:ext>
            </a:extLst>
          </p:cNvPr>
          <p:cNvSpPr txBox="1"/>
          <p:nvPr/>
        </p:nvSpPr>
        <p:spPr>
          <a:xfrm>
            <a:off x="609600" y="5118100"/>
            <a:ext cx="35306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1200" b="1">
                <a:solidFill>
                  <a:srgbClr val="7660D3"/>
                </a:solidFill>
                <a:latin typeface="Aptos" panose="020B0004020202020204" pitchFamily="34" charset="0"/>
              </a:rPr>
              <a:t>CLAREZA</a:t>
            </a:r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684368B1-CBF5-8A93-8D3B-6CB955C33EE3}"/>
              </a:ext>
            </a:extLst>
          </p:cNvPr>
          <p:cNvSpPr txBox="1"/>
          <p:nvPr/>
        </p:nvSpPr>
        <p:spPr>
          <a:xfrm>
            <a:off x="609600" y="5511800"/>
            <a:ext cx="3530600" cy="2923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1900" b="1">
                <a:solidFill>
                  <a:srgbClr val="273047"/>
                </a:solidFill>
                <a:latin typeface="Aptos" panose="020B0004020202020204" pitchFamily="34" charset="0"/>
              </a:rPr>
              <a:t>Saber por onde começar</a:t>
            </a:r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E9A4B83F-A9EB-2324-43FA-2C4545681190}"/>
              </a:ext>
            </a:extLst>
          </p:cNvPr>
          <p:cNvSpPr txBox="1"/>
          <p:nvPr/>
        </p:nvSpPr>
        <p:spPr>
          <a:xfrm>
            <a:off x="4343400" y="5118100"/>
            <a:ext cx="35306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1200" b="1">
                <a:solidFill>
                  <a:srgbClr val="7660D3"/>
                </a:solidFill>
                <a:latin typeface="Aptos" panose="020B0004020202020204" pitchFamily="34" charset="0"/>
              </a:rPr>
              <a:t>PROGRESSO</a:t>
            </a:r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8F18EF6B-79F3-FC72-FB8D-11BBA27CE27B}"/>
              </a:ext>
            </a:extLst>
          </p:cNvPr>
          <p:cNvSpPr txBox="1"/>
          <p:nvPr/>
        </p:nvSpPr>
        <p:spPr>
          <a:xfrm>
            <a:off x="4343400" y="5511800"/>
            <a:ext cx="3530600" cy="2923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1900" b="1">
                <a:solidFill>
                  <a:srgbClr val="273047"/>
                </a:solidFill>
                <a:latin typeface="Aptos" panose="020B0004020202020204" pitchFamily="34" charset="0"/>
              </a:rPr>
              <a:t>Ver cada etapa avançar</a:t>
            </a:r>
          </a:p>
        </p:txBody>
      </p:sp>
      <p:sp>
        <p:nvSpPr>
          <p:cNvPr id="15" name="CaixaDeTexto 14">
            <a:extLst>
              <a:ext uri="{FF2B5EF4-FFF2-40B4-BE49-F238E27FC236}">
                <a16:creationId xmlns:a16="http://schemas.microsoft.com/office/drawing/2014/main" id="{73EEC0B4-58BA-7EFB-A508-A8DF4E248553}"/>
              </a:ext>
            </a:extLst>
          </p:cNvPr>
          <p:cNvSpPr txBox="1"/>
          <p:nvPr/>
        </p:nvSpPr>
        <p:spPr>
          <a:xfrm>
            <a:off x="8077200" y="5118100"/>
            <a:ext cx="35306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1200" b="1">
                <a:solidFill>
                  <a:srgbClr val="7660D3"/>
                </a:solidFill>
                <a:latin typeface="Aptos" panose="020B0004020202020204" pitchFamily="34" charset="0"/>
              </a:rPr>
              <a:t>CONTINUIDADE</a:t>
            </a:r>
          </a:p>
        </p:txBody>
      </p:sp>
      <p:sp>
        <p:nvSpPr>
          <p:cNvPr id="16" name="CaixaDeTexto 15">
            <a:extLst>
              <a:ext uri="{FF2B5EF4-FFF2-40B4-BE49-F238E27FC236}">
                <a16:creationId xmlns:a16="http://schemas.microsoft.com/office/drawing/2014/main" id="{E9DB9A89-AA14-E3C0-4EAD-BE9CA7C8A044}"/>
              </a:ext>
            </a:extLst>
          </p:cNvPr>
          <p:cNvSpPr txBox="1"/>
          <p:nvPr/>
        </p:nvSpPr>
        <p:spPr>
          <a:xfrm>
            <a:off x="8077200" y="5511800"/>
            <a:ext cx="3530600" cy="2923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1900" b="1">
                <a:solidFill>
                  <a:srgbClr val="273047"/>
                </a:solidFill>
                <a:latin typeface="Aptos" panose="020B0004020202020204" pitchFamily="34" charset="0"/>
              </a:rPr>
              <a:t>Seguir no próprio ritmo</a:t>
            </a:r>
          </a:p>
        </p:txBody>
      </p:sp>
    </p:spTree>
    <p:extLst>
      <p:ext uri="{BB962C8B-B14F-4D97-AF65-F5344CB8AC3E}">
        <p14:creationId xmlns:p14="http://schemas.microsoft.com/office/powerpoint/2010/main" val="1140188687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3352F8CD-7953-8384-3FEC-FB24C1611A7A}"/>
              </a:ext>
            </a:extLst>
          </p:cNvPr>
          <p:cNvSpPr/>
          <p:nvPr/>
        </p:nvSpPr>
        <p:spPr>
          <a:xfrm>
            <a:off x="609600" y="406400"/>
            <a:ext cx="63500" cy="254000"/>
          </a:xfrm>
          <a:prstGeom prst="rect">
            <a:avLst/>
          </a:prstGeom>
          <a:solidFill>
            <a:srgbClr val="7660D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9E40E5C8-B7F2-DBEA-13C9-988F8829CD7A}"/>
              </a:ext>
            </a:extLst>
          </p:cNvPr>
          <p:cNvSpPr txBox="1"/>
          <p:nvPr/>
        </p:nvSpPr>
        <p:spPr>
          <a:xfrm>
            <a:off x="812800" y="431800"/>
            <a:ext cx="102235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1000" b="1">
                <a:solidFill>
                  <a:srgbClr val="7660D3"/>
                </a:solidFill>
                <a:latin typeface="Aptos" panose="020B0004020202020204" pitchFamily="34" charset="0"/>
              </a:rPr>
              <a:t>APÊNDICE · 22 IDEIAS · PARTE 1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88624440-6A15-2E26-F54C-8E6D4FCDD764}"/>
              </a:ext>
            </a:extLst>
          </p:cNvPr>
          <p:cNvSpPr txBox="1"/>
          <p:nvPr/>
        </p:nvSpPr>
        <p:spPr>
          <a:xfrm>
            <a:off x="609600" y="889000"/>
            <a:ext cx="10985500" cy="44627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2900" b="1">
                <a:solidFill>
                  <a:srgbClr val="273047"/>
                </a:solidFill>
                <a:latin typeface="Aptos" panose="020B0004020202020204" pitchFamily="34" charset="0"/>
              </a:rPr>
              <a:t>Rastreabilidade das ideias do grupo · 1 a 11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CF59E7B1-E1B9-F60C-AEF6-ED99F1867B7E}"/>
              </a:ext>
            </a:extLst>
          </p:cNvPr>
          <p:cNvSpPr txBox="1"/>
          <p:nvPr/>
        </p:nvSpPr>
        <p:spPr>
          <a:xfrm>
            <a:off x="609600" y="1816100"/>
            <a:ext cx="10998200" cy="2000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1300">
                <a:solidFill>
                  <a:srgbClr val="7B7F93"/>
                </a:solidFill>
                <a:latin typeface="Aptos" panose="020B0004020202020204" pitchFamily="34" charset="0"/>
              </a:rPr>
              <a:t>Cobertura atual e limites para discussão após o pitch.</a:t>
            </a:r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5DBCD273-1305-1D7B-6EA4-0B330E4D1472}"/>
              </a:ext>
            </a:extLst>
          </p:cNvPr>
          <p:cNvSpPr/>
          <p:nvPr/>
        </p:nvSpPr>
        <p:spPr>
          <a:xfrm>
            <a:off x="609600" y="6426200"/>
            <a:ext cx="10972800" cy="12700"/>
          </a:xfrm>
          <a:prstGeom prst="rect">
            <a:avLst/>
          </a:prstGeom>
          <a:solidFill>
            <a:srgbClr val="E2DFE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ED0615A3-1907-160C-74F9-0C9928A038B9}"/>
              </a:ext>
            </a:extLst>
          </p:cNvPr>
          <p:cNvSpPr txBox="1"/>
          <p:nvPr/>
        </p:nvSpPr>
        <p:spPr>
          <a:xfrm>
            <a:off x="609600" y="6553200"/>
            <a:ext cx="9652000" cy="12311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800">
                <a:solidFill>
                  <a:srgbClr val="9690A5"/>
                </a:solidFill>
                <a:latin typeface="Aptos" panose="020B0004020202020204" pitchFamily="34" charset="0"/>
              </a:rPr>
              <a:t>Fonte: Etapa 2 · Lista original de ideias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B5114502-7A63-86A6-C902-95FE96FD71D9}"/>
              </a:ext>
            </a:extLst>
          </p:cNvPr>
          <p:cNvSpPr txBox="1"/>
          <p:nvPr/>
        </p:nvSpPr>
        <p:spPr>
          <a:xfrm>
            <a:off x="10896600" y="6515100"/>
            <a:ext cx="7493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1000" b="1">
                <a:solidFill>
                  <a:srgbClr val="7660D3"/>
                </a:solidFill>
                <a:latin typeface="Aptos" panose="020B0004020202020204" pitchFamily="34" charset="0"/>
              </a:rPr>
              <a:t>38 / 40</a:t>
            </a:r>
          </a:p>
        </p:txBody>
      </p:sp>
      <p:sp>
        <p:nvSpPr>
          <p:cNvPr id="9" name="Retângulo: Cantos Arredondados 8">
            <a:extLst>
              <a:ext uri="{FF2B5EF4-FFF2-40B4-BE49-F238E27FC236}">
                <a16:creationId xmlns:a16="http://schemas.microsoft.com/office/drawing/2014/main" id="{3F61B1B1-1D47-FF25-2227-07C33E3C8682}"/>
              </a:ext>
            </a:extLst>
          </p:cNvPr>
          <p:cNvSpPr/>
          <p:nvPr/>
        </p:nvSpPr>
        <p:spPr>
          <a:xfrm>
            <a:off x="609600" y="2425700"/>
            <a:ext cx="10972800" cy="304800"/>
          </a:xfrm>
          <a:prstGeom prst="roundRect">
            <a:avLst>
              <a:gd name="adj" fmla="val 6000"/>
            </a:avLst>
          </a:prstGeom>
          <a:solidFill>
            <a:srgbClr val="7660D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C86BA589-FE6A-0DBE-5FF5-353C5966B8A2}"/>
              </a:ext>
            </a:extLst>
          </p:cNvPr>
          <p:cNvSpPr txBox="1"/>
          <p:nvPr/>
        </p:nvSpPr>
        <p:spPr>
          <a:xfrm>
            <a:off x="774700" y="2476500"/>
            <a:ext cx="35687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1000" b="1">
                <a:solidFill>
                  <a:srgbClr val="FFFFFF"/>
                </a:solidFill>
                <a:latin typeface="Aptos" panose="020B0004020202020204" pitchFamily="34" charset="0"/>
              </a:rPr>
              <a:t>IDEIA DO DOCUMENTO</a:t>
            </a:r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7ACEC348-19DE-A9AE-5BA5-0CD65701CC04}"/>
              </a:ext>
            </a:extLst>
          </p:cNvPr>
          <p:cNvSpPr txBox="1"/>
          <p:nvPr/>
        </p:nvSpPr>
        <p:spPr>
          <a:xfrm>
            <a:off x="4610100" y="2476500"/>
            <a:ext cx="67945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1000" b="1">
                <a:solidFill>
                  <a:srgbClr val="FFFFFF"/>
                </a:solidFill>
                <a:latin typeface="Aptos" panose="020B0004020202020204" pitchFamily="34" charset="0"/>
              </a:rPr>
              <a:t>COBERTURA NO PROTÓTIPO / EVOLUÇÃO</a:t>
            </a:r>
          </a:p>
        </p:txBody>
      </p:sp>
      <p:sp>
        <p:nvSpPr>
          <p:cNvPr id="12" name="Retângulo 11">
            <a:extLst>
              <a:ext uri="{FF2B5EF4-FFF2-40B4-BE49-F238E27FC236}">
                <a16:creationId xmlns:a16="http://schemas.microsoft.com/office/drawing/2014/main" id="{D26D8EBD-1263-B38B-281E-6ECABC109D75}"/>
              </a:ext>
            </a:extLst>
          </p:cNvPr>
          <p:cNvSpPr/>
          <p:nvPr/>
        </p:nvSpPr>
        <p:spPr>
          <a:xfrm>
            <a:off x="609600" y="2806700"/>
            <a:ext cx="10972800" cy="3048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FF82450C-3C80-EA7A-2FDD-55A67DCC9285}"/>
              </a:ext>
            </a:extLst>
          </p:cNvPr>
          <p:cNvSpPr txBox="1"/>
          <p:nvPr/>
        </p:nvSpPr>
        <p:spPr>
          <a:xfrm>
            <a:off x="774700" y="2857500"/>
            <a:ext cx="3683000" cy="1661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1080" b="1">
                <a:solidFill>
                  <a:srgbClr val="4F426D"/>
                </a:solidFill>
                <a:latin typeface="Aptos" panose="020B0004020202020204" pitchFamily="34" charset="0"/>
              </a:rPr>
              <a:t>01 · Alertas em tela</a:t>
            </a:r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1D23F1F4-7700-9C8D-0A1E-224D8FBF85A9}"/>
              </a:ext>
            </a:extLst>
          </p:cNvPr>
          <p:cNvSpPr txBox="1"/>
          <p:nvPr/>
        </p:nvSpPr>
        <p:spPr>
          <a:xfrm>
            <a:off x="4610100" y="2857500"/>
            <a:ext cx="6794500" cy="16004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1040">
                <a:solidFill>
                  <a:srgbClr val="697187"/>
                </a:solidFill>
                <a:latin typeface="Aptos" panose="020B0004020202020204" pitchFamily="34" charset="0"/>
              </a:rPr>
              <a:t>Painel com prioridade e feedback; avisos sem interrupções excessivas.</a:t>
            </a:r>
          </a:p>
        </p:txBody>
      </p:sp>
      <p:sp>
        <p:nvSpPr>
          <p:cNvPr id="15" name="Retângulo 14">
            <a:extLst>
              <a:ext uri="{FF2B5EF4-FFF2-40B4-BE49-F238E27FC236}">
                <a16:creationId xmlns:a16="http://schemas.microsoft.com/office/drawing/2014/main" id="{0868BD1D-9035-505B-C06A-9CA806887490}"/>
              </a:ext>
            </a:extLst>
          </p:cNvPr>
          <p:cNvSpPr/>
          <p:nvPr/>
        </p:nvSpPr>
        <p:spPr>
          <a:xfrm>
            <a:off x="609600" y="3124200"/>
            <a:ext cx="10972800" cy="304800"/>
          </a:xfrm>
          <a:prstGeom prst="rect">
            <a:avLst/>
          </a:prstGeom>
          <a:solidFill>
            <a:srgbClr val="F0EDF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6" name="CaixaDeTexto 15">
            <a:extLst>
              <a:ext uri="{FF2B5EF4-FFF2-40B4-BE49-F238E27FC236}">
                <a16:creationId xmlns:a16="http://schemas.microsoft.com/office/drawing/2014/main" id="{999A2BA7-4678-4A81-F468-2F60AB3597D9}"/>
              </a:ext>
            </a:extLst>
          </p:cNvPr>
          <p:cNvSpPr txBox="1"/>
          <p:nvPr/>
        </p:nvSpPr>
        <p:spPr>
          <a:xfrm>
            <a:off x="774700" y="3175000"/>
            <a:ext cx="3683000" cy="1661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1080" b="1">
                <a:solidFill>
                  <a:srgbClr val="4F426D"/>
                </a:solidFill>
                <a:latin typeface="Aptos" panose="020B0004020202020204" pitchFamily="34" charset="0"/>
              </a:rPr>
              <a:t>02 · Totem com QR Code</a:t>
            </a:r>
          </a:p>
        </p:txBody>
      </p:sp>
      <p:sp>
        <p:nvSpPr>
          <p:cNvPr id="17" name="CaixaDeTexto 16">
            <a:extLst>
              <a:ext uri="{FF2B5EF4-FFF2-40B4-BE49-F238E27FC236}">
                <a16:creationId xmlns:a16="http://schemas.microsoft.com/office/drawing/2014/main" id="{E3627D47-720F-8CC6-E007-A3428372D634}"/>
              </a:ext>
            </a:extLst>
          </p:cNvPr>
          <p:cNvSpPr txBox="1"/>
          <p:nvPr/>
        </p:nvSpPr>
        <p:spPr>
          <a:xfrm>
            <a:off x="4610100" y="3175000"/>
            <a:ext cx="6794500" cy="16004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1040">
                <a:solidFill>
                  <a:srgbClr val="697187"/>
                </a:solidFill>
                <a:latin typeface="Aptos" panose="020B0004020202020204" pitchFamily="34" charset="0"/>
              </a:rPr>
              <a:t>Visualização local; QR indisponível sem URL pública. Equipamento físico futuro.</a:t>
            </a:r>
          </a:p>
        </p:txBody>
      </p:sp>
      <p:sp>
        <p:nvSpPr>
          <p:cNvPr id="18" name="Retângulo 17">
            <a:extLst>
              <a:ext uri="{FF2B5EF4-FFF2-40B4-BE49-F238E27FC236}">
                <a16:creationId xmlns:a16="http://schemas.microsoft.com/office/drawing/2014/main" id="{EC98B884-047B-B44D-0CCD-C6DE417A64C2}"/>
              </a:ext>
            </a:extLst>
          </p:cNvPr>
          <p:cNvSpPr/>
          <p:nvPr/>
        </p:nvSpPr>
        <p:spPr>
          <a:xfrm>
            <a:off x="609600" y="3441700"/>
            <a:ext cx="10972800" cy="3048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9" name="CaixaDeTexto 18">
            <a:extLst>
              <a:ext uri="{FF2B5EF4-FFF2-40B4-BE49-F238E27FC236}">
                <a16:creationId xmlns:a16="http://schemas.microsoft.com/office/drawing/2014/main" id="{C2203B2A-0867-0172-372D-AF3AE8D17CC1}"/>
              </a:ext>
            </a:extLst>
          </p:cNvPr>
          <p:cNvSpPr txBox="1"/>
          <p:nvPr/>
        </p:nvSpPr>
        <p:spPr>
          <a:xfrm>
            <a:off x="774700" y="3492500"/>
            <a:ext cx="3683000" cy="1661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1080" b="1">
                <a:solidFill>
                  <a:srgbClr val="4F426D"/>
                </a:solidFill>
                <a:latin typeface="Aptos" panose="020B0004020202020204" pitchFamily="34" charset="0"/>
              </a:rPr>
              <a:t>03 · Programar tarefas</a:t>
            </a:r>
          </a:p>
        </p:txBody>
      </p:sp>
      <p:sp>
        <p:nvSpPr>
          <p:cNvPr id="20" name="CaixaDeTexto 19">
            <a:extLst>
              <a:ext uri="{FF2B5EF4-FFF2-40B4-BE49-F238E27FC236}">
                <a16:creationId xmlns:a16="http://schemas.microsoft.com/office/drawing/2014/main" id="{41F7CA43-CFDF-26C6-8BF8-50239F5A73FA}"/>
              </a:ext>
            </a:extLst>
          </p:cNvPr>
          <p:cNvSpPr txBox="1"/>
          <p:nvPr/>
        </p:nvSpPr>
        <p:spPr>
          <a:xfrm>
            <a:off x="4610100" y="3492500"/>
            <a:ext cx="6794500" cy="16004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1040">
                <a:solidFill>
                  <a:srgbClr val="697187"/>
                </a:solidFill>
                <a:latin typeface="Aptos" panose="020B0004020202020204" pitchFamily="34" charset="0"/>
              </a:rPr>
              <a:t>Atividades, prazo, etapas e estimativas implementados.</a:t>
            </a:r>
          </a:p>
        </p:txBody>
      </p:sp>
      <p:sp>
        <p:nvSpPr>
          <p:cNvPr id="21" name="Retângulo 20">
            <a:extLst>
              <a:ext uri="{FF2B5EF4-FFF2-40B4-BE49-F238E27FC236}">
                <a16:creationId xmlns:a16="http://schemas.microsoft.com/office/drawing/2014/main" id="{8B66971A-7EAD-E7CF-1D2D-E276578AC4A0}"/>
              </a:ext>
            </a:extLst>
          </p:cNvPr>
          <p:cNvSpPr/>
          <p:nvPr/>
        </p:nvSpPr>
        <p:spPr>
          <a:xfrm>
            <a:off x="609600" y="3759200"/>
            <a:ext cx="10972800" cy="304800"/>
          </a:xfrm>
          <a:prstGeom prst="rect">
            <a:avLst/>
          </a:prstGeom>
          <a:solidFill>
            <a:srgbClr val="F0EDF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2" name="CaixaDeTexto 21">
            <a:extLst>
              <a:ext uri="{FF2B5EF4-FFF2-40B4-BE49-F238E27FC236}">
                <a16:creationId xmlns:a16="http://schemas.microsoft.com/office/drawing/2014/main" id="{99D67C36-CE39-213F-E37C-7891C9605185}"/>
              </a:ext>
            </a:extLst>
          </p:cNvPr>
          <p:cNvSpPr txBox="1"/>
          <p:nvPr/>
        </p:nvSpPr>
        <p:spPr>
          <a:xfrm>
            <a:off x="774700" y="3810000"/>
            <a:ext cx="3683000" cy="1661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1080" b="1">
                <a:solidFill>
                  <a:srgbClr val="4F426D"/>
                </a:solidFill>
                <a:latin typeface="Aptos" panose="020B0004020202020204" pitchFamily="34" charset="0"/>
              </a:rPr>
              <a:t>04 · Mural eletrônico</a:t>
            </a:r>
          </a:p>
        </p:txBody>
      </p:sp>
      <p:sp>
        <p:nvSpPr>
          <p:cNvPr id="23" name="CaixaDeTexto 22">
            <a:extLst>
              <a:ext uri="{FF2B5EF4-FFF2-40B4-BE49-F238E27FC236}">
                <a16:creationId xmlns:a16="http://schemas.microsoft.com/office/drawing/2014/main" id="{066CE62F-0A01-383E-D21D-E55EDEBA6D59}"/>
              </a:ext>
            </a:extLst>
          </p:cNvPr>
          <p:cNvSpPr txBox="1"/>
          <p:nvPr/>
        </p:nvSpPr>
        <p:spPr>
          <a:xfrm>
            <a:off x="4610100" y="3810000"/>
            <a:ext cx="6794500" cy="16004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1040">
                <a:solidFill>
                  <a:srgbClr val="697187"/>
                </a:solidFill>
                <a:latin typeface="Aptos" panose="020B0004020202020204" pitchFamily="34" charset="0"/>
              </a:rPr>
              <a:t>Comunicados, turma, autor e leitura implementados.</a:t>
            </a:r>
          </a:p>
        </p:txBody>
      </p:sp>
      <p:sp>
        <p:nvSpPr>
          <p:cNvPr id="24" name="Retângulo 23">
            <a:extLst>
              <a:ext uri="{FF2B5EF4-FFF2-40B4-BE49-F238E27FC236}">
                <a16:creationId xmlns:a16="http://schemas.microsoft.com/office/drawing/2014/main" id="{A7122204-4835-F82C-B243-ADAEF147417D}"/>
              </a:ext>
            </a:extLst>
          </p:cNvPr>
          <p:cNvSpPr/>
          <p:nvPr/>
        </p:nvSpPr>
        <p:spPr>
          <a:xfrm>
            <a:off x="609600" y="4076700"/>
            <a:ext cx="10972800" cy="3048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5" name="CaixaDeTexto 24">
            <a:extLst>
              <a:ext uri="{FF2B5EF4-FFF2-40B4-BE49-F238E27FC236}">
                <a16:creationId xmlns:a16="http://schemas.microsoft.com/office/drawing/2014/main" id="{2D786EEC-3273-B9DE-4B74-6C029FE78A09}"/>
              </a:ext>
            </a:extLst>
          </p:cNvPr>
          <p:cNvSpPr txBox="1"/>
          <p:nvPr/>
        </p:nvSpPr>
        <p:spPr>
          <a:xfrm>
            <a:off x="774700" y="4127500"/>
            <a:ext cx="3683000" cy="1661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1080" b="1">
                <a:solidFill>
                  <a:srgbClr val="4F426D"/>
                </a:solidFill>
                <a:latin typeface="Aptos" panose="020B0004020202020204" pitchFamily="34" charset="0"/>
              </a:rPr>
              <a:t>05 · Flexibilizar entrega</a:t>
            </a:r>
          </a:p>
        </p:txBody>
      </p:sp>
      <p:sp>
        <p:nvSpPr>
          <p:cNvPr id="26" name="CaixaDeTexto 25">
            <a:extLst>
              <a:ext uri="{FF2B5EF4-FFF2-40B4-BE49-F238E27FC236}">
                <a16:creationId xmlns:a16="http://schemas.microsoft.com/office/drawing/2014/main" id="{8633B4BC-6CBC-7E9E-6F4E-29973F103B36}"/>
              </a:ext>
            </a:extLst>
          </p:cNvPr>
          <p:cNvSpPr txBox="1"/>
          <p:nvPr/>
        </p:nvSpPr>
        <p:spPr>
          <a:xfrm>
            <a:off x="4610100" y="4127500"/>
            <a:ext cx="6794500" cy="16004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1040">
                <a:solidFill>
                  <a:srgbClr val="697187"/>
                </a:solidFill>
                <a:latin typeface="Aptos" panose="020B0004020202020204" pitchFamily="34" charset="0"/>
              </a:rPr>
              <a:t>Pedido de extensão e decisão docente justificada implementados.</a:t>
            </a:r>
          </a:p>
        </p:txBody>
      </p:sp>
      <p:sp>
        <p:nvSpPr>
          <p:cNvPr id="27" name="Retângulo 26">
            <a:extLst>
              <a:ext uri="{FF2B5EF4-FFF2-40B4-BE49-F238E27FC236}">
                <a16:creationId xmlns:a16="http://schemas.microsoft.com/office/drawing/2014/main" id="{AF726AEB-3038-6E50-E10F-5112BDF1647E}"/>
              </a:ext>
            </a:extLst>
          </p:cNvPr>
          <p:cNvSpPr/>
          <p:nvPr/>
        </p:nvSpPr>
        <p:spPr>
          <a:xfrm>
            <a:off x="609600" y="4394200"/>
            <a:ext cx="10972800" cy="304800"/>
          </a:xfrm>
          <a:prstGeom prst="rect">
            <a:avLst/>
          </a:prstGeom>
          <a:solidFill>
            <a:srgbClr val="F0EDF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8" name="CaixaDeTexto 27">
            <a:extLst>
              <a:ext uri="{FF2B5EF4-FFF2-40B4-BE49-F238E27FC236}">
                <a16:creationId xmlns:a16="http://schemas.microsoft.com/office/drawing/2014/main" id="{E0AF5ADF-4FE5-64F5-4B51-E463C55E0970}"/>
              </a:ext>
            </a:extLst>
          </p:cNvPr>
          <p:cNvSpPr txBox="1"/>
          <p:nvPr/>
        </p:nvSpPr>
        <p:spPr>
          <a:xfrm>
            <a:off x="774700" y="4445000"/>
            <a:ext cx="3683000" cy="1661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1080" b="1">
                <a:solidFill>
                  <a:srgbClr val="4F426D"/>
                </a:solidFill>
                <a:latin typeface="Aptos" panose="020B0004020202020204" pitchFamily="34" charset="0"/>
              </a:rPr>
              <a:t>06 · Pontuação por etapa</a:t>
            </a:r>
          </a:p>
        </p:txBody>
      </p:sp>
      <p:sp>
        <p:nvSpPr>
          <p:cNvPr id="29" name="CaixaDeTexto 28">
            <a:extLst>
              <a:ext uri="{FF2B5EF4-FFF2-40B4-BE49-F238E27FC236}">
                <a16:creationId xmlns:a16="http://schemas.microsoft.com/office/drawing/2014/main" id="{99AFA5E3-3FDF-6681-DE06-0327CCD7DDD7}"/>
              </a:ext>
            </a:extLst>
          </p:cNvPr>
          <p:cNvSpPr txBox="1"/>
          <p:nvPr/>
        </p:nvSpPr>
        <p:spPr>
          <a:xfrm>
            <a:off x="4610100" y="4445000"/>
            <a:ext cx="6794500" cy="16004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1040">
                <a:solidFill>
                  <a:srgbClr val="697187"/>
                </a:solidFill>
                <a:latin typeface="Aptos" panose="020B0004020202020204" pitchFamily="34" charset="0"/>
              </a:rPr>
              <a:t>XP determinístico e reversível implementado.</a:t>
            </a:r>
          </a:p>
        </p:txBody>
      </p:sp>
      <p:sp>
        <p:nvSpPr>
          <p:cNvPr id="30" name="Retângulo 29">
            <a:extLst>
              <a:ext uri="{FF2B5EF4-FFF2-40B4-BE49-F238E27FC236}">
                <a16:creationId xmlns:a16="http://schemas.microsoft.com/office/drawing/2014/main" id="{FC24F948-66C7-EAB1-D8E8-0C22A6863A2E}"/>
              </a:ext>
            </a:extLst>
          </p:cNvPr>
          <p:cNvSpPr/>
          <p:nvPr/>
        </p:nvSpPr>
        <p:spPr>
          <a:xfrm>
            <a:off x="609600" y="4711700"/>
            <a:ext cx="10972800" cy="3048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1" name="CaixaDeTexto 30">
            <a:extLst>
              <a:ext uri="{FF2B5EF4-FFF2-40B4-BE49-F238E27FC236}">
                <a16:creationId xmlns:a16="http://schemas.microsoft.com/office/drawing/2014/main" id="{9B1A545F-EE92-8C73-35B3-8598946150B1}"/>
              </a:ext>
            </a:extLst>
          </p:cNvPr>
          <p:cNvSpPr txBox="1"/>
          <p:nvPr/>
        </p:nvSpPr>
        <p:spPr>
          <a:xfrm>
            <a:off x="774700" y="4762500"/>
            <a:ext cx="3683000" cy="1661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1080" b="1">
                <a:solidFill>
                  <a:srgbClr val="4F426D"/>
                </a:solidFill>
                <a:latin typeface="Aptos" panose="020B0004020202020204" pitchFamily="34" charset="0"/>
              </a:rPr>
              <a:t>07 · Ranking de pontuação</a:t>
            </a:r>
          </a:p>
        </p:txBody>
      </p:sp>
      <p:sp>
        <p:nvSpPr>
          <p:cNvPr id="32" name="CaixaDeTexto 31">
            <a:extLst>
              <a:ext uri="{FF2B5EF4-FFF2-40B4-BE49-F238E27FC236}">
                <a16:creationId xmlns:a16="http://schemas.microsoft.com/office/drawing/2014/main" id="{2B9614BC-D045-276B-BE81-98228FDF7BFA}"/>
              </a:ext>
            </a:extLst>
          </p:cNvPr>
          <p:cNvSpPr txBox="1"/>
          <p:nvPr/>
        </p:nvSpPr>
        <p:spPr>
          <a:xfrm>
            <a:off x="4610100" y="4762500"/>
            <a:ext cx="6794500" cy="16004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1040">
                <a:solidFill>
                  <a:srgbClr val="697187"/>
                </a:solidFill>
                <a:latin typeface="Aptos" panose="020B0004020202020204" pitchFamily="34" charset="0"/>
              </a:rPr>
              <a:t>Opcional; não implementado. Sem notas ou exposição de dificuldades.</a:t>
            </a:r>
          </a:p>
        </p:txBody>
      </p:sp>
      <p:sp>
        <p:nvSpPr>
          <p:cNvPr id="33" name="Retângulo 32">
            <a:extLst>
              <a:ext uri="{FF2B5EF4-FFF2-40B4-BE49-F238E27FC236}">
                <a16:creationId xmlns:a16="http://schemas.microsoft.com/office/drawing/2014/main" id="{BCC1D2F3-F140-658E-EA07-F49CA573A457}"/>
              </a:ext>
            </a:extLst>
          </p:cNvPr>
          <p:cNvSpPr/>
          <p:nvPr/>
        </p:nvSpPr>
        <p:spPr>
          <a:xfrm>
            <a:off x="609600" y="5029200"/>
            <a:ext cx="10972800" cy="304800"/>
          </a:xfrm>
          <a:prstGeom prst="rect">
            <a:avLst/>
          </a:prstGeom>
          <a:solidFill>
            <a:srgbClr val="F0EDF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4" name="CaixaDeTexto 33">
            <a:extLst>
              <a:ext uri="{FF2B5EF4-FFF2-40B4-BE49-F238E27FC236}">
                <a16:creationId xmlns:a16="http://schemas.microsoft.com/office/drawing/2014/main" id="{8D6A825E-FD50-5B72-6E14-0AD423D43258}"/>
              </a:ext>
            </a:extLst>
          </p:cNvPr>
          <p:cNvSpPr txBox="1"/>
          <p:nvPr/>
        </p:nvSpPr>
        <p:spPr>
          <a:xfrm>
            <a:off x="774700" y="5080000"/>
            <a:ext cx="3683000" cy="1661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1080" b="1">
                <a:solidFill>
                  <a:srgbClr val="4F426D"/>
                </a:solidFill>
                <a:latin typeface="Aptos" panose="020B0004020202020204" pitchFamily="34" charset="0"/>
              </a:rPr>
              <a:t>08 · Lembretes motivacionais</a:t>
            </a:r>
          </a:p>
        </p:txBody>
      </p:sp>
      <p:sp>
        <p:nvSpPr>
          <p:cNvPr id="35" name="CaixaDeTexto 34">
            <a:extLst>
              <a:ext uri="{FF2B5EF4-FFF2-40B4-BE49-F238E27FC236}">
                <a16:creationId xmlns:a16="http://schemas.microsoft.com/office/drawing/2014/main" id="{1DE329B8-5685-5F6C-389B-0D5BFF4B57C1}"/>
              </a:ext>
            </a:extLst>
          </p:cNvPr>
          <p:cNvSpPr txBox="1"/>
          <p:nvPr/>
        </p:nvSpPr>
        <p:spPr>
          <a:xfrm>
            <a:off x="4610100" y="5080000"/>
            <a:ext cx="6794500" cy="16004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1040">
                <a:solidFill>
                  <a:srgbClr val="697187"/>
                </a:solidFill>
                <a:latin typeface="Aptos" panose="020B0004020202020204" pitchFamily="34" charset="0"/>
              </a:rPr>
              <a:t>Mensagens de apoio presentes; configuração de lembretes é futura.</a:t>
            </a:r>
          </a:p>
        </p:txBody>
      </p:sp>
      <p:sp>
        <p:nvSpPr>
          <p:cNvPr id="36" name="Retângulo 35">
            <a:extLst>
              <a:ext uri="{FF2B5EF4-FFF2-40B4-BE49-F238E27FC236}">
                <a16:creationId xmlns:a16="http://schemas.microsoft.com/office/drawing/2014/main" id="{011797AE-2492-9BE7-936D-65536218A587}"/>
              </a:ext>
            </a:extLst>
          </p:cNvPr>
          <p:cNvSpPr/>
          <p:nvPr/>
        </p:nvSpPr>
        <p:spPr>
          <a:xfrm>
            <a:off x="609600" y="5346700"/>
            <a:ext cx="10972800" cy="3048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7" name="CaixaDeTexto 36">
            <a:extLst>
              <a:ext uri="{FF2B5EF4-FFF2-40B4-BE49-F238E27FC236}">
                <a16:creationId xmlns:a16="http://schemas.microsoft.com/office/drawing/2014/main" id="{07F7BACB-C821-9299-3667-F664407EB6EF}"/>
              </a:ext>
            </a:extLst>
          </p:cNvPr>
          <p:cNvSpPr txBox="1"/>
          <p:nvPr/>
        </p:nvSpPr>
        <p:spPr>
          <a:xfrm>
            <a:off x="774700" y="5397500"/>
            <a:ext cx="3683000" cy="1661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1080" b="1">
                <a:solidFill>
                  <a:srgbClr val="4F426D"/>
                </a:solidFill>
                <a:latin typeface="Aptos" panose="020B0004020202020204" pitchFamily="34" charset="0"/>
              </a:rPr>
              <a:t>09 · Chatbot por texto ou voz</a:t>
            </a:r>
          </a:p>
        </p:txBody>
      </p:sp>
      <p:sp>
        <p:nvSpPr>
          <p:cNvPr id="38" name="CaixaDeTexto 37">
            <a:extLst>
              <a:ext uri="{FF2B5EF4-FFF2-40B4-BE49-F238E27FC236}">
                <a16:creationId xmlns:a16="http://schemas.microsoft.com/office/drawing/2014/main" id="{01AE994E-663D-03F3-59DD-169188CF8C59}"/>
              </a:ext>
            </a:extLst>
          </p:cNvPr>
          <p:cNvSpPr txBox="1"/>
          <p:nvPr/>
        </p:nvSpPr>
        <p:spPr>
          <a:xfrm>
            <a:off x="4610100" y="5397500"/>
            <a:ext cx="6794500" cy="16004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1040">
                <a:solidFill>
                  <a:srgbClr val="697187"/>
                </a:solidFill>
                <a:latin typeface="Aptos" panose="020B0004020202020204" pitchFamily="34" charset="0"/>
              </a:rPr>
              <a:t>Texto por intenções locais. Voz e IA generativa são futuras.</a:t>
            </a:r>
          </a:p>
        </p:txBody>
      </p:sp>
      <p:sp>
        <p:nvSpPr>
          <p:cNvPr id="39" name="Retângulo 38">
            <a:extLst>
              <a:ext uri="{FF2B5EF4-FFF2-40B4-BE49-F238E27FC236}">
                <a16:creationId xmlns:a16="http://schemas.microsoft.com/office/drawing/2014/main" id="{53B4A610-C667-D60F-E883-A4AEA0E5B83A}"/>
              </a:ext>
            </a:extLst>
          </p:cNvPr>
          <p:cNvSpPr/>
          <p:nvPr/>
        </p:nvSpPr>
        <p:spPr>
          <a:xfrm>
            <a:off x="609600" y="5664200"/>
            <a:ext cx="10972800" cy="304800"/>
          </a:xfrm>
          <a:prstGeom prst="rect">
            <a:avLst/>
          </a:prstGeom>
          <a:solidFill>
            <a:srgbClr val="F0EDF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0" name="CaixaDeTexto 39">
            <a:extLst>
              <a:ext uri="{FF2B5EF4-FFF2-40B4-BE49-F238E27FC236}">
                <a16:creationId xmlns:a16="http://schemas.microsoft.com/office/drawing/2014/main" id="{973CFD5A-074A-84DF-FAB7-279A8F06DA52}"/>
              </a:ext>
            </a:extLst>
          </p:cNvPr>
          <p:cNvSpPr txBox="1"/>
          <p:nvPr/>
        </p:nvSpPr>
        <p:spPr>
          <a:xfrm>
            <a:off x="774700" y="5715000"/>
            <a:ext cx="3683000" cy="1661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1080" b="1">
                <a:solidFill>
                  <a:srgbClr val="4F426D"/>
                </a:solidFill>
                <a:latin typeface="Aptos" panose="020B0004020202020204" pitchFamily="34" charset="0"/>
              </a:rPr>
              <a:t>10 · IA para otimizar</a:t>
            </a:r>
          </a:p>
        </p:txBody>
      </p:sp>
      <p:sp>
        <p:nvSpPr>
          <p:cNvPr id="41" name="CaixaDeTexto 40">
            <a:extLst>
              <a:ext uri="{FF2B5EF4-FFF2-40B4-BE49-F238E27FC236}">
                <a16:creationId xmlns:a16="http://schemas.microsoft.com/office/drawing/2014/main" id="{FB3751F2-6291-4277-2AC1-9325603389A1}"/>
              </a:ext>
            </a:extLst>
          </p:cNvPr>
          <p:cNvSpPr txBox="1"/>
          <p:nvPr/>
        </p:nvSpPr>
        <p:spPr>
          <a:xfrm>
            <a:off x="4610100" y="5715000"/>
            <a:ext cx="6794500" cy="16004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1040">
                <a:solidFill>
                  <a:srgbClr val="697187"/>
                </a:solidFill>
                <a:latin typeface="Aptos" panose="020B0004020202020204" pitchFamily="34" charset="0"/>
              </a:rPr>
              <a:t>Sugestões locais de prioridade e planejamento; sem aprendizado de máquina.</a:t>
            </a:r>
          </a:p>
        </p:txBody>
      </p:sp>
      <p:sp>
        <p:nvSpPr>
          <p:cNvPr id="42" name="Retângulo 41">
            <a:extLst>
              <a:ext uri="{FF2B5EF4-FFF2-40B4-BE49-F238E27FC236}">
                <a16:creationId xmlns:a16="http://schemas.microsoft.com/office/drawing/2014/main" id="{ED360CA0-8B7A-2ACE-D98D-CBAD607BBC26}"/>
              </a:ext>
            </a:extLst>
          </p:cNvPr>
          <p:cNvSpPr/>
          <p:nvPr/>
        </p:nvSpPr>
        <p:spPr>
          <a:xfrm>
            <a:off x="609600" y="5981700"/>
            <a:ext cx="10972800" cy="3048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3" name="CaixaDeTexto 42">
            <a:extLst>
              <a:ext uri="{FF2B5EF4-FFF2-40B4-BE49-F238E27FC236}">
                <a16:creationId xmlns:a16="http://schemas.microsoft.com/office/drawing/2014/main" id="{D7F6458D-65EA-1C58-6AB9-B51CB6C95DB8}"/>
              </a:ext>
            </a:extLst>
          </p:cNvPr>
          <p:cNvSpPr txBox="1"/>
          <p:nvPr/>
        </p:nvSpPr>
        <p:spPr>
          <a:xfrm>
            <a:off x="774700" y="6032500"/>
            <a:ext cx="3683000" cy="1661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1080" b="1">
                <a:solidFill>
                  <a:srgbClr val="4F426D"/>
                </a:solidFill>
                <a:latin typeface="Aptos" panose="020B0004020202020204" pitchFamily="34" charset="0"/>
              </a:rPr>
              <a:t>11 · Acessibilidade</a:t>
            </a:r>
          </a:p>
        </p:txBody>
      </p:sp>
      <p:sp>
        <p:nvSpPr>
          <p:cNvPr id="44" name="CaixaDeTexto 43">
            <a:extLst>
              <a:ext uri="{FF2B5EF4-FFF2-40B4-BE49-F238E27FC236}">
                <a16:creationId xmlns:a16="http://schemas.microsoft.com/office/drawing/2014/main" id="{40BB556F-8CA7-BA37-92A4-B57E37752CC5}"/>
              </a:ext>
            </a:extLst>
          </p:cNvPr>
          <p:cNvSpPr txBox="1"/>
          <p:nvPr/>
        </p:nvSpPr>
        <p:spPr>
          <a:xfrm>
            <a:off x="4610100" y="6032500"/>
            <a:ext cx="6794500" cy="16004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1040">
                <a:solidFill>
                  <a:srgbClr val="697187"/>
                </a:solidFill>
                <a:latin typeface="Aptos" panose="020B0004020202020204" pitchFamily="34" charset="0"/>
              </a:rPr>
              <a:t>Teclado, foco, texto, contraste e movimento reduzido implementados.</a:t>
            </a:r>
          </a:p>
        </p:txBody>
      </p:sp>
    </p:spTree>
    <p:extLst>
      <p:ext uri="{BB962C8B-B14F-4D97-AF65-F5344CB8AC3E}">
        <p14:creationId xmlns:p14="http://schemas.microsoft.com/office/powerpoint/2010/main" val="4118995183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427BFA9B-7491-2377-79DA-67E6489154F3}"/>
              </a:ext>
            </a:extLst>
          </p:cNvPr>
          <p:cNvSpPr/>
          <p:nvPr/>
        </p:nvSpPr>
        <p:spPr>
          <a:xfrm>
            <a:off x="609600" y="406400"/>
            <a:ext cx="63500" cy="254000"/>
          </a:xfrm>
          <a:prstGeom prst="rect">
            <a:avLst/>
          </a:prstGeom>
          <a:solidFill>
            <a:srgbClr val="7660D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B947147B-3AEF-D633-589B-CD0A4C0C4CA6}"/>
              </a:ext>
            </a:extLst>
          </p:cNvPr>
          <p:cNvSpPr txBox="1"/>
          <p:nvPr/>
        </p:nvSpPr>
        <p:spPr>
          <a:xfrm>
            <a:off x="812800" y="431800"/>
            <a:ext cx="102235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1000" b="1">
                <a:solidFill>
                  <a:srgbClr val="7660D3"/>
                </a:solidFill>
                <a:latin typeface="Aptos" panose="020B0004020202020204" pitchFamily="34" charset="0"/>
              </a:rPr>
              <a:t>APÊNDICE · 22 IDEIAS · PARTE 2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FB5AA0E5-1123-2741-C20F-71744D3A818F}"/>
              </a:ext>
            </a:extLst>
          </p:cNvPr>
          <p:cNvSpPr txBox="1"/>
          <p:nvPr/>
        </p:nvSpPr>
        <p:spPr>
          <a:xfrm>
            <a:off x="609600" y="889000"/>
            <a:ext cx="10985500" cy="44627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2900" b="1">
                <a:solidFill>
                  <a:srgbClr val="273047"/>
                </a:solidFill>
                <a:latin typeface="Aptos" panose="020B0004020202020204" pitchFamily="34" charset="0"/>
              </a:rPr>
              <a:t>Rastreabilidade das ideias do grupo · 12 a 22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62CC768E-81CA-8A89-C9E2-BE6D444CF24D}"/>
              </a:ext>
            </a:extLst>
          </p:cNvPr>
          <p:cNvSpPr txBox="1"/>
          <p:nvPr/>
        </p:nvSpPr>
        <p:spPr>
          <a:xfrm>
            <a:off x="609600" y="1816100"/>
            <a:ext cx="10998200" cy="2000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1300">
                <a:solidFill>
                  <a:srgbClr val="7B7F93"/>
                </a:solidFill>
                <a:latin typeface="Aptos" panose="020B0004020202020204" pitchFamily="34" charset="0"/>
              </a:rPr>
              <a:t>O protótipo distingue conteúdo cadastrado e integrações futuras.</a:t>
            </a:r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FE8BB3C1-C8AA-61AC-FBAB-BF55A942530E}"/>
              </a:ext>
            </a:extLst>
          </p:cNvPr>
          <p:cNvSpPr/>
          <p:nvPr/>
        </p:nvSpPr>
        <p:spPr>
          <a:xfrm>
            <a:off x="609600" y="6426200"/>
            <a:ext cx="10972800" cy="12700"/>
          </a:xfrm>
          <a:prstGeom prst="rect">
            <a:avLst/>
          </a:prstGeom>
          <a:solidFill>
            <a:srgbClr val="E2DFE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86666A2B-C96A-DACB-7059-9C3023C49EF5}"/>
              </a:ext>
            </a:extLst>
          </p:cNvPr>
          <p:cNvSpPr txBox="1"/>
          <p:nvPr/>
        </p:nvSpPr>
        <p:spPr>
          <a:xfrm>
            <a:off x="609600" y="6553200"/>
            <a:ext cx="9652000" cy="12311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800">
                <a:solidFill>
                  <a:srgbClr val="9690A5"/>
                </a:solidFill>
                <a:latin typeface="Aptos" panose="020B0004020202020204" pitchFamily="34" charset="0"/>
              </a:rPr>
              <a:t>Fonte: Etapa 2 · Lista original de ideias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99F3010D-BBB5-529F-5922-CDAAAB0B30EF}"/>
              </a:ext>
            </a:extLst>
          </p:cNvPr>
          <p:cNvSpPr txBox="1"/>
          <p:nvPr/>
        </p:nvSpPr>
        <p:spPr>
          <a:xfrm>
            <a:off x="10896600" y="6515100"/>
            <a:ext cx="7493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1000" b="1">
                <a:solidFill>
                  <a:srgbClr val="7660D3"/>
                </a:solidFill>
                <a:latin typeface="Aptos" panose="020B0004020202020204" pitchFamily="34" charset="0"/>
              </a:rPr>
              <a:t>39 / 40</a:t>
            </a:r>
          </a:p>
        </p:txBody>
      </p:sp>
      <p:sp>
        <p:nvSpPr>
          <p:cNvPr id="9" name="Retângulo: Cantos Arredondados 8">
            <a:extLst>
              <a:ext uri="{FF2B5EF4-FFF2-40B4-BE49-F238E27FC236}">
                <a16:creationId xmlns:a16="http://schemas.microsoft.com/office/drawing/2014/main" id="{FA4A250E-8EC1-C495-31B7-52F0C8CE102E}"/>
              </a:ext>
            </a:extLst>
          </p:cNvPr>
          <p:cNvSpPr/>
          <p:nvPr/>
        </p:nvSpPr>
        <p:spPr>
          <a:xfrm>
            <a:off x="609600" y="2425700"/>
            <a:ext cx="10972800" cy="304800"/>
          </a:xfrm>
          <a:prstGeom prst="roundRect">
            <a:avLst>
              <a:gd name="adj" fmla="val 6000"/>
            </a:avLst>
          </a:prstGeom>
          <a:solidFill>
            <a:srgbClr val="7660D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A92E448E-87E4-994D-CA69-46123AE97699}"/>
              </a:ext>
            </a:extLst>
          </p:cNvPr>
          <p:cNvSpPr txBox="1"/>
          <p:nvPr/>
        </p:nvSpPr>
        <p:spPr>
          <a:xfrm>
            <a:off x="774700" y="2476500"/>
            <a:ext cx="35687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1000" b="1">
                <a:solidFill>
                  <a:srgbClr val="FFFFFF"/>
                </a:solidFill>
                <a:latin typeface="Aptos" panose="020B0004020202020204" pitchFamily="34" charset="0"/>
              </a:rPr>
              <a:t>IDEIA DO DOCUMENTO</a:t>
            </a:r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F6193D82-5078-08C1-F0D7-E98218D5B949}"/>
              </a:ext>
            </a:extLst>
          </p:cNvPr>
          <p:cNvSpPr txBox="1"/>
          <p:nvPr/>
        </p:nvSpPr>
        <p:spPr>
          <a:xfrm>
            <a:off x="4610100" y="2476500"/>
            <a:ext cx="67945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1000" b="1">
                <a:solidFill>
                  <a:srgbClr val="FFFFFF"/>
                </a:solidFill>
                <a:latin typeface="Aptos" panose="020B0004020202020204" pitchFamily="34" charset="0"/>
              </a:rPr>
              <a:t>COBERTURA NO PROTÓTIPO / EVOLUÇÃO</a:t>
            </a:r>
          </a:p>
        </p:txBody>
      </p:sp>
      <p:sp>
        <p:nvSpPr>
          <p:cNvPr id="12" name="Retângulo 11">
            <a:extLst>
              <a:ext uri="{FF2B5EF4-FFF2-40B4-BE49-F238E27FC236}">
                <a16:creationId xmlns:a16="http://schemas.microsoft.com/office/drawing/2014/main" id="{E067EF0B-B35E-E8F7-5418-1FC527F4608D}"/>
              </a:ext>
            </a:extLst>
          </p:cNvPr>
          <p:cNvSpPr/>
          <p:nvPr/>
        </p:nvSpPr>
        <p:spPr>
          <a:xfrm>
            <a:off x="609600" y="2806700"/>
            <a:ext cx="10972800" cy="3048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58A971E6-3D6E-A6A8-D097-B1618FF80942}"/>
              </a:ext>
            </a:extLst>
          </p:cNvPr>
          <p:cNvSpPr txBox="1"/>
          <p:nvPr/>
        </p:nvSpPr>
        <p:spPr>
          <a:xfrm>
            <a:off x="774700" y="2857500"/>
            <a:ext cx="3683000" cy="1661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1080" b="1">
                <a:solidFill>
                  <a:srgbClr val="4F426D"/>
                </a:solidFill>
                <a:latin typeface="Aptos" panose="020B0004020202020204" pitchFamily="34" charset="0"/>
              </a:rPr>
              <a:t>12 · Chama de evolução</a:t>
            </a:r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A1696666-0DF4-5B99-C5CD-3F0E4751673E}"/>
              </a:ext>
            </a:extLst>
          </p:cNvPr>
          <p:cNvSpPr txBox="1"/>
          <p:nvPr/>
        </p:nvSpPr>
        <p:spPr>
          <a:xfrm>
            <a:off x="4610100" y="2857500"/>
            <a:ext cx="6794500" cy="16004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1040">
                <a:solidFill>
                  <a:srgbClr val="697187"/>
                </a:solidFill>
                <a:latin typeface="Aptos" panose="020B0004020202020204" pitchFamily="34" charset="0"/>
              </a:rPr>
              <a:t>Indicador de nível e progresso, sem punição por ausência.</a:t>
            </a:r>
          </a:p>
        </p:txBody>
      </p:sp>
      <p:sp>
        <p:nvSpPr>
          <p:cNvPr id="15" name="Retângulo 14">
            <a:extLst>
              <a:ext uri="{FF2B5EF4-FFF2-40B4-BE49-F238E27FC236}">
                <a16:creationId xmlns:a16="http://schemas.microsoft.com/office/drawing/2014/main" id="{2C64531A-14C9-C73A-2105-C4A049F4C6FB}"/>
              </a:ext>
            </a:extLst>
          </p:cNvPr>
          <p:cNvSpPr/>
          <p:nvPr/>
        </p:nvSpPr>
        <p:spPr>
          <a:xfrm>
            <a:off x="609600" y="3124200"/>
            <a:ext cx="10972800" cy="304800"/>
          </a:xfrm>
          <a:prstGeom prst="rect">
            <a:avLst/>
          </a:prstGeom>
          <a:solidFill>
            <a:srgbClr val="F0EDF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6" name="CaixaDeTexto 15">
            <a:extLst>
              <a:ext uri="{FF2B5EF4-FFF2-40B4-BE49-F238E27FC236}">
                <a16:creationId xmlns:a16="http://schemas.microsoft.com/office/drawing/2014/main" id="{D2B34550-9032-DBCA-67B1-10941387DCE5}"/>
              </a:ext>
            </a:extLst>
          </p:cNvPr>
          <p:cNvSpPr txBox="1"/>
          <p:nvPr/>
        </p:nvSpPr>
        <p:spPr>
          <a:xfrm>
            <a:off x="774700" y="3175000"/>
            <a:ext cx="3683000" cy="1661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1080" b="1">
                <a:solidFill>
                  <a:srgbClr val="4F426D"/>
                </a:solidFill>
                <a:latin typeface="Aptos" panose="020B0004020202020204" pitchFamily="34" charset="0"/>
              </a:rPr>
              <a:t>13 · Kit de estudo</a:t>
            </a:r>
          </a:p>
        </p:txBody>
      </p:sp>
      <p:sp>
        <p:nvSpPr>
          <p:cNvPr id="17" name="CaixaDeTexto 16">
            <a:extLst>
              <a:ext uri="{FF2B5EF4-FFF2-40B4-BE49-F238E27FC236}">
                <a16:creationId xmlns:a16="http://schemas.microsoft.com/office/drawing/2014/main" id="{BD0C8432-2D68-3690-0A5B-C38731183416}"/>
              </a:ext>
            </a:extLst>
          </p:cNvPr>
          <p:cNvSpPr txBox="1"/>
          <p:nvPr/>
        </p:nvSpPr>
        <p:spPr>
          <a:xfrm>
            <a:off x="4610100" y="3175000"/>
            <a:ext cx="6794500" cy="16004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1040">
                <a:solidFill>
                  <a:srgbClr val="697187"/>
                </a:solidFill>
                <a:latin typeface="Aptos" panose="020B0004020202020204" pitchFamily="34" charset="0"/>
              </a:rPr>
              <a:t>Notas, checklist e quiz; biblioteca ampla de materiais é evolução futura.</a:t>
            </a:r>
          </a:p>
        </p:txBody>
      </p:sp>
      <p:sp>
        <p:nvSpPr>
          <p:cNvPr id="18" name="Retângulo 17">
            <a:extLst>
              <a:ext uri="{FF2B5EF4-FFF2-40B4-BE49-F238E27FC236}">
                <a16:creationId xmlns:a16="http://schemas.microsoft.com/office/drawing/2014/main" id="{61332C10-997F-0DEB-2E4D-37A1B61C0DBB}"/>
              </a:ext>
            </a:extLst>
          </p:cNvPr>
          <p:cNvSpPr/>
          <p:nvPr/>
        </p:nvSpPr>
        <p:spPr>
          <a:xfrm>
            <a:off x="609600" y="3441700"/>
            <a:ext cx="10972800" cy="3048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9" name="CaixaDeTexto 18">
            <a:extLst>
              <a:ext uri="{FF2B5EF4-FFF2-40B4-BE49-F238E27FC236}">
                <a16:creationId xmlns:a16="http://schemas.microsoft.com/office/drawing/2014/main" id="{DDC65342-B6EF-DE58-3713-26AEAE0F967B}"/>
              </a:ext>
            </a:extLst>
          </p:cNvPr>
          <p:cNvSpPr txBox="1"/>
          <p:nvPr/>
        </p:nvSpPr>
        <p:spPr>
          <a:xfrm>
            <a:off x="774700" y="3492500"/>
            <a:ext cx="3683000" cy="1661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1080" b="1">
                <a:solidFill>
                  <a:srgbClr val="4F426D"/>
                </a:solidFill>
                <a:latin typeface="Aptos" panose="020B0004020202020204" pitchFamily="34" charset="0"/>
              </a:rPr>
              <a:t>14 · Quiz e multiplayer</a:t>
            </a:r>
          </a:p>
        </p:txBody>
      </p:sp>
      <p:sp>
        <p:nvSpPr>
          <p:cNvPr id="20" name="CaixaDeTexto 19">
            <a:extLst>
              <a:ext uri="{FF2B5EF4-FFF2-40B4-BE49-F238E27FC236}">
                <a16:creationId xmlns:a16="http://schemas.microsoft.com/office/drawing/2014/main" id="{B34C6A31-8D01-F262-37F9-F2D9D56AED74}"/>
              </a:ext>
            </a:extLst>
          </p:cNvPr>
          <p:cNvSpPr txBox="1"/>
          <p:nvPr/>
        </p:nvSpPr>
        <p:spPr>
          <a:xfrm>
            <a:off x="4610100" y="3492500"/>
            <a:ext cx="6794500" cy="16004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1040">
                <a:solidFill>
                  <a:srgbClr val="697187"/>
                </a:solidFill>
                <a:latin typeface="Aptos" panose="020B0004020202020204" pitchFamily="34" charset="0"/>
              </a:rPr>
              <a:t>Quiz local, explicações e histórico. Multiplayer não implementado.</a:t>
            </a:r>
          </a:p>
        </p:txBody>
      </p:sp>
      <p:sp>
        <p:nvSpPr>
          <p:cNvPr id="21" name="Retângulo 20">
            <a:extLst>
              <a:ext uri="{FF2B5EF4-FFF2-40B4-BE49-F238E27FC236}">
                <a16:creationId xmlns:a16="http://schemas.microsoft.com/office/drawing/2014/main" id="{C87AB9DD-3BA1-C873-4EC5-B9241A2C9DB8}"/>
              </a:ext>
            </a:extLst>
          </p:cNvPr>
          <p:cNvSpPr/>
          <p:nvPr/>
        </p:nvSpPr>
        <p:spPr>
          <a:xfrm>
            <a:off x="609600" y="3759200"/>
            <a:ext cx="10972800" cy="304800"/>
          </a:xfrm>
          <a:prstGeom prst="rect">
            <a:avLst/>
          </a:prstGeom>
          <a:solidFill>
            <a:srgbClr val="F0EDF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2" name="CaixaDeTexto 21">
            <a:extLst>
              <a:ext uri="{FF2B5EF4-FFF2-40B4-BE49-F238E27FC236}">
                <a16:creationId xmlns:a16="http://schemas.microsoft.com/office/drawing/2014/main" id="{56F56772-F757-920C-FDC1-F421F9AD0891}"/>
              </a:ext>
            </a:extLst>
          </p:cNvPr>
          <p:cNvSpPr txBox="1"/>
          <p:nvPr/>
        </p:nvSpPr>
        <p:spPr>
          <a:xfrm>
            <a:off x="774700" y="3810000"/>
            <a:ext cx="3683000" cy="1661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1080" b="1">
                <a:solidFill>
                  <a:srgbClr val="4F426D"/>
                </a:solidFill>
                <a:latin typeface="Aptos" panose="020B0004020202020204" pitchFamily="34" charset="0"/>
              </a:rPr>
              <a:t>15 · Bloco de notas</a:t>
            </a:r>
          </a:p>
        </p:txBody>
      </p:sp>
      <p:sp>
        <p:nvSpPr>
          <p:cNvPr id="23" name="CaixaDeTexto 22">
            <a:extLst>
              <a:ext uri="{FF2B5EF4-FFF2-40B4-BE49-F238E27FC236}">
                <a16:creationId xmlns:a16="http://schemas.microsoft.com/office/drawing/2014/main" id="{49CD52F7-7015-B91B-B8DE-C2B2060DDA18}"/>
              </a:ext>
            </a:extLst>
          </p:cNvPr>
          <p:cNvSpPr txBox="1"/>
          <p:nvPr/>
        </p:nvSpPr>
        <p:spPr>
          <a:xfrm>
            <a:off x="4610100" y="3810000"/>
            <a:ext cx="6794500" cy="16004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1040">
                <a:solidFill>
                  <a:srgbClr val="697187"/>
                </a:solidFill>
                <a:latin typeface="Aptos" panose="020B0004020202020204" pitchFamily="34" charset="0"/>
              </a:rPr>
              <a:t>Criação, edição e exclusão de notas associadas a disciplinas.</a:t>
            </a:r>
          </a:p>
        </p:txBody>
      </p:sp>
      <p:sp>
        <p:nvSpPr>
          <p:cNvPr id="24" name="Retângulo 23">
            <a:extLst>
              <a:ext uri="{FF2B5EF4-FFF2-40B4-BE49-F238E27FC236}">
                <a16:creationId xmlns:a16="http://schemas.microsoft.com/office/drawing/2014/main" id="{BEAA050A-EF2C-3444-9DC1-E4BD7FAC6CEF}"/>
              </a:ext>
            </a:extLst>
          </p:cNvPr>
          <p:cNvSpPr/>
          <p:nvPr/>
        </p:nvSpPr>
        <p:spPr>
          <a:xfrm>
            <a:off x="609600" y="4076700"/>
            <a:ext cx="10972800" cy="3048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5" name="CaixaDeTexto 24">
            <a:extLst>
              <a:ext uri="{FF2B5EF4-FFF2-40B4-BE49-F238E27FC236}">
                <a16:creationId xmlns:a16="http://schemas.microsoft.com/office/drawing/2014/main" id="{83F8776B-397A-C89E-14DE-6A4E74124FC4}"/>
              </a:ext>
            </a:extLst>
          </p:cNvPr>
          <p:cNvSpPr txBox="1"/>
          <p:nvPr/>
        </p:nvSpPr>
        <p:spPr>
          <a:xfrm>
            <a:off x="774700" y="4127500"/>
            <a:ext cx="3683000" cy="1661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1080" b="1">
                <a:solidFill>
                  <a:srgbClr val="4F426D"/>
                </a:solidFill>
                <a:latin typeface="Aptos" panose="020B0004020202020204" pitchFamily="34" charset="0"/>
              </a:rPr>
              <a:t>16 · Questões geradas por IA</a:t>
            </a:r>
          </a:p>
        </p:txBody>
      </p:sp>
      <p:sp>
        <p:nvSpPr>
          <p:cNvPr id="26" name="CaixaDeTexto 25">
            <a:extLst>
              <a:ext uri="{FF2B5EF4-FFF2-40B4-BE49-F238E27FC236}">
                <a16:creationId xmlns:a16="http://schemas.microsoft.com/office/drawing/2014/main" id="{E5FF2502-4F8F-433B-14B8-615B4B493FE2}"/>
              </a:ext>
            </a:extLst>
          </p:cNvPr>
          <p:cNvSpPr txBox="1"/>
          <p:nvPr/>
        </p:nvSpPr>
        <p:spPr>
          <a:xfrm>
            <a:off x="4610100" y="4127500"/>
            <a:ext cx="6794500" cy="16004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1040">
                <a:solidFill>
                  <a:srgbClr val="697187"/>
                </a:solidFill>
                <a:latin typeface="Aptos" panose="020B0004020202020204" pitchFamily="34" charset="0"/>
              </a:rPr>
              <a:t>Não integrado. Perguntas atuais vêm de uma base demonstrativa local.</a:t>
            </a:r>
          </a:p>
        </p:txBody>
      </p:sp>
      <p:sp>
        <p:nvSpPr>
          <p:cNvPr id="27" name="Retângulo 26">
            <a:extLst>
              <a:ext uri="{FF2B5EF4-FFF2-40B4-BE49-F238E27FC236}">
                <a16:creationId xmlns:a16="http://schemas.microsoft.com/office/drawing/2014/main" id="{82C4A3CE-6929-D2CC-D712-0799ED9D07ED}"/>
              </a:ext>
            </a:extLst>
          </p:cNvPr>
          <p:cNvSpPr/>
          <p:nvPr/>
        </p:nvSpPr>
        <p:spPr>
          <a:xfrm>
            <a:off x="609600" y="4394200"/>
            <a:ext cx="10972800" cy="304800"/>
          </a:xfrm>
          <a:prstGeom prst="rect">
            <a:avLst/>
          </a:prstGeom>
          <a:solidFill>
            <a:srgbClr val="F0EDF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8" name="CaixaDeTexto 27">
            <a:extLst>
              <a:ext uri="{FF2B5EF4-FFF2-40B4-BE49-F238E27FC236}">
                <a16:creationId xmlns:a16="http://schemas.microsoft.com/office/drawing/2014/main" id="{DAFCFBFB-18A3-C3E7-A5A7-D3D79071C25A}"/>
              </a:ext>
            </a:extLst>
          </p:cNvPr>
          <p:cNvSpPr txBox="1"/>
          <p:nvPr/>
        </p:nvSpPr>
        <p:spPr>
          <a:xfrm>
            <a:off x="774700" y="4445000"/>
            <a:ext cx="3683000" cy="1661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1080" b="1">
                <a:solidFill>
                  <a:srgbClr val="4F426D"/>
                </a:solidFill>
                <a:latin typeface="Aptos" panose="020B0004020202020204" pitchFamily="34" charset="0"/>
              </a:rPr>
              <a:t>17 · Checklist de tarefas</a:t>
            </a:r>
          </a:p>
        </p:txBody>
      </p:sp>
      <p:sp>
        <p:nvSpPr>
          <p:cNvPr id="29" name="CaixaDeTexto 28">
            <a:extLst>
              <a:ext uri="{FF2B5EF4-FFF2-40B4-BE49-F238E27FC236}">
                <a16:creationId xmlns:a16="http://schemas.microsoft.com/office/drawing/2014/main" id="{69934F2F-2AE2-6186-77A4-6FAEED43642C}"/>
              </a:ext>
            </a:extLst>
          </p:cNvPr>
          <p:cNvSpPr txBox="1"/>
          <p:nvPr/>
        </p:nvSpPr>
        <p:spPr>
          <a:xfrm>
            <a:off x="4610100" y="4445000"/>
            <a:ext cx="6794500" cy="16004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1040">
                <a:solidFill>
                  <a:srgbClr val="697187"/>
                </a:solidFill>
                <a:latin typeface="Aptos" panose="020B0004020202020204" pitchFamily="34" charset="0"/>
              </a:rPr>
              <a:t>Etapas com conclusão, tempo e reordenação; checklist pessoal adicional.</a:t>
            </a:r>
          </a:p>
        </p:txBody>
      </p:sp>
      <p:sp>
        <p:nvSpPr>
          <p:cNvPr id="30" name="Retângulo 29">
            <a:extLst>
              <a:ext uri="{FF2B5EF4-FFF2-40B4-BE49-F238E27FC236}">
                <a16:creationId xmlns:a16="http://schemas.microsoft.com/office/drawing/2014/main" id="{A8B62959-5992-280A-AC0E-8B501414687E}"/>
              </a:ext>
            </a:extLst>
          </p:cNvPr>
          <p:cNvSpPr/>
          <p:nvPr/>
        </p:nvSpPr>
        <p:spPr>
          <a:xfrm>
            <a:off x="609600" y="4711700"/>
            <a:ext cx="10972800" cy="3048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1" name="CaixaDeTexto 30">
            <a:extLst>
              <a:ext uri="{FF2B5EF4-FFF2-40B4-BE49-F238E27FC236}">
                <a16:creationId xmlns:a16="http://schemas.microsoft.com/office/drawing/2014/main" id="{C6C530A4-F0F9-08C3-67C7-34697EAA9591}"/>
              </a:ext>
            </a:extLst>
          </p:cNvPr>
          <p:cNvSpPr txBox="1"/>
          <p:nvPr/>
        </p:nvSpPr>
        <p:spPr>
          <a:xfrm>
            <a:off x="774700" y="4762500"/>
            <a:ext cx="3683000" cy="1661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1080" b="1">
                <a:solidFill>
                  <a:srgbClr val="4F426D"/>
                </a:solidFill>
                <a:latin typeface="Aptos" panose="020B0004020202020204" pitchFamily="34" charset="0"/>
              </a:rPr>
              <a:t>18 · Lembretes de tarefas</a:t>
            </a:r>
          </a:p>
        </p:txBody>
      </p:sp>
      <p:sp>
        <p:nvSpPr>
          <p:cNvPr id="32" name="CaixaDeTexto 31">
            <a:extLst>
              <a:ext uri="{FF2B5EF4-FFF2-40B4-BE49-F238E27FC236}">
                <a16:creationId xmlns:a16="http://schemas.microsoft.com/office/drawing/2014/main" id="{159CEEDC-B595-403C-6C71-73108B5200B3}"/>
              </a:ext>
            </a:extLst>
          </p:cNvPr>
          <p:cNvSpPr txBox="1"/>
          <p:nvPr/>
        </p:nvSpPr>
        <p:spPr>
          <a:xfrm>
            <a:off x="4610100" y="4762500"/>
            <a:ext cx="6794500" cy="16004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1040">
                <a:solidFill>
                  <a:srgbClr val="697187"/>
                </a:solidFill>
                <a:latin typeface="Aptos" panose="020B0004020202020204" pitchFamily="34" charset="0"/>
              </a:rPr>
              <a:t>Prioridade interna visível; notificações automáticas externas futuras.</a:t>
            </a:r>
          </a:p>
        </p:txBody>
      </p:sp>
      <p:sp>
        <p:nvSpPr>
          <p:cNvPr id="33" name="Retângulo 32">
            <a:extLst>
              <a:ext uri="{FF2B5EF4-FFF2-40B4-BE49-F238E27FC236}">
                <a16:creationId xmlns:a16="http://schemas.microsoft.com/office/drawing/2014/main" id="{761B8DC3-069C-1DAA-9B1F-5D125F2C2363}"/>
              </a:ext>
            </a:extLst>
          </p:cNvPr>
          <p:cNvSpPr/>
          <p:nvPr/>
        </p:nvSpPr>
        <p:spPr>
          <a:xfrm>
            <a:off x="609600" y="5029200"/>
            <a:ext cx="10972800" cy="304800"/>
          </a:xfrm>
          <a:prstGeom prst="rect">
            <a:avLst/>
          </a:prstGeom>
          <a:solidFill>
            <a:srgbClr val="F0EDF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4" name="CaixaDeTexto 33">
            <a:extLst>
              <a:ext uri="{FF2B5EF4-FFF2-40B4-BE49-F238E27FC236}">
                <a16:creationId xmlns:a16="http://schemas.microsoft.com/office/drawing/2014/main" id="{B603BA1F-8B7B-C836-AF59-7A693C5F509C}"/>
              </a:ext>
            </a:extLst>
          </p:cNvPr>
          <p:cNvSpPr txBox="1"/>
          <p:nvPr/>
        </p:nvSpPr>
        <p:spPr>
          <a:xfrm>
            <a:off x="774700" y="5080000"/>
            <a:ext cx="3683000" cy="1661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1080" b="1">
                <a:solidFill>
                  <a:srgbClr val="4F426D"/>
                </a:solidFill>
                <a:latin typeface="Aptos" panose="020B0004020202020204" pitchFamily="34" charset="0"/>
              </a:rPr>
              <a:t>19 · Comunidade de alunos</a:t>
            </a:r>
          </a:p>
        </p:txBody>
      </p:sp>
      <p:sp>
        <p:nvSpPr>
          <p:cNvPr id="35" name="CaixaDeTexto 34">
            <a:extLst>
              <a:ext uri="{FF2B5EF4-FFF2-40B4-BE49-F238E27FC236}">
                <a16:creationId xmlns:a16="http://schemas.microsoft.com/office/drawing/2014/main" id="{A446CF7A-61F8-5BD9-FA40-B6740D481D0C}"/>
              </a:ext>
            </a:extLst>
          </p:cNvPr>
          <p:cNvSpPr txBox="1"/>
          <p:nvPr/>
        </p:nvSpPr>
        <p:spPr>
          <a:xfrm>
            <a:off x="4610100" y="5080000"/>
            <a:ext cx="6794500" cy="16004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1040">
                <a:solidFill>
                  <a:srgbClr val="697187"/>
                </a:solidFill>
                <a:latin typeface="Aptos" panose="020B0004020202020204" pitchFamily="34" charset="0"/>
              </a:rPr>
              <a:t>Posts e respostas persistidos no mesmo navegador; moderação remota futura.</a:t>
            </a:r>
          </a:p>
        </p:txBody>
      </p:sp>
      <p:sp>
        <p:nvSpPr>
          <p:cNvPr id="36" name="Retângulo 35">
            <a:extLst>
              <a:ext uri="{FF2B5EF4-FFF2-40B4-BE49-F238E27FC236}">
                <a16:creationId xmlns:a16="http://schemas.microsoft.com/office/drawing/2014/main" id="{4C24144D-9D63-FBD2-928C-2CFD5387061C}"/>
              </a:ext>
            </a:extLst>
          </p:cNvPr>
          <p:cNvSpPr/>
          <p:nvPr/>
        </p:nvSpPr>
        <p:spPr>
          <a:xfrm>
            <a:off x="609600" y="5346700"/>
            <a:ext cx="10972800" cy="3048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7" name="CaixaDeTexto 36">
            <a:extLst>
              <a:ext uri="{FF2B5EF4-FFF2-40B4-BE49-F238E27FC236}">
                <a16:creationId xmlns:a16="http://schemas.microsoft.com/office/drawing/2014/main" id="{578739E6-DD0B-AE13-1C47-2B5084F50678}"/>
              </a:ext>
            </a:extLst>
          </p:cNvPr>
          <p:cNvSpPr txBox="1"/>
          <p:nvPr/>
        </p:nvSpPr>
        <p:spPr>
          <a:xfrm>
            <a:off x="774700" y="5397500"/>
            <a:ext cx="3683000" cy="1661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1080" b="1">
                <a:solidFill>
                  <a:srgbClr val="4F426D"/>
                </a:solidFill>
                <a:latin typeface="Aptos" panose="020B0004020202020204" pitchFamily="34" charset="0"/>
              </a:rPr>
              <a:t>20 · Logins e perfis</a:t>
            </a:r>
          </a:p>
        </p:txBody>
      </p:sp>
      <p:sp>
        <p:nvSpPr>
          <p:cNvPr id="38" name="CaixaDeTexto 37">
            <a:extLst>
              <a:ext uri="{FF2B5EF4-FFF2-40B4-BE49-F238E27FC236}">
                <a16:creationId xmlns:a16="http://schemas.microsoft.com/office/drawing/2014/main" id="{EE7A826A-5039-0F61-84FE-5031F82F679D}"/>
              </a:ext>
            </a:extLst>
          </p:cNvPr>
          <p:cNvSpPr txBox="1"/>
          <p:nvPr/>
        </p:nvSpPr>
        <p:spPr>
          <a:xfrm>
            <a:off x="4610100" y="5397500"/>
            <a:ext cx="6794500" cy="16004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1040">
                <a:solidFill>
                  <a:srgbClr val="697187"/>
                </a:solidFill>
                <a:latin typeface="Aptos" panose="020B0004020202020204" pitchFamily="34" charset="0"/>
              </a:rPr>
              <a:t>Perfis demonstrativos separados na navegação; autenticação segura futura.</a:t>
            </a:r>
          </a:p>
        </p:txBody>
      </p:sp>
      <p:sp>
        <p:nvSpPr>
          <p:cNvPr id="39" name="Retângulo 38">
            <a:extLst>
              <a:ext uri="{FF2B5EF4-FFF2-40B4-BE49-F238E27FC236}">
                <a16:creationId xmlns:a16="http://schemas.microsoft.com/office/drawing/2014/main" id="{7338FBB9-0480-0295-A19F-794ED9C60109}"/>
              </a:ext>
            </a:extLst>
          </p:cNvPr>
          <p:cNvSpPr/>
          <p:nvPr/>
        </p:nvSpPr>
        <p:spPr>
          <a:xfrm>
            <a:off x="609600" y="5664200"/>
            <a:ext cx="10972800" cy="304800"/>
          </a:xfrm>
          <a:prstGeom prst="rect">
            <a:avLst/>
          </a:prstGeom>
          <a:solidFill>
            <a:srgbClr val="F0EDF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0" name="CaixaDeTexto 39">
            <a:extLst>
              <a:ext uri="{FF2B5EF4-FFF2-40B4-BE49-F238E27FC236}">
                <a16:creationId xmlns:a16="http://schemas.microsoft.com/office/drawing/2014/main" id="{8813EBF5-C0F6-DC26-96B6-16F2F69708F7}"/>
              </a:ext>
            </a:extLst>
          </p:cNvPr>
          <p:cNvSpPr txBox="1"/>
          <p:nvPr/>
        </p:nvSpPr>
        <p:spPr>
          <a:xfrm>
            <a:off x="774700" y="5715000"/>
            <a:ext cx="3683000" cy="1661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1080" b="1">
                <a:solidFill>
                  <a:srgbClr val="4F426D"/>
                </a:solidFill>
                <a:latin typeface="Aptos" panose="020B0004020202020204" pitchFamily="34" charset="0"/>
              </a:rPr>
              <a:t>21 · Filtros inteligentes</a:t>
            </a:r>
          </a:p>
        </p:txBody>
      </p:sp>
      <p:sp>
        <p:nvSpPr>
          <p:cNvPr id="41" name="CaixaDeTexto 40">
            <a:extLst>
              <a:ext uri="{FF2B5EF4-FFF2-40B4-BE49-F238E27FC236}">
                <a16:creationId xmlns:a16="http://schemas.microsoft.com/office/drawing/2014/main" id="{29A97700-F746-0E60-E30C-2F2FB34DB7BF}"/>
              </a:ext>
            </a:extLst>
          </p:cNvPr>
          <p:cNvSpPr txBox="1"/>
          <p:nvPr/>
        </p:nvSpPr>
        <p:spPr>
          <a:xfrm>
            <a:off x="4610100" y="5715000"/>
            <a:ext cx="6794500" cy="16004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1040">
                <a:solidFill>
                  <a:srgbClr val="697187"/>
                </a:solidFill>
                <a:latin typeface="Aptos" panose="020B0004020202020204" pitchFamily="34" charset="0"/>
              </a:rPr>
              <a:t>Disciplina, prioridade, status e prazo por regras locais, sem IA externa.</a:t>
            </a:r>
          </a:p>
        </p:txBody>
      </p:sp>
      <p:sp>
        <p:nvSpPr>
          <p:cNvPr id="42" name="Retângulo 41">
            <a:extLst>
              <a:ext uri="{FF2B5EF4-FFF2-40B4-BE49-F238E27FC236}">
                <a16:creationId xmlns:a16="http://schemas.microsoft.com/office/drawing/2014/main" id="{8B892764-0FCA-D067-D8B0-F3F13B0DAC77}"/>
              </a:ext>
            </a:extLst>
          </p:cNvPr>
          <p:cNvSpPr/>
          <p:nvPr/>
        </p:nvSpPr>
        <p:spPr>
          <a:xfrm>
            <a:off x="609600" y="5981700"/>
            <a:ext cx="10972800" cy="3048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3" name="CaixaDeTexto 42">
            <a:extLst>
              <a:ext uri="{FF2B5EF4-FFF2-40B4-BE49-F238E27FC236}">
                <a16:creationId xmlns:a16="http://schemas.microsoft.com/office/drawing/2014/main" id="{8BC429E0-3B8E-7D28-8660-018B83F25F89}"/>
              </a:ext>
            </a:extLst>
          </p:cNvPr>
          <p:cNvSpPr txBox="1"/>
          <p:nvPr/>
        </p:nvSpPr>
        <p:spPr>
          <a:xfrm>
            <a:off x="774700" y="6032500"/>
            <a:ext cx="3683000" cy="1661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1080" b="1">
                <a:solidFill>
                  <a:srgbClr val="4F426D"/>
                </a:solidFill>
                <a:latin typeface="Aptos" panose="020B0004020202020204" pitchFamily="34" charset="0"/>
              </a:rPr>
              <a:t>22 · Tour inicial</a:t>
            </a:r>
          </a:p>
        </p:txBody>
      </p:sp>
      <p:sp>
        <p:nvSpPr>
          <p:cNvPr id="44" name="CaixaDeTexto 43">
            <a:extLst>
              <a:ext uri="{FF2B5EF4-FFF2-40B4-BE49-F238E27FC236}">
                <a16:creationId xmlns:a16="http://schemas.microsoft.com/office/drawing/2014/main" id="{8AA25012-9525-EF06-6D73-95040F255FA9}"/>
              </a:ext>
            </a:extLst>
          </p:cNvPr>
          <p:cNvSpPr txBox="1"/>
          <p:nvPr/>
        </p:nvSpPr>
        <p:spPr>
          <a:xfrm>
            <a:off x="4610100" y="6032500"/>
            <a:ext cx="6794500" cy="16004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1040">
                <a:solidFill>
                  <a:srgbClr val="697187"/>
                </a:solidFill>
                <a:latin typeface="Aptos" panose="020B0004020202020204" pitchFamily="34" charset="0"/>
              </a:rPr>
              <a:t>Ajuda/tour opcional, revisável e sem bloquear a navegação.</a:t>
            </a:r>
          </a:p>
        </p:txBody>
      </p:sp>
    </p:spTree>
    <p:extLst>
      <p:ext uri="{BB962C8B-B14F-4D97-AF65-F5344CB8AC3E}">
        <p14:creationId xmlns:p14="http://schemas.microsoft.com/office/powerpoint/2010/main" val="898450985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BC8F5E06-16DD-9799-E43A-A2766DFD28B9}"/>
              </a:ext>
            </a:extLst>
          </p:cNvPr>
          <p:cNvSpPr/>
          <p:nvPr/>
        </p:nvSpPr>
        <p:spPr>
          <a:xfrm>
            <a:off x="609600" y="406400"/>
            <a:ext cx="63500" cy="254000"/>
          </a:xfrm>
          <a:prstGeom prst="rect">
            <a:avLst/>
          </a:prstGeom>
          <a:solidFill>
            <a:srgbClr val="7660D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81DE1A8D-7676-267D-48EF-AE94F3B40828}"/>
              </a:ext>
            </a:extLst>
          </p:cNvPr>
          <p:cNvSpPr txBox="1"/>
          <p:nvPr/>
        </p:nvSpPr>
        <p:spPr>
          <a:xfrm>
            <a:off x="812800" y="431800"/>
            <a:ext cx="102235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1000" b="1">
                <a:solidFill>
                  <a:srgbClr val="7660D3"/>
                </a:solidFill>
                <a:latin typeface="Aptos" panose="020B0004020202020204" pitchFamily="34" charset="0"/>
              </a:rPr>
              <a:t>APÊNDICE · FONTES E USO DA APRESENTAÇÃO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B040AB90-78D2-98EB-A305-B7E157F84FB9}"/>
              </a:ext>
            </a:extLst>
          </p:cNvPr>
          <p:cNvSpPr txBox="1"/>
          <p:nvPr/>
        </p:nvSpPr>
        <p:spPr>
          <a:xfrm>
            <a:off x="609600" y="889000"/>
            <a:ext cx="10985500" cy="44627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2900" b="1">
                <a:solidFill>
                  <a:srgbClr val="273047"/>
                </a:solidFill>
                <a:latin typeface="Aptos" panose="020B0004020202020204" pitchFamily="34" charset="0"/>
              </a:rPr>
              <a:t>Documento de origem e evidências do protótipo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68595F1E-20B3-C24E-5DEE-3356A59690DF}"/>
              </a:ext>
            </a:extLst>
          </p:cNvPr>
          <p:cNvSpPr txBox="1"/>
          <p:nvPr/>
        </p:nvSpPr>
        <p:spPr>
          <a:xfrm>
            <a:off x="609600" y="1816100"/>
            <a:ext cx="10998200" cy="2000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1300">
                <a:solidFill>
                  <a:srgbClr val="7B7F93"/>
                </a:solidFill>
                <a:latin typeface="Aptos" panose="020B0004020202020204" pitchFamily="34" charset="0"/>
              </a:rPr>
              <a:t>Textos e diagramas editáveis; telas incorporadas ao PowerPoint.</a:t>
            </a:r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9E10BA53-FFB9-DABC-FC17-7F52F1BBCFBD}"/>
              </a:ext>
            </a:extLst>
          </p:cNvPr>
          <p:cNvSpPr/>
          <p:nvPr/>
        </p:nvSpPr>
        <p:spPr>
          <a:xfrm>
            <a:off x="609600" y="6426200"/>
            <a:ext cx="10972800" cy="12700"/>
          </a:xfrm>
          <a:prstGeom prst="rect">
            <a:avLst/>
          </a:prstGeom>
          <a:solidFill>
            <a:srgbClr val="E2DFE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663AFF7A-3875-829E-63E8-D2739B8FA4C8}"/>
              </a:ext>
            </a:extLst>
          </p:cNvPr>
          <p:cNvSpPr txBox="1"/>
          <p:nvPr/>
        </p:nvSpPr>
        <p:spPr>
          <a:xfrm>
            <a:off x="609600" y="6553200"/>
            <a:ext cx="9652000" cy="12311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800">
                <a:solidFill>
                  <a:srgbClr val="9690A5"/>
                </a:solidFill>
                <a:latin typeface="Aptos" panose="020B0004020202020204" pitchFamily="34" charset="0"/>
              </a:rPr>
              <a:t>Fonte: Fontes locais do projeto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AC031995-AA70-3573-1802-69D8C2DC621E}"/>
              </a:ext>
            </a:extLst>
          </p:cNvPr>
          <p:cNvSpPr txBox="1"/>
          <p:nvPr/>
        </p:nvSpPr>
        <p:spPr>
          <a:xfrm>
            <a:off x="10896600" y="6515100"/>
            <a:ext cx="7493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1000" b="1">
                <a:solidFill>
                  <a:srgbClr val="7660D3"/>
                </a:solidFill>
                <a:latin typeface="Aptos" panose="020B0004020202020204" pitchFamily="34" charset="0"/>
              </a:rPr>
              <a:t>40 / 40</a:t>
            </a:r>
          </a:p>
        </p:txBody>
      </p:sp>
      <p:sp>
        <p:nvSpPr>
          <p:cNvPr id="9" name="Retângulo: Cantos Arredondados 8">
            <a:extLst>
              <a:ext uri="{FF2B5EF4-FFF2-40B4-BE49-F238E27FC236}">
                <a16:creationId xmlns:a16="http://schemas.microsoft.com/office/drawing/2014/main" id="{74DE9374-AC60-A023-BF93-0301C17D9143}"/>
              </a:ext>
            </a:extLst>
          </p:cNvPr>
          <p:cNvSpPr/>
          <p:nvPr/>
        </p:nvSpPr>
        <p:spPr>
          <a:xfrm>
            <a:off x="609600" y="2476500"/>
            <a:ext cx="3522133" cy="3759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32EFA2C8-09BF-C157-D8F5-6FE26DC1BB11}"/>
              </a:ext>
            </a:extLst>
          </p:cNvPr>
          <p:cNvSpPr txBox="1"/>
          <p:nvPr/>
        </p:nvSpPr>
        <p:spPr>
          <a:xfrm>
            <a:off x="838200" y="2717800"/>
            <a:ext cx="3064933" cy="2923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1900" b="1">
                <a:solidFill>
                  <a:srgbClr val="6550B5"/>
                </a:solidFill>
                <a:latin typeface="Aptos" panose="020B0004020202020204" pitchFamily="34" charset="0"/>
              </a:rPr>
              <a:t>Fonte conceitual</a:t>
            </a:r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09BBD601-3F00-8AA9-2958-F194D35C52E4}"/>
              </a:ext>
            </a:extLst>
          </p:cNvPr>
          <p:cNvSpPr txBox="1"/>
          <p:nvPr/>
        </p:nvSpPr>
        <p:spPr>
          <a:xfrm>
            <a:off x="838200" y="3390900"/>
            <a:ext cx="3064933" cy="98488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1600">
                <a:solidFill>
                  <a:srgbClr val="626A80"/>
                </a:solidFill>
                <a:latin typeface="Aptos" panose="020B0004020202020204" pitchFamily="34" charset="0"/>
              </a:rPr>
              <a:t>Solucao_Academica_Etapas_Ajustadas.md: estrutura das etapas, ideias, restrições, SCAMPER, cenários e indicadores.</a:t>
            </a:r>
          </a:p>
        </p:txBody>
      </p:sp>
      <p:sp>
        <p:nvSpPr>
          <p:cNvPr id="12" name="Retângulo: Cantos Arredondados 11">
            <a:extLst>
              <a:ext uri="{FF2B5EF4-FFF2-40B4-BE49-F238E27FC236}">
                <a16:creationId xmlns:a16="http://schemas.microsoft.com/office/drawing/2014/main" id="{9A9BB383-E269-89E3-3EFA-D6625218C5B1}"/>
              </a:ext>
            </a:extLst>
          </p:cNvPr>
          <p:cNvSpPr/>
          <p:nvPr/>
        </p:nvSpPr>
        <p:spPr>
          <a:xfrm>
            <a:off x="4334933" y="2476500"/>
            <a:ext cx="3522134" cy="3759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5CC9EC29-EDFB-0117-90D6-2DEB52B4CB67}"/>
              </a:ext>
            </a:extLst>
          </p:cNvPr>
          <p:cNvSpPr txBox="1"/>
          <p:nvPr/>
        </p:nvSpPr>
        <p:spPr>
          <a:xfrm>
            <a:off x="4563533" y="2717800"/>
            <a:ext cx="3064933" cy="2923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1900" b="1">
                <a:solidFill>
                  <a:srgbClr val="6550B5"/>
                </a:solidFill>
                <a:latin typeface="Aptos" panose="020B0004020202020204" pitchFamily="34" charset="0"/>
              </a:rPr>
              <a:t>Fonte visual e técnica</a:t>
            </a:r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C1422070-08D9-ECBC-F0BA-00D4417E478D}"/>
              </a:ext>
            </a:extLst>
          </p:cNvPr>
          <p:cNvSpPr txBox="1"/>
          <p:nvPr/>
        </p:nvSpPr>
        <p:spPr>
          <a:xfrm>
            <a:off x="4563533" y="3390900"/>
            <a:ext cx="3064933" cy="73866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1600">
                <a:solidFill>
                  <a:srgbClr val="626A80"/>
                </a:solidFill>
                <a:latin typeface="Aptos" panose="020B0004020202020204" pitchFamily="34" charset="0"/>
              </a:rPr>
              <a:t>Aplicação Trilha em projeto-escola: capturas reais de todos os módulos, código e testes locais.</a:t>
            </a:r>
          </a:p>
        </p:txBody>
      </p:sp>
      <p:sp>
        <p:nvSpPr>
          <p:cNvPr id="15" name="Retângulo: Cantos Arredondados 14">
            <a:extLst>
              <a:ext uri="{FF2B5EF4-FFF2-40B4-BE49-F238E27FC236}">
                <a16:creationId xmlns:a16="http://schemas.microsoft.com/office/drawing/2014/main" id="{D012493C-07DE-047F-CB69-16C360FB5F99}"/>
              </a:ext>
            </a:extLst>
          </p:cNvPr>
          <p:cNvSpPr/>
          <p:nvPr/>
        </p:nvSpPr>
        <p:spPr>
          <a:xfrm>
            <a:off x="8060267" y="2476500"/>
            <a:ext cx="3522133" cy="3759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6" name="CaixaDeTexto 15">
            <a:extLst>
              <a:ext uri="{FF2B5EF4-FFF2-40B4-BE49-F238E27FC236}">
                <a16:creationId xmlns:a16="http://schemas.microsoft.com/office/drawing/2014/main" id="{25D92CBF-1786-CC7E-5E0E-EF586A62053F}"/>
              </a:ext>
            </a:extLst>
          </p:cNvPr>
          <p:cNvSpPr txBox="1"/>
          <p:nvPr/>
        </p:nvSpPr>
        <p:spPr>
          <a:xfrm>
            <a:off x="8288867" y="2717800"/>
            <a:ext cx="3064933" cy="2923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1900" b="1">
                <a:solidFill>
                  <a:srgbClr val="6550B5"/>
                </a:solidFill>
                <a:latin typeface="Aptos" panose="020B0004020202020204" pitchFamily="34" charset="0"/>
              </a:rPr>
              <a:t>Como apresentar</a:t>
            </a:r>
          </a:p>
        </p:txBody>
      </p:sp>
      <p:sp>
        <p:nvSpPr>
          <p:cNvPr id="17" name="CaixaDeTexto 16">
            <a:extLst>
              <a:ext uri="{FF2B5EF4-FFF2-40B4-BE49-F238E27FC236}">
                <a16:creationId xmlns:a16="http://schemas.microsoft.com/office/drawing/2014/main" id="{F65A885B-77A8-BB9B-56BE-D49B17ABB43C}"/>
              </a:ext>
            </a:extLst>
          </p:cNvPr>
          <p:cNvSpPr txBox="1"/>
          <p:nvPr/>
        </p:nvSpPr>
        <p:spPr>
          <a:xfrm>
            <a:off x="8288867" y="3390900"/>
            <a:ext cx="3064933" cy="98488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1600">
                <a:solidFill>
                  <a:srgbClr val="626A80"/>
                </a:solidFill>
                <a:latin typeface="Aptos" panose="020B0004020202020204" pitchFamily="34" charset="0"/>
              </a:rPr>
              <a:t>Use a sequência completa para detalhamento. Para pitch curto, siga a seleção indicada nas notas do primeiro slide.</a:t>
            </a:r>
          </a:p>
        </p:txBody>
      </p:sp>
    </p:spTree>
    <p:extLst>
      <p:ext uri="{BB962C8B-B14F-4D97-AF65-F5344CB8AC3E}">
        <p14:creationId xmlns:p14="http://schemas.microsoft.com/office/powerpoint/2010/main" val="3194291164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6184</Words>
  <Application>Microsoft Office PowerPoint</Application>
  <PresentationFormat>Personalizar</PresentationFormat>
  <Paragraphs>637</Paragraphs>
  <Slides>40</Slides>
  <Notes>40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40</vt:i4>
      </vt:variant>
    </vt:vector>
  </HeadingPairs>
  <TitlesOfParts>
    <vt:vector size="44" baseType="lpstr">
      <vt:lpstr>Aptos</vt:lpstr>
      <vt:lpstr>Aptos Display</vt:lpstr>
      <vt:lpstr>Arial</vt:lpstr>
      <vt:lpstr>Tema do Office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Emerson Teodoro</dc:creator>
  <cp:lastModifiedBy>Emerson Teodoro</cp:lastModifiedBy>
  <cp:revision>1</cp:revision>
  <dcterms:created xsi:type="dcterms:W3CDTF">2026-10-09T03:06:55Z</dcterms:created>
  <dcterms:modified xsi:type="dcterms:W3CDTF">2026-10-09T03:06:55Z</dcterms:modified>
</cp:coreProperties>
</file>