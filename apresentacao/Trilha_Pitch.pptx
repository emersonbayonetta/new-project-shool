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69885-5C1D-43FA-B81B-C289D0938BD3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5CDEEE-0CE4-42BF-9411-DB0EC701BE6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6220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ROTEIRO DE FALA — APROXIMADAMENTE 60 A 90 SEGUNDOS
“Os estudantes já têm agendas, calendários e grupos de mensagens, mas continuam acumulando tarefas. O problema não é apenas lembrar um prazo: é saber o que fazer agora e conseguir avançar.
A Trilha transforma cada responsabilidade em um próximo passo claro. No painel, o aluno vê quais atividades precisam de atenção e por quê. Ao abrir uma atividade, encontra pequenas etapas com tempo estimado. Cada conclusão atualiza o progresso e gera XP real, sem relação com notas.
O professor publica atividades e comunicados na mesma base demonstrativa. O aluno executa as etapas, acompanha sua evolução e pode organizar pendências em um plano de recuperação sem alterar prazos oficiais.
Como a aplicação guarda os dados localmente e tem cache PWA, o aluno pode continuar registrando progresso sem internet após a primeira visita à versão de produção.
Nossa proposta é simples: mais do que lembrar prazos, ajudamos você a concluir cada etapa.”
SUGESTÃO PARA A DEMONSTRAÇÃO AO VIVO
1. Abra Meu próximo passo.
2. Marque uma etapa e mostre progresso e XP.
3. Alterne para professor e publique uma atividade.
4. Volte ao aluno para mostrar o registro compartilhado.
5. Abra Meu planejamento e Simular offline.
TRANSPARÊNCIA
Capturas reais do aplicativo implementado. Dados fictícios. Os números da interface representam apenas o cenário demonstrativo, não resultados de pesquisa. A troca de perfis não é autenticação segura. O assistente utiliza regras locais; não há IA generativa, sincronização com servidor nem comunicação entre dispositivos. Para recarregar realmente sem rede, visite previamente a versão de produção para preparar o cache PWA.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CDEEE-0CE4-42BF-9411-DB0EC701BE6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301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8F4692-38BF-834A-B25D-AA239F9D2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D565E3-46E2-FD37-EFDC-5ADF6F641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C22F2E-9467-0FC5-7E5E-28A18DD1F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E3FF11-BC42-68B2-1C3B-AF4FDF023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983E17-638F-9F4C-FCBC-ED8BEB4C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3364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F5E646-FEB3-9CEA-6EC6-0C0FD345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983901-E1D0-8ECA-0AE0-6CC555D65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DE351-1759-1F9F-C0FF-8707E43D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AADAA8-B5A2-20CA-97DD-4A9A5F13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F23967-918F-7E43-0BC0-CC2DB59CD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12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311221-86EC-C777-54B4-61DA22CE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E2B03D-DC80-4958-E690-E84E05C9E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5BB79D-BC21-590A-2FF3-61502DE4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7A821C-5311-9FFF-409C-95D228DB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3BC4B4-6ACE-DBFC-841A-8FCF4597B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5706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4BCFB7-4752-46C1-097F-840FB7C3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412232-1A70-2D63-9ACB-4FBD3B4747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1797F13-213D-42D5-5D0D-36EE0E5C4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2AAEC9-688B-0917-D87F-76D667E4B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463BE4-6710-34BD-ABE9-58DD8B48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315E39-E2C9-2532-F262-04732FF9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18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E19E7-5C58-2E6E-D391-E96BC9E78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2EFA8FF-2B84-2AC9-7FAA-71F57D0A5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256795-343B-0652-5CED-D2DBCAC5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2BAA847-20FF-A321-24E0-21D86247D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16B5D5F-7A9E-6FE6-40B0-CA381D9E1F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F9A03C-D281-EF81-F218-C6BBD8574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96A9E2F-3287-4B84-0C35-7CADDFB7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EF1B801-70E5-3BC5-2609-DE1DB103E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621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15E7D-C2D5-0C98-66D4-6A23E136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41BEC0-9CDD-9999-5422-E2D8789F6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CBF779-CF5C-8BB4-8DD3-36C323AB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D87802B-DAD2-8979-D470-AFBFCB65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48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AAEAA09-03C7-4E51-3641-9E8E535AF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934C353-4B3F-4724-0F39-1C2FD52E1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347A76-33D2-5CE2-5798-83872544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96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9561C4-AE03-C240-D7C4-401E536EF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3DC839-C7A4-3B12-42E3-83496CB0B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B65EBCA-B238-4D41-C219-9DB771085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ED5066-AC42-96FB-21A8-73F5E6D5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0E7304-A694-C89C-9CC4-7340D7F75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E2DEC7-EA83-2DEE-742B-BBE2CE033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87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8ABB81-DE43-7602-350B-F2936A61C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0D598DA-14BD-A785-C22B-B7515B2781B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E82E56-7CCA-9963-8FB4-631C066E37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BA1823B-0FF4-3D23-5EE2-9BEAA2E15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8A340C-D317-A6D1-5585-44435F3ED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7F569BF-BBD1-A7A1-B3A0-710F6BF4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2557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56AA1-FBCC-6332-FA17-0A165CBCB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86DAF08-7672-1294-49F7-36F0B5085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B3A5CD-2F5E-E766-660F-3D7C5283F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D77965-BAB4-3A9A-F880-A472FD818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6346F1-E29B-818E-8610-757B4CEE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541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0F5386-3270-295D-7457-768260EE38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C6F5407-DD4D-0369-3D48-8C30BC4BB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A4D0B7-D427-524D-828E-6E3BFE7B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7B3097-EBB9-7072-BEB8-136ADB4AE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E879B5-D7A1-3126-B189-77C11942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143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4A762D-A72B-F54C-89F1-0E2797B1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7B2A4A-47DE-0C0D-8502-7FB2D8262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A0008A-0033-2257-9662-C1AB4471C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59ED5-54FD-44D8-9CA6-5A25E5E7AC72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277800B-D287-DB5E-EF31-CBDF652E6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8122F9-2A66-6D2B-1DDC-C93B23758B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9A0E6-E0D9-4398-8F58-D2620FAC45E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26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4D0A7BE-0EF0-C1D0-FEDA-BA6AFB16194E}"/>
              </a:ext>
            </a:extLst>
          </p:cNvPr>
          <p:cNvSpPr/>
          <p:nvPr/>
        </p:nvSpPr>
        <p:spPr>
          <a:xfrm>
            <a:off x="5118100" y="0"/>
            <a:ext cx="7073900" cy="6858000"/>
          </a:xfrm>
          <a:prstGeom prst="rect">
            <a:avLst/>
          </a:prstGeom>
          <a:solidFill>
            <a:srgbClr val="F0EC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A6CB4D7-D7A9-CE5C-8BD1-DBDE6588B1A9}"/>
              </a:ext>
            </a:extLst>
          </p:cNvPr>
          <p:cNvSpPr/>
          <p:nvPr/>
        </p:nvSpPr>
        <p:spPr>
          <a:xfrm>
            <a:off x="609600" y="495300"/>
            <a:ext cx="444500" cy="444500"/>
          </a:xfrm>
          <a:prstGeom prst="roundRect">
            <a:avLst>
              <a:gd name="adj" fmla="val 13000"/>
            </a:avLst>
          </a:prstGeom>
          <a:solidFill>
            <a:srgbClr val="7660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FC88996-0236-8254-3776-500B097B75AF}"/>
              </a:ext>
            </a:extLst>
          </p:cNvPr>
          <p:cNvSpPr txBox="1"/>
          <p:nvPr/>
        </p:nvSpPr>
        <p:spPr>
          <a:xfrm>
            <a:off x="647700" y="482600"/>
            <a:ext cx="3937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700" b="1">
                <a:solidFill>
                  <a:srgbClr val="FFFFFF"/>
                </a:solidFill>
                <a:latin typeface="Aptos" panose="020B0004020202020204" pitchFamily="34" charset="0"/>
              </a:rPr>
              <a:t>↗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13CF5E1-E3CD-34EC-C603-DC04154B4133}"/>
              </a:ext>
            </a:extLst>
          </p:cNvPr>
          <p:cNvSpPr txBox="1"/>
          <p:nvPr/>
        </p:nvSpPr>
        <p:spPr>
          <a:xfrm>
            <a:off x="1181100" y="330200"/>
            <a:ext cx="3048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4500" b="1">
                <a:solidFill>
                  <a:srgbClr val="263047"/>
                </a:solidFill>
                <a:latin typeface="Aptos" panose="020B0004020202020204" pitchFamily="34" charset="0"/>
              </a:rPr>
              <a:t>trilha.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98930C4-2A5F-674E-DC49-B2CBFE0FB2B8}"/>
              </a:ext>
            </a:extLst>
          </p:cNvPr>
          <p:cNvSpPr txBox="1"/>
          <p:nvPr/>
        </p:nvSpPr>
        <p:spPr>
          <a:xfrm>
            <a:off x="622300" y="1193800"/>
            <a:ext cx="4368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>
                <a:solidFill>
                  <a:srgbClr val="7B748C"/>
                </a:solidFill>
                <a:latin typeface="Aptos" panose="020B0004020202020204" pitchFamily="34" charset="0"/>
              </a:rPr>
              <a:t>Prazos dispersos. Tarefas acumuladas.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B36D532-C29C-22B7-E2F0-03E48F36223B}"/>
              </a:ext>
            </a:extLst>
          </p:cNvPr>
          <p:cNvSpPr txBox="1"/>
          <p:nvPr/>
        </p:nvSpPr>
        <p:spPr>
          <a:xfrm>
            <a:off x="609600" y="1676400"/>
            <a:ext cx="43688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2800" b="1">
                <a:solidFill>
                  <a:srgbClr val="273047"/>
                </a:solidFill>
                <a:latin typeface="Aptos" panose="020B0004020202020204" pitchFamily="34" charset="0"/>
              </a:rPr>
              <a:t>Mais do que lembrar
prazos, ajudamos a
concluir</a:t>
            </a:r>
            <a:r>
              <a:rPr lang="pt-BR" sz="2800" b="1">
                <a:solidFill>
                  <a:srgbClr val="7660D3"/>
                </a:solidFill>
                <a:latin typeface="Aptos" panose="020B0004020202020204" pitchFamily="34" charset="0"/>
              </a:rPr>
              <a:t> cada etapa.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CB0C9F-1DF3-E8AE-D5F7-3FDB1D71425E}"/>
              </a:ext>
            </a:extLst>
          </p:cNvPr>
          <p:cNvSpPr txBox="1"/>
          <p:nvPr/>
        </p:nvSpPr>
        <p:spPr>
          <a:xfrm>
            <a:off x="622300" y="3302000"/>
            <a:ext cx="4114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>
                <a:solidFill>
                  <a:srgbClr val="777B8F"/>
                </a:solidFill>
                <a:latin typeface="Aptos" panose="020B0004020202020204" pitchFamily="34" charset="0"/>
              </a:rPr>
              <a:t>Um próximo passo claro para transformar responsabilidades em progresso.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6EFB101-D0E8-47E3-C4A9-2570E43C7EB1}"/>
              </a:ext>
            </a:extLst>
          </p:cNvPr>
          <p:cNvSpPr/>
          <p:nvPr/>
        </p:nvSpPr>
        <p:spPr>
          <a:xfrm>
            <a:off x="622300" y="41656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A7C45B-2469-91AD-4EBC-2A4C913939DA}"/>
              </a:ext>
            </a:extLst>
          </p:cNvPr>
          <p:cNvSpPr txBox="1"/>
          <p:nvPr/>
        </p:nvSpPr>
        <p:spPr>
          <a:xfrm>
            <a:off x="685800" y="42545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71DA620-C1F1-BD4B-F477-32B55429AAA5}"/>
              </a:ext>
            </a:extLst>
          </p:cNvPr>
          <p:cNvSpPr txBox="1"/>
          <p:nvPr/>
        </p:nvSpPr>
        <p:spPr>
          <a:xfrm>
            <a:off x="1181100" y="41529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Saiba o que fazer agora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A20CEA3-E851-7ADA-5C0B-73B35069DC47}"/>
              </a:ext>
            </a:extLst>
          </p:cNvPr>
          <p:cNvSpPr txBox="1"/>
          <p:nvPr/>
        </p:nvSpPr>
        <p:spPr>
          <a:xfrm>
            <a:off x="1181100" y="44577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Prioridades explicáveis e próximo passo.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1D760B07-A43D-0EF8-7333-62257EFBD9F9}"/>
              </a:ext>
            </a:extLst>
          </p:cNvPr>
          <p:cNvSpPr/>
          <p:nvPr/>
        </p:nvSpPr>
        <p:spPr>
          <a:xfrm>
            <a:off x="622300" y="48641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A6A4012-6F19-D59B-1A08-467465125009}"/>
              </a:ext>
            </a:extLst>
          </p:cNvPr>
          <p:cNvSpPr txBox="1"/>
          <p:nvPr/>
        </p:nvSpPr>
        <p:spPr>
          <a:xfrm>
            <a:off x="685800" y="49530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652C1EC-580F-CC61-5594-D37131B7C3B4}"/>
              </a:ext>
            </a:extLst>
          </p:cNvPr>
          <p:cNvSpPr txBox="1"/>
          <p:nvPr/>
        </p:nvSpPr>
        <p:spPr>
          <a:xfrm>
            <a:off x="1181100" y="48514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Avance em pequenas etapas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C8083A9-5846-EE47-7FF2-703C39E90A41}"/>
              </a:ext>
            </a:extLst>
          </p:cNvPr>
          <p:cNvSpPr txBox="1"/>
          <p:nvPr/>
        </p:nvSpPr>
        <p:spPr>
          <a:xfrm>
            <a:off x="1181100" y="51562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Checklist, progresso e XP por ações reais.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F5C21C7-4F6D-03DD-2366-ECAFA3F9B7AE}"/>
              </a:ext>
            </a:extLst>
          </p:cNvPr>
          <p:cNvSpPr/>
          <p:nvPr/>
        </p:nvSpPr>
        <p:spPr>
          <a:xfrm>
            <a:off x="622300" y="5562600"/>
            <a:ext cx="393700" cy="393700"/>
          </a:xfrm>
          <a:prstGeom prst="roundRect">
            <a:avLst>
              <a:gd name="adj" fmla="val 13000"/>
            </a:avLst>
          </a:prstGeom>
          <a:solidFill>
            <a:srgbClr val="ECE7F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D7D0B01-B0EA-4235-0577-4C04E293C7CC}"/>
              </a:ext>
            </a:extLst>
          </p:cNvPr>
          <p:cNvSpPr txBox="1"/>
          <p:nvPr/>
        </p:nvSpPr>
        <p:spPr>
          <a:xfrm>
            <a:off x="685800" y="5651500"/>
            <a:ext cx="2921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5665BF6-7890-E233-E566-07B6C318F7C4}"/>
              </a:ext>
            </a:extLst>
          </p:cNvPr>
          <p:cNvSpPr txBox="1"/>
          <p:nvPr/>
        </p:nvSpPr>
        <p:spPr>
          <a:xfrm>
            <a:off x="1181100" y="5549900"/>
            <a:ext cx="3733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>
                <a:solidFill>
                  <a:srgbClr val="273047"/>
                </a:solidFill>
                <a:latin typeface="Aptos" panose="020B0004020202020204" pitchFamily="34" charset="0"/>
              </a:rPr>
              <a:t>Continue mesmo sem internet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DE53A5B-C290-53CD-302D-81CE8B60A0CC}"/>
              </a:ext>
            </a:extLst>
          </p:cNvPr>
          <p:cNvSpPr txBox="1"/>
          <p:nvPr/>
        </p:nvSpPr>
        <p:spPr>
          <a:xfrm>
            <a:off x="1181100" y="5854700"/>
            <a:ext cx="37846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50">
                <a:solidFill>
                  <a:srgbClr val="7D8093"/>
                </a:solidFill>
                <a:latin typeface="Aptos" panose="020B0004020202020204" pitchFamily="34" charset="0"/>
              </a:rPr>
              <a:t>Planejamento e progresso salvos localmente.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ED0D24EB-7F2D-B93C-C938-E6BC348123B1}"/>
              </a:ext>
            </a:extLst>
          </p:cNvPr>
          <p:cNvSpPr txBox="1"/>
          <p:nvPr/>
        </p:nvSpPr>
        <p:spPr>
          <a:xfrm>
            <a:off x="5461000" y="558800"/>
            <a:ext cx="6032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>
                <a:solidFill>
                  <a:srgbClr val="7660D3"/>
                </a:solidFill>
                <a:latin typeface="Aptos" panose="020B0004020202020204" pitchFamily="34" charset="0"/>
              </a:rPr>
              <a:t>SUA JORNADA ACADÊMICA, ORGANIZADA.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307AA6E-C8F7-016E-69A4-24DB1C50A251}"/>
              </a:ext>
            </a:extLst>
          </p:cNvPr>
          <p:cNvSpPr txBox="1"/>
          <p:nvPr/>
        </p:nvSpPr>
        <p:spPr>
          <a:xfrm>
            <a:off x="5461000" y="990600"/>
            <a:ext cx="5842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b="1">
                <a:solidFill>
                  <a:srgbClr val="353047"/>
                </a:solidFill>
                <a:latin typeface="Aptos" panose="020B0004020202020204" pitchFamily="34" charset="0"/>
              </a:rPr>
              <a:t>Professor publica. Aluno executa.
A Trilha mostra a evolução.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BA8A9CB-BAD0-AF39-1813-14AC70226A89}"/>
              </a:ext>
            </a:extLst>
          </p:cNvPr>
          <p:cNvSpPr txBox="1"/>
          <p:nvPr/>
        </p:nvSpPr>
        <p:spPr>
          <a:xfrm>
            <a:off x="5461000" y="1600200"/>
            <a:ext cx="5765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9687B6"/>
                </a:solidFill>
                <a:latin typeface="Aptos" panose="020B0004020202020204" pitchFamily="34" charset="0"/>
              </a:rPr>
              <a:t>INTERFACE REAL · DESKTOP + MOBILE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94985810-FB77-1ADE-7150-C6985ED8F3AF}"/>
              </a:ext>
            </a:extLst>
          </p:cNvPr>
          <p:cNvSpPr/>
          <p:nvPr/>
        </p:nvSpPr>
        <p:spPr>
          <a:xfrm>
            <a:off x="5372100" y="1905000"/>
            <a:ext cx="6210300" cy="45339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 cap="flat" cmpd="sng" algn="ctr">
            <a:solidFill>
              <a:srgbClr val="DFD7EF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2BC0FB7F-BA19-08DE-484B-1B30C2718F9C}"/>
              </a:ext>
            </a:extLst>
          </p:cNvPr>
          <p:cNvSpPr/>
          <p:nvPr/>
        </p:nvSpPr>
        <p:spPr>
          <a:xfrm>
            <a:off x="5384800" y="1917700"/>
            <a:ext cx="6184900" cy="228600"/>
          </a:xfrm>
          <a:prstGeom prst="rect">
            <a:avLst/>
          </a:prstGeom>
          <a:solidFill>
            <a:srgbClr val="FAF8F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4D311320-AF7C-503E-A812-D2D9DC564AF7}"/>
              </a:ext>
            </a:extLst>
          </p:cNvPr>
          <p:cNvSpPr/>
          <p:nvPr/>
        </p:nvSpPr>
        <p:spPr>
          <a:xfrm>
            <a:off x="5511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784E57A5-1700-E35B-3316-C555EDC7CD91}"/>
              </a:ext>
            </a:extLst>
          </p:cNvPr>
          <p:cNvSpPr/>
          <p:nvPr/>
        </p:nvSpPr>
        <p:spPr>
          <a:xfrm>
            <a:off x="5638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CB94428-57F4-7967-0AB9-1B87760EABEB}"/>
              </a:ext>
            </a:extLst>
          </p:cNvPr>
          <p:cNvSpPr/>
          <p:nvPr/>
        </p:nvSpPr>
        <p:spPr>
          <a:xfrm>
            <a:off x="5765800" y="1993900"/>
            <a:ext cx="50800" cy="50800"/>
          </a:xfrm>
          <a:prstGeom prst="ellipse">
            <a:avLst/>
          </a:prstGeom>
          <a:solidFill>
            <a:srgbClr val="C8B9E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B6BECDC-DF09-A78D-EF45-87E70B2C89C9}"/>
              </a:ext>
            </a:extLst>
          </p:cNvPr>
          <p:cNvSpPr txBox="1"/>
          <p:nvPr/>
        </p:nvSpPr>
        <p:spPr>
          <a:xfrm>
            <a:off x="6858000" y="1968500"/>
            <a:ext cx="3390900" cy="923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600">
                <a:solidFill>
                  <a:srgbClr val="968BA8"/>
                </a:solidFill>
                <a:latin typeface="Aptos" panose="020B0004020202020204" pitchFamily="34" charset="0"/>
              </a:rPr>
              <a:t>trilha · ambiente de demonstração</a:t>
            </a:r>
          </a:p>
        </p:txBody>
      </p:sp>
      <p:pic>
        <p:nvPicPr>
          <p:cNvPr id="31" name="Imagem 30" descr="Captura real da Trilha no desktop: próximo passo, atividades pendentes, prazos e evolução por XP.">
            <a:extLst>
              <a:ext uri="{FF2B5EF4-FFF2-40B4-BE49-F238E27FC236}">
                <a16:creationId xmlns:a16="http://schemas.microsoft.com/office/drawing/2014/main" id="{ECC94F8F-31C8-16D3-DFE4-DCB052F2C88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300" y="2197100"/>
            <a:ext cx="6057900" cy="4165600"/>
          </a:xfrm>
          <a:prstGeom prst="rect">
            <a:avLst/>
          </a:prstGeom>
        </p:spPr>
      </p:pic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5D922248-ABC5-A9DA-85A1-A3546029A917}"/>
              </a:ext>
            </a:extLst>
          </p:cNvPr>
          <p:cNvSpPr/>
          <p:nvPr/>
        </p:nvSpPr>
        <p:spPr>
          <a:xfrm>
            <a:off x="9969500" y="2844800"/>
            <a:ext cx="1651000" cy="3505200"/>
          </a:xfrm>
          <a:prstGeom prst="roundRect">
            <a:avLst>
              <a:gd name="adj" fmla="val 13000"/>
            </a:avLst>
          </a:prstGeom>
          <a:solidFill>
            <a:srgbClr val="2F2942"/>
          </a:solidFill>
          <a:ln w="19050" cap="flat" cmpd="sng" algn="ctr">
            <a:noFill/>
            <a:prstDash val="solid"/>
            <a:miter lim="800000"/>
          </a:ln>
          <a:effectLst>
            <a:outerShdw blurRad="177800" dist="99190" dir="7788330" rotWithShape="0">
              <a:scrgbClr r="0" g="0" b="0">
                <a:alpha val="22000"/>
              </a:scrgbClr>
            </a:outerShdw>
          </a:effectLst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4" name="Imagem 33" descr="Captura real da interface mobile: ação Meu próximo passo e indicadores acadêmicos.">
            <a:extLst>
              <a:ext uri="{FF2B5EF4-FFF2-40B4-BE49-F238E27FC236}">
                <a16:creationId xmlns:a16="http://schemas.microsoft.com/office/drawing/2014/main" id="{D7E2E867-F572-093D-A003-611E7691FDA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700" y="3022600"/>
            <a:ext cx="1498600" cy="3243580"/>
          </a:xfrm>
          <a:prstGeom prst="rect">
            <a:avLst/>
          </a:prstGeom>
        </p:spPr>
      </p:pic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AA58EC85-648F-5378-25CB-FCF9773AFE37}"/>
              </a:ext>
            </a:extLst>
          </p:cNvPr>
          <p:cNvSpPr/>
          <p:nvPr/>
        </p:nvSpPr>
        <p:spPr>
          <a:xfrm>
            <a:off x="10502900" y="2908300"/>
            <a:ext cx="571500" cy="38100"/>
          </a:xfrm>
          <a:prstGeom prst="roundRect">
            <a:avLst>
              <a:gd name="adj" fmla="val 13000"/>
            </a:avLst>
          </a:prstGeom>
          <a:solidFill>
            <a:srgbClr val="70667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41003AB0-983B-F058-55AE-3566A1317F5D}"/>
              </a:ext>
            </a:extLst>
          </p:cNvPr>
          <p:cNvSpPr txBox="1"/>
          <p:nvPr/>
        </p:nvSpPr>
        <p:spPr>
          <a:xfrm>
            <a:off x="622300" y="6477000"/>
            <a:ext cx="4318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 b="1">
                <a:solidFill>
                  <a:srgbClr val="9D97AD"/>
                </a:solidFill>
                <a:latin typeface="Aptos" panose="020B0004020202020204" pitchFamily="34" charset="0"/>
              </a:rPr>
              <a:t>PITCH · PROTÓTIPO FUNCIONAL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8F9481B-96CB-AE98-7721-69518677AB42}"/>
              </a:ext>
            </a:extLst>
          </p:cNvPr>
          <p:cNvSpPr txBox="1"/>
          <p:nvPr/>
        </p:nvSpPr>
        <p:spPr>
          <a:xfrm>
            <a:off x="5461000" y="6565900"/>
            <a:ext cx="61468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00">
                <a:solidFill>
                  <a:srgbClr val="8D80A4"/>
                </a:solidFill>
                <a:latin typeface="Aptos" panose="020B0004020202020204" pitchFamily="34" charset="0"/>
              </a:rPr>
              <a:t>Dados locais • perfis demonstrativos • sem serviços externos</a:t>
            </a:r>
          </a:p>
        </p:txBody>
      </p:sp>
    </p:spTree>
    <p:extLst>
      <p:ext uri="{BB962C8B-B14F-4D97-AF65-F5344CB8AC3E}">
        <p14:creationId xmlns:p14="http://schemas.microsoft.com/office/powerpoint/2010/main" val="2933229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</Words>
  <Application>Microsoft Office PowerPoint</Application>
  <PresentationFormat>Personalizar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Emerson Teodoro</dc:creator>
  <cp:lastModifiedBy>Emerson Teodoro</cp:lastModifiedBy>
  <cp:revision>1</cp:revision>
  <dcterms:created xsi:type="dcterms:W3CDTF">2026-10-09T02:53:30Z</dcterms:created>
  <dcterms:modified xsi:type="dcterms:W3CDTF">2026-10-09T02:53:30Z</dcterms:modified>
</cp:coreProperties>
</file>