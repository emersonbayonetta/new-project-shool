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78" r:id="rId4"/>
    <p:sldId id="268" r:id="rId5"/>
    <p:sldId id="292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5AE93A-7F39-4451-897C-A49386AD41FB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5D6C52-25CD-451D-980C-1567DB3C68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0113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SLIDE 1 — IDEIA CENTRAL — 45 SEGUNDOS
“A Trilha é uma plataforma de acompanhamento acadêmico. A nossa ideia central é simples: mais do que lembrar prazos, ajudar o aluno a concluir cada etapa. Ela reúne as responsabilidades, mostra o que fazer agora e transforma tarefas longas em ações menores. Estas são capturas reais do protótipo, em desktop e celular.”
Transição: por que precisamos dessa solução?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5CDEEE-0CE4-42BF-9411-DB0EC701BE68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7575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SLIDE 2 — PROBLEMA — 55 SEGUNDOS
“Os alunos já têm agendas, calendários e grupos de mensagens. Mesmo assim, podem esquecer atividades e acumular entregas. Nossa hipótese é que informações dispersas e a dificuldade de organizar a execução atrapalham a rotina. Por isso, não basta criar outra lista de datas. Precisamos ajudar a compreender prioridades, começar e acompanhar o avanço.”
As causas são hipóteses do documento, ainda não validadas com estudantes. Não atribua atrasos automaticamente a falta de comprometimento.
Transição: como a ideia funciona na prática?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981A4-A807-46D1-B109-820FAF6DECD4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24507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SLIDE 3 — EXEMPLO REAL — 90 SEGUNDOS
“O professor publica uma atividade com prazo, instruções e etapas sugeridas. O aluno encontra a prioridade e abre a tarefa. Nesta tela, cada etapa tem uma ação concreta e uma estimativa de tempo. Ao concluir uma etapa, a porcentagem e o XP são atualizados. Se ele desfizer a conclusão, os cálculos permanecem coerentes. O progresso fica separado por aluno, enquanto a atividade é compartilhada pela turma. O XP reconhece participação; não representa nota escolar.”
Aponte o checklist e a barra de progresso na captura. Se houver tempo e aplicativo aberto, marque uma única etapa em vez de demonstrar vários módulos. O exemplo cabe dentro destes 90 segundos.
Transição: o que diferencia essa proposta?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981A4-A807-46D1-B109-820FAF6DECD4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04551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SLIDE 4 — DIFERENCIAIS — 65 SEGUNDOS
“Primeiro, a prioridade é explicável: o aluno entende o motivo da atenção, considerando prazo, esforço e etapas pendentes. Segundo, o planejamento por etapas e o plano de recuperação ajudam a retomar tarefas acumuladas sem alterar os prazos oficiais. Terceiro, o aplicativo mantém dados no navegador e permite registrar progresso com conexão limitada. A versão de produção pode ser recarregada sem internet após a preparação do cache.”
O protótipo usa regras locais, sem depender de IA externa. A simulação offline não desliga a conexão. Não há sincronização com servidor nem comunicação entre dispositivos.
Transição: qual é o próximo passo do projeto?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981A4-A807-46D1-B109-820FAF6DECD4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4435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SLIDE 5 — FECHAMENTO — 35 SEGUNDOS
“A Trilha muda o foco: de uma lista de prazos para uma jornada de execução. O protótipo já permite demonstrar publicação, etapas, progresso e continuidade local. Agora, o próximo passo é validar com estudantes e professores se essa experiência facilita a organização da rotina. Nossa mensagem é: mais do que lembrar prazos, ajudamos você a concluir cada etapa.”
Não apresente redução de atrasos como resultado comprovado. Tempo total sugerido: 4 minutos e 50 segundos, com 10 segundos de margem.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981A4-A807-46D1-B109-820FAF6DECD4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1853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0DACCC-EC6D-DC20-79BD-76C9070126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A2A9354-BC38-072C-F086-054B1F52F4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E8F966-0A0C-A12D-6D45-6760359B4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FC4F2-80D3-496F-A394-99AEC15E4A3D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F0343CD-249C-8F73-C47F-285C41452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E0A58F0-433B-525F-F753-D70E80950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29F8C-646B-442E-A3B4-12D99E0F30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2202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6158CE-BE92-0B6D-D44C-A7C53D715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301FA1E-DB51-6866-D9E1-0712B161F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BF5B4C5-DF90-F306-A137-E15AB3028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FC4F2-80D3-496F-A394-99AEC15E4A3D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81A202C-0B09-6D56-8C33-7ABE867A7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41754FD-A549-8A65-7329-B16244B7C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29F8C-646B-442E-A3B4-12D99E0F30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153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DC5FA4-8F17-0B38-8420-5F20C7A1E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0A83C86-DDCA-302F-006B-F8729A918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EB28E7-EAE1-2498-2BAA-083159E3F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FC4F2-80D3-496F-A394-99AEC15E4A3D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5BC2EC-6E25-1C1A-878A-268D851D8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4EBE68-11A0-B50C-B911-37D8BF3D2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29F8C-646B-442E-A3B4-12D99E0F30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3420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E21222-5CD3-D766-FB67-BED446903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11789C9-9305-4417-8738-BEDD8765EC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32AB2D6-B0D6-D9DA-96C7-039E551767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D19772E-5B3B-CDC7-E32A-4E806788B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FC4F2-80D3-496F-A394-99AEC15E4A3D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161C017-8F32-A0AA-831B-18E13E91E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37E291D-091A-8797-F703-9BCC08909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29F8C-646B-442E-A3B4-12D99E0F30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0263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FA98C6-FF4B-B86F-CA64-5C629F3A9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B409B28-DB18-6BE9-1FBE-42713E4F1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F38F095-2D99-C03A-A049-F640F49BC2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B6B097E-9F87-A3DB-A34E-DD5C0263A4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34B82AE-2769-5C03-0BC0-0E349CE819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816C359-11C6-A5E1-4360-2AFA83FC5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FC4F2-80D3-496F-A394-99AEC15E4A3D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F84FC2D-D647-F5D3-2E6E-8ED621208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7207420-B31B-6E50-9D4D-E4F46D079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29F8C-646B-442E-A3B4-12D99E0F30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7977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00A6A-3FA1-F85C-7B03-E6DFE8EC9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9566F2E-B4D4-F979-DC6B-6B4077DA0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FC4F2-80D3-496F-A394-99AEC15E4A3D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7CC8B78-77B2-CF4E-6915-EC82AD014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16DB894-E0A3-79D0-E4CD-372997860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29F8C-646B-442E-A3B4-12D99E0F30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8247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7303BE7-C0B7-3AAC-C89E-639E1BE47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FC4F2-80D3-496F-A394-99AEC15E4A3D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171AA22-54E2-249D-4360-AA5150BD5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58FA46-1508-DBF0-CB06-3CD67F947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29F8C-646B-442E-A3B4-12D99E0F30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4779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847573-EBD1-1255-FD7B-67D3331B3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9C10E4-0431-F202-2D8C-21BFA9118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D10ABCC-6DE0-EEE9-0C6B-9F8E143F82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3A9BB9-4407-089C-D188-9C3455916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FC4F2-80D3-496F-A394-99AEC15E4A3D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0F6885A-87A3-05A2-0729-62DCA9FFD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74671BB-7F0D-3049-7554-F5A5D8C5E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29F8C-646B-442E-A3B4-12D99E0F30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672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CB207A-65AD-7238-3DDB-9BA8CD267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93AA9B5-1398-2B5C-F715-A05BE30AAE7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CDC0496-12F4-7E09-20A7-D6F360C734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123380E-C850-A546-62E7-8858A5192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FC4F2-80D3-496F-A394-99AEC15E4A3D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407D6AE-F4AC-BA32-9F9A-279F6A8AD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1B034DA-3BA1-BF4E-85C5-B06D93C9A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29F8C-646B-442E-A3B4-12D99E0F30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1941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7F1D22-454E-5E56-7624-31CE297FE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68AA6DE-435B-E5E0-95C4-CBFCC0AF9C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5E5AD2C-C1BE-FA20-A511-04E132ED0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FC4F2-80D3-496F-A394-99AEC15E4A3D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6BDFB7-E1A0-2860-2ECA-6E8AB425F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0A7479-C5B8-7A72-973E-9EFF252C7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29F8C-646B-442E-A3B4-12D99E0F30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9944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F2B9A74-506C-A250-D4C3-F9C1432D19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70257D-772E-04B4-62AC-C292C24BA9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29D9664-7B99-E43D-4B9C-576363876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FC4F2-80D3-496F-A394-99AEC15E4A3D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9535DB6-0D09-AE4E-3599-78B26ECFD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8B78C0-1F81-5D3C-F564-16B218A5C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29F8C-646B-442E-A3B4-12D99E0F30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3576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1F40053-9BCF-A189-3EA6-ED2D33B5E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FC32283-0428-48DB-2280-34FF54288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1E32C0-478A-357D-4786-AF58F96963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9FC4F2-80D3-496F-A394-99AEC15E4A3D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6E3D6AD-6402-E8AC-3679-489B282A7B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6273051-1E9C-5430-C8F2-CF9A864FDD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A29F8C-646B-442E-A3B4-12D99E0F30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6216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4D0A7BE-0EF0-C1D0-FEDA-BA6AFB16194E}"/>
              </a:ext>
            </a:extLst>
          </p:cNvPr>
          <p:cNvSpPr/>
          <p:nvPr/>
        </p:nvSpPr>
        <p:spPr>
          <a:xfrm>
            <a:off x="5118100" y="0"/>
            <a:ext cx="7073900" cy="6858000"/>
          </a:xfrm>
          <a:prstGeom prst="rect">
            <a:avLst/>
          </a:prstGeom>
          <a:solidFill>
            <a:srgbClr val="F0EC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2A6CB4D7-D7A9-CE5C-8BD1-DBDE6588B1A9}"/>
              </a:ext>
            </a:extLst>
          </p:cNvPr>
          <p:cNvSpPr/>
          <p:nvPr/>
        </p:nvSpPr>
        <p:spPr>
          <a:xfrm>
            <a:off x="609600" y="495300"/>
            <a:ext cx="444500" cy="444500"/>
          </a:xfrm>
          <a:prstGeom prst="roundRect">
            <a:avLst>
              <a:gd name="adj" fmla="val 13000"/>
            </a:avLst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FC88996-0236-8254-3776-500B097B75AF}"/>
              </a:ext>
            </a:extLst>
          </p:cNvPr>
          <p:cNvSpPr txBox="1"/>
          <p:nvPr/>
        </p:nvSpPr>
        <p:spPr>
          <a:xfrm>
            <a:off x="647700" y="482600"/>
            <a:ext cx="3937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700" b="1">
                <a:solidFill>
                  <a:srgbClr val="FFFFFF"/>
                </a:solidFill>
                <a:latin typeface="Aptos" panose="020B0004020202020204" pitchFamily="34" charset="0"/>
              </a:rPr>
              <a:t>↗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13CF5E1-E3CD-34EC-C603-DC04154B4133}"/>
              </a:ext>
            </a:extLst>
          </p:cNvPr>
          <p:cNvSpPr txBox="1"/>
          <p:nvPr/>
        </p:nvSpPr>
        <p:spPr>
          <a:xfrm>
            <a:off x="1181100" y="330200"/>
            <a:ext cx="3048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4500" b="1">
                <a:solidFill>
                  <a:srgbClr val="263047"/>
                </a:solidFill>
                <a:latin typeface="Aptos" panose="020B0004020202020204" pitchFamily="34" charset="0"/>
              </a:rPr>
              <a:t>trilha.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98930C4-2A5F-674E-DC49-B2CBFE0FB2B8}"/>
              </a:ext>
            </a:extLst>
          </p:cNvPr>
          <p:cNvSpPr txBox="1"/>
          <p:nvPr/>
        </p:nvSpPr>
        <p:spPr>
          <a:xfrm>
            <a:off x="622300" y="1193800"/>
            <a:ext cx="4368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7B748C"/>
                </a:solidFill>
                <a:latin typeface="Aptos" panose="020B0004020202020204" pitchFamily="34" charset="0"/>
              </a:rPr>
              <a:t>Prazos dispersos. Tarefas acumuladas.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B36D532-C29C-22B7-E2F0-03E48F36223B}"/>
              </a:ext>
            </a:extLst>
          </p:cNvPr>
          <p:cNvSpPr txBox="1"/>
          <p:nvPr/>
        </p:nvSpPr>
        <p:spPr>
          <a:xfrm>
            <a:off x="609600" y="1676400"/>
            <a:ext cx="4368800" cy="12926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800" b="1">
                <a:solidFill>
                  <a:srgbClr val="273047"/>
                </a:solidFill>
                <a:latin typeface="Aptos" panose="020B0004020202020204" pitchFamily="34" charset="0"/>
              </a:rPr>
              <a:t>Mais do que lembrar
prazos, ajudamos a
concluir</a:t>
            </a:r>
            <a:r>
              <a:rPr lang="pt-BR" sz="2800" b="1">
                <a:solidFill>
                  <a:srgbClr val="7660D3"/>
                </a:solidFill>
                <a:latin typeface="Aptos" panose="020B0004020202020204" pitchFamily="34" charset="0"/>
              </a:rPr>
              <a:t> cada etapa.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1CB0C9F-1DF3-E8AE-D5F7-3FDB1D71425E}"/>
              </a:ext>
            </a:extLst>
          </p:cNvPr>
          <p:cNvSpPr txBox="1"/>
          <p:nvPr/>
        </p:nvSpPr>
        <p:spPr>
          <a:xfrm>
            <a:off x="622300" y="3302000"/>
            <a:ext cx="41148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500">
                <a:solidFill>
                  <a:srgbClr val="777B8F"/>
                </a:solidFill>
                <a:latin typeface="Aptos" panose="020B0004020202020204" pitchFamily="34" charset="0"/>
              </a:rPr>
              <a:t>Um próximo passo claro para transformar responsabilidades em progresso.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76EFB101-D0E8-47E3-C4A9-2570E43C7EB1}"/>
              </a:ext>
            </a:extLst>
          </p:cNvPr>
          <p:cNvSpPr/>
          <p:nvPr/>
        </p:nvSpPr>
        <p:spPr>
          <a:xfrm>
            <a:off x="622300" y="4165600"/>
            <a:ext cx="393700" cy="393700"/>
          </a:xfrm>
          <a:prstGeom prst="roundRect">
            <a:avLst>
              <a:gd name="adj" fmla="val 13000"/>
            </a:avLst>
          </a:prstGeom>
          <a:solidFill>
            <a:srgbClr val="ECE7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3A7C45B-2469-91AD-4EBC-2A4C913939DA}"/>
              </a:ext>
            </a:extLst>
          </p:cNvPr>
          <p:cNvSpPr txBox="1"/>
          <p:nvPr/>
        </p:nvSpPr>
        <p:spPr>
          <a:xfrm>
            <a:off x="685800" y="4254500"/>
            <a:ext cx="2921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>
                <a:solidFill>
                  <a:srgbClr val="7660D3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71DA620-C1F1-BD4B-F477-32B55429AAA5}"/>
              </a:ext>
            </a:extLst>
          </p:cNvPr>
          <p:cNvSpPr txBox="1"/>
          <p:nvPr/>
        </p:nvSpPr>
        <p:spPr>
          <a:xfrm>
            <a:off x="1181100" y="4152900"/>
            <a:ext cx="37338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500" b="1">
                <a:solidFill>
                  <a:srgbClr val="273047"/>
                </a:solidFill>
                <a:latin typeface="Aptos" panose="020B0004020202020204" pitchFamily="34" charset="0"/>
              </a:rPr>
              <a:t>Saiba o que fazer agora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A20CEA3-E851-7ADA-5C0B-73B35069DC47}"/>
              </a:ext>
            </a:extLst>
          </p:cNvPr>
          <p:cNvSpPr txBox="1"/>
          <p:nvPr/>
        </p:nvSpPr>
        <p:spPr>
          <a:xfrm>
            <a:off x="1181100" y="4457700"/>
            <a:ext cx="37846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50">
                <a:solidFill>
                  <a:srgbClr val="7D8093"/>
                </a:solidFill>
                <a:latin typeface="Aptos" panose="020B0004020202020204" pitchFamily="34" charset="0"/>
              </a:rPr>
              <a:t>Prioridades explicáveis e próximo passo.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1D760B07-A43D-0EF8-7333-62257EFBD9F9}"/>
              </a:ext>
            </a:extLst>
          </p:cNvPr>
          <p:cNvSpPr/>
          <p:nvPr/>
        </p:nvSpPr>
        <p:spPr>
          <a:xfrm>
            <a:off x="622300" y="4864100"/>
            <a:ext cx="393700" cy="393700"/>
          </a:xfrm>
          <a:prstGeom prst="roundRect">
            <a:avLst>
              <a:gd name="adj" fmla="val 13000"/>
            </a:avLst>
          </a:prstGeom>
          <a:solidFill>
            <a:srgbClr val="ECE7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A6A4012-6F19-D59B-1A08-467465125009}"/>
              </a:ext>
            </a:extLst>
          </p:cNvPr>
          <p:cNvSpPr txBox="1"/>
          <p:nvPr/>
        </p:nvSpPr>
        <p:spPr>
          <a:xfrm>
            <a:off x="685800" y="4953000"/>
            <a:ext cx="2921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>
                <a:solidFill>
                  <a:srgbClr val="7660D3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652C1EC-580F-CC61-5594-D37131B7C3B4}"/>
              </a:ext>
            </a:extLst>
          </p:cNvPr>
          <p:cNvSpPr txBox="1"/>
          <p:nvPr/>
        </p:nvSpPr>
        <p:spPr>
          <a:xfrm>
            <a:off x="1181100" y="4851400"/>
            <a:ext cx="37338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500" b="1">
                <a:solidFill>
                  <a:srgbClr val="273047"/>
                </a:solidFill>
                <a:latin typeface="Aptos" panose="020B0004020202020204" pitchFamily="34" charset="0"/>
              </a:rPr>
              <a:t>Avance em pequenas etapas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C8083A9-5846-EE47-7FF2-703C39E90A41}"/>
              </a:ext>
            </a:extLst>
          </p:cNvPr>
          <p:cNvSpPr txBox="1"/>
          <p:nvPr/>
        </p:nvSpPr>
        <p:spPr>
          <a:xfrm>
            <a:off x="1181100" y="5156200"/>
            <a:ext cx="37846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50">
                <a:solidFill>
                  <a:srgbClr val="7D8093"/>
                </a:solidFill>
                <a:latin typeface="Aptos" panose="020B0004020202020204" pitchFamily="34" charset="0"/>
              </a:rPr>
              <a:t>Checklist, progresso e XP por ações reais.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8F5C21C7-4F6D-03DD-2366-ECAFA3F9B7AE}"/>
              </a:ext>
            </a:extLst>
          </p:cNvPr>
          <p:cNvSpPr/>
          <p:nvPr/>
        </p:nvSpPr>
        <p:spPr>
          <a:xfrm>
            <a:off x="622300" y="5562600"/>
            <a:ext cx="393700" cy="393700"/>
          </a:xfrm>
          <a:prstGeom prst="roundRect">
            <a:avLst>
              <a:gd name="adj" fmla="val 13000"/>
            </a:avLst>
          </a:prstGeom>
          <a:solidFill>
            <a:srgbClr val="ECE7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D7D0B01-B0EA-4235-0577-4C04E293C7CC}"/>
              </a:ext>
            </a:extLst>
          </p:cNvPr>
          <p:cNvSpPr txBox="1"/>
          <p:nvPr/>
        </p:nvSpPr>
        <p:spPr>
          <a:xfrm>
            <a:off x="685800" y="5651500"/>
            <a:ext cx="2921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>
                <a:solidFill>
                  <a:srgbClr val="7660D3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5665BF6-7890-E233-E566-07B6C318F7C4}"/>
              </a:ext>
            </a:extLst>
          </p:cNvPr>
          <p:cNvSpPr txBox="1"/>
          <p:nvPr/>
        </p:nvSpPr>
        <p:spPr>
          <a:xfrm>
            <a:off x="1181100" y="5549900"/>
            <a:ext cx="37338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500" b="1">
                <a:solidFill>
                  <a:srgbClr val="273047"/>
                </a:solidFill>
                <a:latin typeface="Aptos" panose="020B0004020202020204" pitchFamily="34" charset="0"/>
              </a:rPr>
              <a:t>Continue mesmo sem internet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DE53A5B-C290-53CD-302D-81CE8B60A0CC}"/>
              </a:ext>
            </a:extLst>
          </p:cNvPr>
          <p:cNvSpPr txBox="1"/>
          <p:nvPr/>
        </p:nvSpPr>
        <p:spPr>
          <a:xfrm>
            <a:off x="1181100" y="5854700"/>
            <a:ext cx="37846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50">
                <a:solidFill>
                  <a:srgbClr val="7D8093"/>
                </a:solidFill>
                <a:latin typeface="Aptos" panose="020B0004020202020204" pitchFamily="34" charset="0"/>
              </a:rPr>
              <a:t>Planejamento e progresso salvos localmente.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ED0D24EB-7F2D-B93C-C938-E6BC348123B1}"/>
              </a:ext>
            </a:extLst>
          </p:cNvPr>
          <p:cNvSpPr txBox="1"/>
          <p:nvPr/>
        </p:nvSpPr>
        <p:spPr>
          <a:xfrm>
            <a:off x="5461000" y="558800"/>
            <a:ext cx="6032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>
                <a:solidFill>
                  <a:srgbClr val="7660D3"/>
                </a:solidFill>
                <a:latin typeface="Aptos" panose="020B0004020202020204" pitchFamily="34" charset="0"/>
              </a:rPr>
              <a:t>SUA JORNADA ACADÊMICA, ORGANIZADA.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9307AA6E-C8F7-016E-69A4-24DB1C50A251}"/>
              </a:ext>
            </a:extLst>
          </p:cNvPr>
          <p:cNvSpPr txBox="1"/>
          <p:nvPr/>
        </p:nvSpPr>
        <p:spPr>
          <a:xfrm>
            <a:off x="5461000" y="990600"/>
            <a:ext cx="5842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b="1">
                <a:solidFill>
                  <a:srgbClr val="353047"/>
                </a:solidFill>
                <a:latin typeface="Aptos" panose="020B0004020202020204" pitchFamily="34" charset="0"/>
              </a:rPr>
              <a:t>Professor publica. Aluno executa.
A Trilha mostra a evolução.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8BA8A9CB-BAD0-AF39-1813-14AC70226A89}"/>
              </a:ext>
            </a:extLst>
          </p:cNvPr>
          <p:cNvSpPr txBox="1"/>
          <p:nvPr/>
        </p:nvSpPr>
        <p:spPr>
          <a:xfrm>
            <a:off x="5461000" y="1600200"/>
            <a:ext cx="57658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 b="1">
                <a:solidFill>
                  <a:srgbClr val="9687B6"/>
                </a:solidFill>
                <a:latin typeface="Aptos" panose="020B0004020202020204" pitchFamily="34" charset="0"/>
              </a:rPr>
              <a:t>INTERFACE REAL · DESKTOP + MOBILE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94985810-FB77-1ADE-7150-C6985ED8F3AF}"/>
              </a:ext>
            </a:extLst>
          </p:cNvPr>
          <p:cNvSpPr/>
          <p:nvPr/>
        </p:nvSpPr>
        <p:spPr>
          <a:xfrm>
            <a:off x="5372100" y="1905000"/>
            <a:ext cx="6210300" cy="45339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 cap="flat" cmpd="sng" algn="ctr">
            <a:solidFill>
              <a:srgbClr val="DFD7EF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2BC0FB7F-BA19-08DE-484B-1B30C2718F9C}"/>
              </a:ext>
            </a:extLst>
          </p:cNvPr>
          <p:cNvSpPr/>
          <p:nvPr/>
        </p:nvSpPr>
        <p:spPr>
          <a:xfrm>
            <a:off x="5384800" y="1917700"/>
            <a:ext cx="6184900" cy="228600"/>
          </a:xfrm>
          <a:prstGeom prst="rect">
            <a:avLst/>
          </a:prstGeom>
          <a:solidFill>
            <a:srgbClr val="FAF8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4D311320-AF7C-503E-A812-D2D9DC564AF7}"/>
              </a:ext>
            </a:extLst>
          </p:cNvPr>
          <p:cNvSpPr/>
          <p:nvPr/>
        </p:nvSpPr>
        <p:spPr>
          <a:xfrm>
            <a:off x="5511800" y="1993900"/>
            <a:ext cx="50800" cy="50800"/>
          </a:xfrm>
          <a:prstGeom prst="ellipse">
            <a:avLst/>
          </a:prstGeom>
          <a:solidFill>
            <a:srgbClr val="C8B9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784E57A5-1700-E35B-3316-C555EDC7CD91}"/>
              </a:ext>
            </a:extLst>
          </p:cNvPr>
          <p:cNvSpPr/>
          <p:nvPr/>
        </p:nvSpPr>
        <p:spPr>
          <a:xfrm>
            <a:off x="5638800" y="1993900"/>
            <a:ext cx="50800" cy="50800"/>
          </a:xfrm>
          <a:prstGeom prst="ellipse">
            <a:avLst/>
          </a:prstGeom>
          <a:solidFill>
            <a:srgbClr val="C8B9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0CB94428-57F4-7967-0AB9-1B87760EABEB}"/>
              </a:ext>
            </a:extLst>
          </p:cNvPr>
          <p:cNvSpPr/>
          <p:nvPr/>
        </p:nvSpPr>
        <p:spPr>
          <a:xfrm>
            <a:off x="5765800" y="1993900"/>
            <a:ext cx="50800" cy="50800"/>
          </a:xfrm>
          <a:prstGeom prst="ellipse">
            <a:avLst/>
          </a:prstGeom>
          <a:solidFill>
            <a:srgbClr val="C8B9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FB6BECDC-DF09-A78D-EF45-87E70B2C89C9}"/>
              </a:ext>
            </a:extLst>
          </p:cNvPr>
          <p:cNvSpPr txBox="1"/>
          <p:nvPr/>
        </p:nvSpPr>
        <p:spPr>
          <a:xfrm>
            <a:off x="6858000" y="1968500"/>
            <a:ext cx="3390900" cy="923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600">
                <a:solidFill>
                  <a:srgbClr val="968BA8"/>
                </a:solidFill>
                <a:latin typeface="Aptos" panose="020B0004020202020204" pitchFamily="34" charset="0"/>
              </a:rPr>
              <a:t>trilha · ambiente de demonstração</a:t>
            </a:r>
          </a:p>
        </p:txBody>
      </p:sp>
      <p:pic>
        <p:nvPicPr>
          <p:cNvPr id="31" name="Imagem 30" descr="Captura real da Trilha no desktop: próximo passo, atividades pendentes, prazos e evolução por XP.">
            <a:extLst>
              <a:ext uri="{FF2B5EF4-FFF2-40B4-BE49-F238E27FC236}">
                <a16:creationId xmlns:a16="http://schemas.microsoft.com/office/drawing/2014/main" id="{ECC94F8F-31C8-16D3-DFE4-DCB052F2C88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8300" y="2197100"/>
            <a:ext cx="6057900" cy="4165600"/>
          </a:xfrm>
          <a:prstGeom prst="rect">
            <a:avLst/>
          </a:prstGeom>
        </p:spPr>
      </p:pic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5D922248-ABC5-A9DA-85A1-A3546029A917}"/>
              </a:ext>
            </a:extLst>
          </p:cNvPr>
          <p:cNvSpPr/>
          <p:nvPr/>
        </p:nvSpPr>
        <p:spPr>
          <a:xfrm>
            <a:off x="9969500" y="2844800"/>
            <a:ext cx="1651000" cy="3505200"/>
          </a:xfrm>
          <a:prstGeom prst="roundRect">
            <a:avLst>
              <a:gd name="adj" fmla="val 13000"/>
            </a:avLst>
          </a:prstGeom>
          <a:solidFill>
            <a:srgbClr val="2F2942"/>
          </a:solidFill>
          <a:ln w="19050" cap="flat" cmpd="sng" algn="ctr">
            <a:noFill/>
            <a:prstDash val="solid"/>
            <a:miter lim="800000"/>
          </a:ln>
          <a:effectLst>
            <a:outerShdw blurRad="177800" dist="99190" dir="7788330" rotWithShape="0">
              <a:scrgbClr r="0" g="0" b="0">
                <a:alpha val="22000"/>
              </a:sc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4" name="Imagem 33" descr="Captura real da interface mobile: ação Meu próximo passo e indicadores acadêmicos.">
            <a:extLst>
              <a:ext uri="{FF2B5EF4-FFF2-40B4-BE49-F238E27FC236}">
                <a16:creationId xmlns:a16="http://schemas.microsoft.com/office/drawing/2014/main" id="{D7E2E867-F572-093D-A003-611E7691FDAA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5700" y="3022600"/>
            <a:ext cx="1498600" cy="3243580"/>
          </a:xfrm>
          <a:prstGeom prst="rect">
            <a:avLst/>
          </a:prstGeom>
        </p:spPr>
      </p:pic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AA58EC85-648F-5378-25CB-FCF9773AFE37}"/>
              </a:ext>
            </a:extLst>
          </p:cNvPr>
          <p:cNvSpPr/>
          <p:nvPr/>
        </p:nvSpPr>
        <p:spPr>
          <a:xfrm>
            <a:off x="10502900" y="2908300"/>
            <a:ext cx="571500" cy="38100"/>
          </a:xfrm>
          <a:prstGeom prst="roundRect">
            <a:avLst>
              <a:gd name="adj" fmla="val 13000"/>
            </a:avLst>
          </a:prstGeom>
          <a:solidFill>
            <a:srgbClr val="70667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41003AB0-983B-F058-55AE-3566A1317F5D}"/>
              </a:ext>
            </a:extLst>
          </p:cNvPr>
          <p:cNvSpPr txBox="1"/>
          <p:nvPr/>
        </p:nvSpPr>
        <p:spPr>
          <a:xfrm>
            <a:off x="622300" y="6477000"/>
            <a:ext cx="4318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 b="1">
                <a:solidFill>
                  <a:srgbClr val="9D97AD"/>
                </a:solidFill>
                <a:latin typeface="Aptos" panose="020B0004020202020204" pitchFamily="34" charset="0"/>
              </a:rPr>
              <a:t>PITCH · PROTÓTIPO FUNCIONAL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C8F9481B-96CB-AE98-7721-69518677AB42}"/>
              </a:ext>
            </a:extLst>
          </p:cNvPr>
          <p:cNvSpPr txBox="1"/>
          <p:nvPr/>
        </p:nvSpPr>
        <p:spPr>
          <a:xfrm>
            <a:off x="5461000" y="6565900"/>
            <a:ext cx="61468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8D80A4"/>
                </a:solidFill>
                <a:latin typeface="Aptos" panose="020B0004020202020204" pitchFamily="34" charset="0"/>
              </a:rPr>
              <a:t>Dados locais • perfis demonstrativos • sem serviços externos</a:t>
            </a:r>
          </a:p>
        </p:txBody>
      </p:sp>
    </p:spTree>
    <p:extLst>
      <p:ext uri="{BB962C8B-B14F-4D97-AF65-F5344CB8AC3E}">
        <p14:creationId xmlns:p14="http://schemas.microsoft.com/office/powerpoint/2010/main" val="1865557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2DE7EC2-9969-A2A0-E806-CEAC247B0B04}"/>
              </a:ext>
            </a:extLst>
          </p:cNvPr>
          <p:cNvSpPr/>
          <p:nvPr/>
        </p:nvSpPr>
        <p:spPr>
          <a:xfrm>
            <a:off x="609600" y="406400"/>
            <a:ext cx="63500" cy="254000"/>
          </a:xfrm>
          <a:prstGeom prst="rect">
            <a:avLst/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2F5BAEF-B623-FA84-9771-A2E5D4FAB2BA}"/>
              </a:ext>
            </a:extLst>
          </p:cNvPr>
          <p:cNvSpPr txBox="1"/>
          <p:nvPr/>
        </p:nvSpPr>
        <p:spPr>
          <a:xfrm>
            <a:off x="812800" y="431800"/>
            <a:ext cx="1022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ETAPA 1 · ENTENDER ANTES DE CRIAR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4E6A25-57A0-C7B3-DF39-40C93EF21540}"/>
              </a:ext>
            </a:extLst>
          </p:cNvPr>
          <p:cNvSpPr txBox="1"/>
          <p:nvPr/>
        </p:nvSpPr>
        <p:spPr>
          <a:xfrm>
            <a:off x="609600" y="889000"/>
            <a:ext cx="109855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900" b="1">
                <a:solidFill>
                  <a:srgbClr val="273047"/>
                </a:solidFill>
                <a:latin typeface="Aptos" panose="020B0004020202020204" pitchFamily="34" charset="0"/>
              </a:rPr>
              <a:t>Mais uma agenda resolveria o problema?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D34F3F2-6DD0-27F7-E962-53D91F6B90DD}"/>
              </a:ext>
            </a:extLst>
          </p:cNvPr>
          <p:cNvSpPr txBox="1"/>
          <p:nvPr/>
        </p:nvSpPr>
        <p:spPr>
          <a:xfrm>
            <a:off x="609600" y="1816100"/>
            <a:ext cx="10998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7B7F93"/>
                </a:solidFill>
                <a:latin typeface="Aptos" panose="020B0004020202020204" pitchFamily="34" charset="0"/>
              </a:rPr>
              <a:t>A escola percebe atrasos em trabalhos, avaliações, atividades e projetos.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83F00AE-5522-0B71-53DC-B2FCD5E9CB5A}"/>
              </a:ext>
            </a:extLst>
          </p:cNvPr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E2DF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9A455F5-91C8-3146-06EA-7451F9D28376}"/>
              </a:ext>
            </a:extLst>
          </p:cNvPr>
          <p:cNvSpPr txBox="1"/>
          <p:nvPr/>
        </p:nvSpPr>
        <p:spPr>
          <a:xfrm>
            <a:off x="609600" y="65532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9690A5"/>
                </a:solidFill>
                <a:latin typeface="Aptos" panose="020B0004020202020204" pitchFamily="34" charset="0"/>
              </a:rPr>
              <a:t>Fonte: Etapa 1 + situação-problema original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29DDCA9-4F22-3F58-2D17-1839167E5F68}"/>
              </a:ext>
            </a:extLst>
          </p:cNvPr>
          <p:cNvSpPr txBox="1"/>
          <p:nvPr/>
        </p:nvSpPr>
        <p:spPr>
          <a:xfrm>
            <a:off x="10896600" y="65151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02 / 05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D2C10AFE-2AFF-7AD5-BDBB-FE410C115B4E}"/>
              </a:ext>
            </a:extLst>
          </p:cNvPr>
          <p:cNvSpPr/>
          <p:nvPr/>
        </p:nvSpPr>
        <p:spPr>
          <a:xfrm>
            <a:off x="609600" y="2476500"/>
            <a:ext cx="3522133" cy="375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1E2A1A5-2CE2-6C17-0389-0097C2D8A325}"/>
              </a:ext>
            </a:extLst>
          </p:cNvPr>
          <p:cNvSpPr txBox="1"/>
          <p:nvPr/>
        </p:nvSpPr>
        <p:spPr>
          <a:xfrm>
            <a:off x="838200" y="2717800"/>
            <a:ext cx="3064933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 b="1">
                <a:solidFill>
                  <a:srgbClr val="6550B5"/>
                </a:solidFill>
                <a:latin typeface="Aptos" panose="020B0004020202020204" pitchFamily="34" charset="0"/>
              </a:rPr>
              <a:t>A situação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7A63D51-8F0F-60A2-3A6E-2988CF7C4FB2}"/>
              </a:ext>
            </a:extLst>
          </p:cNvPr>
          <p:cNvSpPr txBox="1"/>
          <p:nvPr/>
        </p:nvSpPr>
        <p:spPr>
          <a:xfrm>
            <a:off x="838200" y="3390900"/>
            <a:ext cx="3064933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>
                <a:solidFill>
                  <a:srgbClr val="626A80"/>
                </a:solidFill>
                <a:latin typeface="Aptos" panose="020B0004020202020204" pitchFamily="34" charset="0"/>
              </a:rPr>
              <a:t>Os alunos já consultam agendas, calendários, grupos de mensagens e sistemas acadêmicos.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26349726-03C0-F55A-EC7E-04207416A79D}"/>
              </a:ext>
            </a:extLst>
          </p:cNvPr>
          <p:cNvSpPr/>
          <p:nvPr/>
        </p:nvSpPr>
        <p:spPr>
          <a:xfrm>
            <a:off x="4334933" y="2476500"/>
            <a:ext cx="3522134" cy="375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A0AF466-0D18-26CF-F518-7F283C63924F}"/>
              </a:ext>
            </a:extLst>
          </p:cNvPr>
          <p:cNvSpPr txBox="1"/>
          <p:nvPr/>
        </p:nvSpPr>
        <p:spPr>
          <a:xfrm>
            <a:off x="4563533" y="2717800"/>
            <a:ext cx="3064933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 b="1">
                <a:solidFill>
                  <a:srgbClr val="6550B5"/>
                </a:solidFill>
                <a:latin typeface="Aptos" panose="020B0004020202020204" pitchFamily="34" charset="0"/>
              </a:rPr>
              <a:t>O desafio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2AC753A-4BCE-E12F-B485-8FF5470DE46A}"/>
              </a:ext>
            </a:extLst>
          </p:cNvPr>
          <p:cNvSpPr txBox="1"/>
          <p:nvPr/>
        </p:nvSpPr>
        <p:spPr>
          <a:xfrm>
            <a:off x="4563533" y="3390900"/>
            <a:ext cx="3064933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>
                <a:solidFill>
                  <a:srgbClr val="626A80"/>
                </a:solidFill>
                <a:latin typeface="Aptos" panose="020B0004020202020204" pitchFamily="34" charset="0"/>
              </a:rPr>
              <a:t>Mesmo com essas ferramentas, continuam esquecendo ou adiando responsabilidades.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FCD0D3CF-F51D-5B3A-3DE0-C1C3C591D64D}"/>
              </a:ext>
            </a:extLst>
          </p:cNvPr>
          <p:cNvSpPr/>
          <p:nvPr/>
        </p:nvSpPr>
        <p:spPr>
          <a:xfrm>
            <a:off x="8060267" y="2476500"/>
            <a:ext cx="3522133" cy="375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968A091B-30AC-C784-3025-9BF1220FAD09}"/>
              </a:ext>
            </a:extLst>
          </p:cNvPr>
          <p:cNvSpPr txBox="1"/>
          <p:nvPr/>
        </p:nvSpPr>
        <p:spPr>
          <a:xfrm>
            <a:off x="8288867" y="2717800"/>
            <a:ext cx="3064933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 b="1">
                <a:solidFill>
                  <a:srgbClr val="6550B5"/>
                </a:solidFill>
                <a:latin typeface="Aptos" panose="020B0004020202020204" pitchFamily="34" charset="0"/>
              </a:rPr>
              <a:t>A pergunta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6BAFA0F-A629-7E49-6499-3E1E95A401A9}"/>
              </a:ext>
            </a:extLst>
          </p:cNvPr>
          <p:cNvSpPr txBox="1"/>
          <p:nvPr/>
        </p:nvSpPr>
        <p:spPr>
          <a:xfrm>
            <a:off x="8288867" y="3390900"/>
            <a:ext cx="3064933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>
                <a:solidFill>
                  <a:srgbClr val="626A80"/>
                </a:solidFill>
                <a:latin typeface="Aptos" panose="020B0004020202020204" pitchFamily="34" charset="0"/>
              </a:rPr>
              <a:t>Como ajudar a compreender, priorizar e concluir tarefas com conexão limitada?</a:t>
            </a:r>
          </a:p>
        </p:txBody>
      </p:sp>
    </p:spTree>
    <p:extLst>
      <p:ext uri="{BB962C8B-B14F-4D97-AF65-F5344CB8AC3E}">
        <p14:creationId xmlns:p14="http://schemas.microsoft.com/office/powerpoint/2010/main" val="3423634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D998036-075B-1668-1CE8-2FD2C1228BB0}"/>
              </a:ext>
            </a:extLst>
          </p:cNvPr>
          <p:cNvSpPr/>
          <p:nvPr/>
        </p:nvSpPr>
        <p:spPr>
          <a:xfrm>
            <a:off x="609600" y="406400"/>
            <a:ext cx="63500" cy="254000"/>
          </a:xfrm>
          <a:prstGeom prst="rect">
            <a:avLst/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CCAE700-6C4E-1930-2087-1A5A1A2A5D06}"/>
              </a:ext>
            </a:extLst>
          </p:cNvPr>
          <p:cNvSpPr txBox="1"/>
          <p:nvPr/>
        </p:nvSpPr>
        <p:spPr>
          <a:xfrm>
            <a:off x="812800" y="431800"/>
            <a:ext cx="1022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ETAPA 6 · TELA 2 · ATIVIDADE E ETAPAS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6B801C9-0835-0D5B-ECF3-ABE2D2EAAD38}"/>
              </a:ext>
            </a:extLst>
          </p:cNvPr>
          <p:cNvSpPr txBox="1"/>
          <p:nvPr/>
        </p:nvSpPr>
        <p:spPr>
          <a:xfrm>
            <a:off x="609600" y="889000"/>
            <a:ext cx="109855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900" b="1">
                <a:solidFill>
                  <a:srgbClr val="273047"/>
                </a:solidFill>
                <a:latin typeface="Aptos" panose="020B0004020202020204" pitchFamily="34" charset="0"/>
              </a:rPr>
              <a:t>Transformar um trabalho longo em ações possíveis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98C39D3-3BF6-9095-0817-1CA070C3C470}"/>
              </a:ext>
            </a:extLst>
          </p:cNvPr>
          <p:cNvSpPr txBox="1"/>
          <p:nvPr/>
        </p:nvSpPr>
        <p:spPr>
          <a:xfrm>
            <a:off x="609600" y="1816100"/>
            <a:ext cx="10998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7B7F93"/>
                </a:solidFill>
                <a:latin typeface="Aptos" panose="020B0004020202020204" pitchFamily="34" charset="0"/>
              </a:rPr>
              <a:t>Instruções, prazo oficial, esforço e progresso no mesmo painel.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FE0C937-9B75-1D89-9877-6C2B3B866CDE}"/>
              </a:ext>
            </a:extLst>
          </p:cNvPr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E2DF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919A074-8089-27BC-FD09-9EDD71833D6C}"/>
              </a:ext>
            </a:extLst>
          </p:cNvPr>
          <p:cNvSpPr txBox="1"/>
          <p:nvPr/>
        </p:nvSpPr>
        <p:spPr>
          <a:xfrm>
            <a:off x="609600" y="65532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9690A5"/>
                </a:solidFill>
                <a:latin typeface="Aptos" panose="020B0004020202020204" pitchFamily="34" charset="0"/>
              </a:rPr>
              <a:t>Fonte: Etapa 6 · Tela recomendada 3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20B8CB1-8BF8-D225-2D35-88DC9775EEEE}"/>
              </a:ext>
            </a:extLst>
          </p:cNvPr>
          <p:cNvSpPr txBox="1"/>
          <p:nvPr/>
        </p:nvSpPr>
        <p:spPr>
          <a:xfrm>
            <a:off x="10896600" y="65151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03 / 05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4DB15A3-79D5-DE35-64FE-426C0301F47D}"/>
              </a:ext>
            </a:extLst>
          </p:cNvPr>
          <p:cNvSpPr/>
          <p:nvPr/>
        </p:nvSpPr>
        <p:spPr>
          <a:xfrm>
            <a:off x="609600" y="25273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60029DC-2D07-C736-5BE8-FF9C2A782A58}"/>
              </a:ext>
            </a:extLst>
          </p:cNvPr>
          <p:cNvSpPr txBox="1"/>
          <p:nvPr/>
        </p:nvSpPr>
        <p:spPr>
          <a:xfrm>
            <a:off x="838200" y="25019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Consultar e planejar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B989C72-7036-3D72-5C50-4AD503CB6E60}"/>
              </a:ext>
            </a:extLst>
          </p:cNvPr>
          <p:cNvSpPr txBox="1"/>
          <p:nvPr/>
        </p:nvSpPr>
        <p:spPr>
          <a:xfrm>
            <a:off x="838200" y="3009900"/>
            <a:ext cx="31496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Descrição, disciplina, docente e prazo.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676B65A-3B90-E9F6-6FB9-C0666EB7A06C}"/>
              </a:ext>
            </a:extLst>
          </p:cNvPr>
          <p:cNvSpPr/>
          <p:nvPr/>
        </p:nvSpPr>
        <p:spPr>
          <a:xfrm>
            <a:off x="609600" y="37338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9162011-1EE8-D541-C72A-A5FD0D39B5BC}"/>
              </a:ext>
            </a:extLst>
          </p:cNvPr>
          <p:cNvSpPr txBox="1"/>
          <p:nvPr/>
        </p:nvSpPr>
        <p:spPr>
          <a:xfrm>
            <a:off x="838200" y="37084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Personalizar a trilha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34D77AA-E83B-D305-C246-F346DFD998C4}"/>
              </a:ext>
            </a:extLst>
          </p:cNvPr>
          <p:cNvSpPr txBox="1"/>
          <p:nvPr/>
        </p:nvSpPr>
        <p:spPr>
          <a:xfrm>
            <a:off x="838200" y="4216400"/>
            <a:ext cx="31496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Adicionar etapas e reorganizar sua ordem.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32D9035-A2D8-8361-28F7-CC0960982E52}"/>
              </a:ext>
            </a:extLst>
          </p:cNvPr>
          <p:cNvSpPr/>
          <p:nvPr/>
        </p:nvSpPr>
        <p:spPr>
          <a:xfrm>
            <a:off x="609600" y="49403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5D693469-0B7D-4367-5A64-ACA372E249A4}"/>
              </a:ext>
            </a:extLst>
          </p:cNvPr>
          <p:cNvSpPr txBox="1"/>
          <p:nvPr/>
        </p:nvSpPr>
        <p:spPr>
          <a:xfrm>
            <a:off x="838200" y="49149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Registrar e acompanhar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5430BA7-D3AD-B9BB-467B-A301EF1243FB}"/>
              </a:ext>
            </a:extLst>
          </p:cNvPr>
          <p:cNvSpPr txBox="1"/>
          <p:nvPr/>
        </p:nvSpPr>
        <p:spPr>
          <a:xfrm>
            <a:off x="838200" y="5422900"/>
            <a:ext cx="31496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Concluir, desfazer, observar percentual e solicitar prorrogação.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0BF88F30-1E63-C860-BA2B-62209D075B81}"/>
              </a:ext>
            </a:extLst>
          </p:cNvPr>
          <p:cNvSpPr/>
          <p:nvPr/>
        </p:nvSpPr>
        <p:spPr>
          <a:xfrm>
            <a:off x="4241800" y="2463800"/>
            <a:ext cx="7340600" cy="3771900"/>
          </a:xfrm>
          <a:prstGeom prst="roundRect">
            <a:avLst>
              <a:gd name="adj" fmla="val 6000"/>
            </a:avLst>
          </a:prstGeom>
          <a:solidFill>
            <a:srgbClr val="EDE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49A1AC1E-959D-E4C4-A9E9-E1D0DCDD4D81}"/>
              </a:ext>
            </a:extLst>
          </p:cNvPr>
          <p:cNvSpPr/>
          <p:nvPr/>
        </p:nvSpPr>
        <p:spPr>
          <a:xfrm>
            <a:off x="5447145" y="2527300"/>
            <a:ext cx="492991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1" name="Imagem 20" descr="Detalhe da atividade com checklist funcional">
            <a:extLst>
              <a:ext uri="{FF2B5EF4-FFF2-40B4-BE49-F238E27FC236}">
                <a16:creationId xmlns:a16="http://schemas.microsoft.com/office/drawing/2014/main" id="{52274FDC-D1BA-5CF7-72F0-474417B2E0F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0645" y="2590800"/>
            <a:ext cx="4802909" cy="3302000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08576976-E8D5-9B25-8866-3003CD8846A4}"/>
              </a:ext>
            </a:extLst>
          </p:cNvPr>
          <p:cNvSpPr txBox="1"/>
          <p:nvPr/>
        </p:nvSpPr>
        <p:spPr>
          <a:xfrm>
            <a:off x="4470400" y="5994400"/>
            <a:ext cx="68961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8B7CA6"/>
                </a:solidFill>
                <a:latin typeface="Aptos" panose="020B0004020202020204" pitchFamily="34" charset="0"/>
              </a:rPr>
              <a:t>Detalhe da atividade com checklist funcional</a:t>
            </a:r>
          </a:p>
        </p:txBody>
      </p:sp>
    </p:spTree>
    <p:extLst>
      <p:ext uri="{BB962C8B-B14F-4D97-AF65-F5344CB8AC3E}">
        <p14:creationId xmlns:p14="http://schemas.microsoft.com/office/powerpoint/2010/main" val="2139815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8216476-F923-995F-6F0E-C27F1D483EE2}"/>
              </a:ext>
            </a:extLst>
          </p:cNvPr>
          <p:cNvSpPr/>
          <p:nvPr/>
        </p:nvSpPr>
        <p:spPr>
          <a:xfrm>
            <a:off x="609600" y="406400"/>
            <a:ext cx="63500" cy="254000"/>
          </a:xfrm>
          <a:prstGeom prst="rect">
            <a:avLst/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A859B6C-C404-B82C-F322-EACC17716C05}"/>
              </a:ext>
            </a:extLst>
          </p:cNvPr>
          <p:cNvSpPr txBox="1"/>
          <p:nvPr/>
        </p:nvSpPr>
        <p:spPr>
          <a:xfrm>
            <a:off x="812800" y="431800"/>
            <a:ext cx="1022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ETAPA 2 · TRÊS DIFERENCIAIS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6CFBCA9-CE85-6644-758F-2C506FD4FF86}"/>
              </a:ext>
            </a:extLst>
          </p:cNvPr>
          <p:cNvSpPr txBox="1"/>
          <p:nvPr/>
        </p:nvSpPr>
        <p:spPr>
          <a:xfrm>
            <a:off x="609600" y="889000"/>
            <a:ext cx="109855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900" b="1">
                <a:solidFill>
                  <a:srgbClr val="273047"/>
                </a:solidFill>
                <a:latin typeface="Aptos" panose="020B0004020202020204" pitchFamily="34" charset="0"/>
              </a:rPr>
              <a:t>Da lista de prazos à execução guiada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8BBD76B-B04C-6D9C-2A4C-54E597BEC04F}"/>
              </a:ext>
            </a:extLst>
          </p:cNvPr>
          <p:cNvSpPr txBox="1"/>
          <p:nvPr/>
        </p:nvSpPr>
        <p:spPr>
          <a:xfrm>
            <a:off x="609600" y="1816100"/>
            <a:ext cx="10998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7B7F93"/>
                </a:solidFill>
                <a:latin typeface="Aptos" panose="020B0004020202020204" pitchFamily="34" charset="0"/>
              </a:rPr>
              <a:t>Priorizar, executar e continuar: o essencial para a rotina do aluno.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3D2827E-6A10-9DC9-0394-7D66846C0B90}"/>
              </a:ext>
            </a:extLst>
          </p:cNvPr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E2DF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4F643E5-1E7F-8763-0AC2-C739144E6054}"/>
              </a:ext>
            </a:extLst>
          </p:cNvPr>
          <p:cNvSpPr txBox="1"/>
          <p:nvPr/>
        </p:nvSpPr>
        <p:spPr>
          <a:xfrm>
            <a:off x="609600" y="65532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9690A5"/>
                </a:solidFill>
                <a:latin typeface="Aptos" panose="020B0004020202020204" pitchFamily="34" charset="0"/>
              </a:rPr>
              <a:t>Fonte: Etapas 2 e 3 · diferenciais e restrições do documento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F0D95EA-2FD2-3154-895D-6D5FFE6CDC8D}"/>
              </a:ext>
            </a:extLst>
          </p:cNvPr>
          <p:cNvSpPr txBox="1"/>
          <p:nvPr/>
        </p:nvSpPr>
        <p:spPr>
          <a:xfrm>
            <a:off x="10896600" y="65151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04 / 05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809D46C2-0A80-12C5-54EF-D93B529809DD}"/>
              </a:ext>
            </a:extLst>
          </p:cNvPr>
          <p:cNvSpPr/>
          <p:nvPr/>
        </p:nvSpPr>
        <p:spPr>
          <a:xfrm>
            <a:off x="609600" y="2476500"/>
            <a:ext cx="3522133" cy="375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6953C8A-E0AA-38CF-D538-EEAA1AD7B77B}"/>
              </a:ext>
            </a:extLst>
          </p:cNvPr>
          <p:cNvSpPr txBox="1"/>
          <p:nvPr/>
        </p:nvSpPr>
        <p:spPr>
          <a:xfrm>
            <a:off x="838200" y="2717800"/>
            <a:ext cx="3064933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 b="1">
                <a:solidFill>
                  <a:srgbClr val="6550B5"/>
                </a:solidFill>
                <a:latin typeface="Aptos" panose="020B0004020202020204" pitchFamily="34" charset="0"/>
              </a:rPr>
              <a:t>Prioridade explicável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84640C8-A087-226D-C943-E5D648584AA6}"/>
              </a:ext>
            </a:extLst>
          </p:cNvPr>
          <p:cNvSpPr txBox="1"/>
          <p:nvPr/>
        </p:nvSpPr>
        <p:spPr>
          <a:xfrm>
            <a:off x="838200" y="3390900"/>
            <a:ext cx="3064933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>
                <a:solidFill>
                  <a:srgbClr val="626A80"/>
                </a:solidFill>
                <a:latin typeface="Aptos" panose="020B0004020202020204" pitchFamily="34" charset="0"/>
              </a:rPr>
              <a:t>Mostra urgência e motivo: prazo, esforço e quantidade de etapas pendentes.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86C4FF45-E9C7-D41B-36E9-0B2516B76644}"/>
              </a:ext>
            </a:extLst>
          </p:cNvPr>
          <p:cNvSpPr/>
          <p:nvPr/>
        </p:nvSpPr>
        <p:spPr>
          <a:xfrm>
            <a:off x="4334933" y="2476500"/>
            <a:ext cx="3522134" cy="375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6F5AF96-E9BA-8354-9835-5D38B55E0A23}"/>
              </a:ext>
            </a:extLst>
          </p:cNvPr>
          <p:cNvSpPr txBox="1"/>
          <p:nvPr/>
        </p:nvSpPr>
        <p:spPr>
          <a:xfrm>
            <a:off x="4563533" y="2717800"/>
            <a:ext cx="3064933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 b="1">
                <a:solidFill>
                  <a:srgbClr val="6550B5"/>
                </a:solidFill>
                <a:latin typeface="Aptos" panose="020B0004020202020204" pitchFamily="34" charset="0"/>
              </a:rPr>
              <a:t>Etapas e recuperação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EE9934B-3BC5-1614-2B22-31A95B712689}"/>
              </a:ext>
            </a:extLst>
          </p:cNvPr>
          <p:cNvSpPr txBox="1"/>
          <p:nvPr/>
        </p:nvSpPr>
        <p:spPr>
          <a:xfrm>
            <a:off x="4563533" y="3390900"/>
            <a:ext cx="3064933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>
                <a:solidFill>
                  <a:srgbClr val="626A80"/>
                </a:solidFill>
                <a:latin typeface="Aptos" panose="020B0004020202020204" pitchFamily="34" charset="0"/>
              </a:rPr>
              <a:t>Divide trabalhos em pequenas ações e ajuda a reorganizar pendências.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C09971B4-8387-4F34-8B2E-E2048EEA4850}"/>
              </a:ext>
            </a:extLst>
          </p:cNvPr>
          <p:cNvSpPr/>
          <p:nvPr/>
        </p:nvSpPr>
        <p:spPr>
          <a:xfrm>
            <a:off x="8060267" y="2476500"/>
            <a:ext cx="3522133" cy="375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466F685D-73AC-2682-A759-543423DC5A56}"/>
              </a:ext>
            </a:extLst>
          </p:cNvPr>
          <p:cNvSpPr txBox="1"/>
          <p:nvPr/>
        </p:nvSpPr>
        <p:spPr>
          <a:xfrm>
            <a:off x="8288867" y="2717800"/>
            <a:ext cx="3064933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 b="1">
                <a:solidFill>
                  <a:srgbClr val="6550B5"/>
                </a:solidFill>
                <a:latin typeface="Aptos" panose="020B0004020202020204" pitchFamily="34" charset="0"/>
              </a:rPr>
              <a:t>Continuidade offline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E093C96-8FC1-4C03-5DA3-6B0AC966FB74}"/>
              </a:ext>
            </a:extLst>
          </p:cNvPr>
          <p:cNvSpPr txBox="1"/>
          <p:nvPr/>
        </p:nvSpPr>
        <p:spPr>
          <a:xfrm>
            <a:off x="8288867" y="3390900"/>
            <a:ext cx="3064933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>
                <a:solidFill>
                  <a:srgbClr val="626A80"/>
                </a:solidFill>
                <a:latin typeface="Aptos" panose="020B0004020202020204" pitchFamily="34" charset="0"/>
              </a:rPr>
              <a:t>Mantém dados e progresso no navegador; cache PWA permite recarga sem rede.</a:t>
            </a:r>
          </a:p>
        </p:txBody>
      </p:sp>
    </p:spTree>
    <p:extLst>
      <p:ext uri="{BB962C8B-B14F-4D97-AF65-F5344CB8AC3E}">
        <p14:creationId xmlns:p14="http://schemas.microsoft.com/office/powerpoint/2010/main" val="2913604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12E4DB3-8BA3-05D3-2970-31D37364D595}"/>
              </a:ext>
            </a:extLst>
          </p:cNvPr>
          <p:cNvSpPr/>
          <p:nvPr/>
        </p:nvSpPr>
        <p:spPr>
          <a:xfrm>
            <a:off x="609600" y="406400"/>
            <a:ext cx="63500" cy="254000"/>
          </a:xfrm>
          <a:prstGeom prst="rect">
            <a:avLst/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5E23FAF-1A4C-B151-33E7-5CE88303E8BA}"/>
              </a:ext>
            </a:extLst>
          </p:cNvPr>
          <p:cNvSpPr txBox="1"/>
          <p:nvPr/>
        </p:nvSpPr>
        <p:spPr>
          <a:xfrm>
            <a:off x="812800" y="431800"/>
            <a:ext cx="1022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FECHAMENTO · POSICIONAMENTO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9FFCE15-3234-C20A-EF02-C59703A07864}"/>
              </a:ext>
            </a:extLst>
          </p:cNvPr>
          <p:cNvSpPr txBox="1"/>
          <p:nvPr/>
        </p:nvSpPr>
        <p:spPr>
          <a:xfrm>
            <a:off x="609600" y="889000"/>
            <a:ext cx="109855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900" b="1">
                <a:solidFill>
                  <a:srgbClr val="273047"/>
                </a:solidFill>
                <a:latin typeface="Aptos" panose="020B0004020202020204" pitchFamily="34" charset="0"/>
              </a:rPr>
              <a:t>De uma lista de prazos para uma jornada de execução.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DF06325-3638-955E-CA98-C0BB7E1DC3F2}"/>
              </a:ext>
            </a:extLst>
          </p:cNvPr>
          <p:cNvSpPr txBox="1"/>
          <p:nvPr/>
        </p:nvSpPr>
        <p:spPr>
          <a:xfrm>
            <a:off x="609600" y="1816100"/>
            <a:ext cx="10998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7B7F93"/>
                </a:solidFill>
                <a:latin typeface="Aptos" panose="020B0004020202020204" pitchFamily="34" charset="0"/>
              </a:rPr>
              <a:t>Mais do que lembrar prazos, ajudamos você a concluir cada etapa.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B6C33A8-770C-DC6D-F1F4-AB19207C658D}"/>
              </a:ext>
            </a:extLst>
          </p:cNvPr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E2DF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9C2FCFE-C137-1174-7D23-783DCFD43310}"/>
              </a:ext>
            </a:extLst>
          </p:cNvPr>
          <p:cNvSpPr txBox="1"/>
          <p:nvPr/>
        </p:nvSpPr>
        <p:spPr>
          <a:xfrm>
            <a:off x="609600" y="65532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9690A5"/>
                </a:solidFill>
                <a:latin typeface="Aptos" panose="020B0004020202020204" pitchFamily="34" charset="0"/>
              </a:rPr>
              <a:t>Fonte: Síntese do posicionamento do documento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7EF43D6-D08C-E381-8FCD-660AA0569139}"/>
              </a:ext>
            </a:extLst>
          </p:cNvPr>
          <p:cNvSpPr txBox="1"/>
          <p:nvPr/>
        </p:nvSpPr>
        <p:spPr>
          <a:xfrm>
            <a:off x="10896600" y="65151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05 / 05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1B36AA2A-3E1A-3DFE-8912-8E6576F38CD7}"/>
              </a:ext>
            </a:extLst>
          </p:cNvPr>
          <p:cNvSpPr/>
          <p:nvPr/>
        </p:nvSpPr>
        <p:spPr>
          <a:xfrm>
            <a:off x="609600" y="2463800"/>
            <a:ext cx="10972800" cy="2209800"/>
          </a:xfrm>
          <a:prstGeom prst="roundRect">
            <a:avLst>
              <a:gd name="adj" fmla="val 6000"/>
            </a:avLst>
          </a:prstGeom>
          <a:solidFill>
            <a:srgbClr val="EDE7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155218D-86DB-3F48-170E-88CF66C4753A}"/>
              </a:ext>
            </a:extLst>
          </p:cNvPr>
          <p:cNvSpPr txBox="1"/>
          <p:nvPr/>
        </p:nvSpPr>
        <p:spPr>
          <a:xfrm>
            <a:off x="965200" y="2781300"/>
            <a:ext cx="10287000" cy="8617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800" b="1">
                <a:solidFill>
                  <a:srgbClr val="6550B5"/>
                </a:solidFill>
                <a:latin typeface="Aptos" panose="020B0004020202020204" pitchFamily="34" charset="0"/>
              </a:rPr>
              <a:t>Mais do que lembrar prazos, ajudamos você a concluir cada etapa.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9A7C59B-5705-4AA7-6717-F0EC7BAC6629}"/>
              </a:ext>
            </a:extLst>
          </p:cNvPr>
          <p:cNvSpPr txBox="1"/>
          <p:nvPr/>
        </p:nvSpPr>
        <p:spPr>
          <a:xfrm>
            <a:off x="609600" y="5118100"/>
            <a:ext cx="3530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>
                <a:solidFill>
                  <a:srgbClr val="7660D3"/>
                </a:solidFill>
                <a:latin typeface="Aptos" panose="020B0004020202020204" pitchFamily="34" charset="0"/>
              </a:rPr>
              <a:t>CLAREZA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84368B1-CBF5-8A93-8D3B-6CB955C33EE3}"/>
              </a:ext>
            </a:extLst>
          </p:cNvPr>
          <p:cNvSpPr txBox="1"/>
          <p:nvPr/>
        </p:nvSpPr>
        <p:spPr>
          <a:xfrm>
            <a:off x="609600" y="5511800"/>
            <a:ext cx="35306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 b="1">
                <a:solidFill>
                  <a:srgbClr val="273047"/>
                </a:solidFill>
                <a:latin typeface="Aptos" panose="020B0004020202020204" pitchFamily="34" charset="0"/>
              </a:rPr>
              <a:t>Saber por onde começar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9A4B83F-A9EB-2324-43FA-2C4545681190}"/>
              </a:ext>
            </a:extLst>
          </p:cNvPr>
          <p:cNvSpPr txBox="1"/>
          <p:nvPr/>
        </p:nvSpPr>
        <p:spPr>
          <a:xfrm>
            <a:off x="4343400" y="5118100"/>
            <a:ext cx="3530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>
                <a:solidFill>
                  <a:srgbClr val="7660D3"/>
                </a:solidFill>
                <a:latin typeface="Aptos" panose="020B0004020202020204" pitchFamily="34" charset="0"/>
              </a:rPr>
              <a:t>PROGRESSO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F18EF6B-79F3-FC72-FB8D-11BBA27CE27B}"/>
              </a:ext>
            </a:extLst>
          </p:cNvPr>
          <p:cNvSpPr txBox="1"/>
          <p:nvPr/>
        </p:nvSpPr>
        <p:spPr>
          <a:xfrm>
            <a:off x="4343400" y="5511800"/>
            <a:ext cx="35306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 b="1">
                <a:solidFill>
                  <a:srgbClr val="273047"/>
                </a:solidFill>
                <a:latin typeface="Aptos" panose="020B0004020202020204" pitchFamily="34" charset="0"/>
              </a:rPr>
              <a:t>Ver cada etapa avançar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3EEC0B4-58BA-7EFB-A508-A8DF4E248553}"/>
              </a:ext>
            </a:extLst>
          </p:cNvPr>
          <p:cNvSpPr txBox="1"/>
          <p:nvPr/>
        </p:nvSpPr>
        <p:spPr>
          <a:xfrm>
            <a:off x="8077200" y="5118100"/>
            <a:ext cx="3530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>
                <a:solidFill>
                  <a:srgbClr val="7660D3"/>
                </a:solidFill>
                <a:latin typeface="Aptos" panose="020B0004020202020204" pitchFamily="34" charset="0"/>
              </a:rPr>
              <a:t>CONTINUIDADE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9DB9A89-AA14-E3C0-4EAD-BE9CA7C8A044}"/>
              </a:ext>
            </a:extLst>
          </p:cNvPr>
          <p:cNvSpPr txBox="1"/>
          <p:nvPr/>
        </p:nvSpPr>
        <p:spPr>
          <a:xfrm>
            <a:off x="8077200" y="5511800"/>
            <a:ext cx="35306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 b="1">
                <a:solidFill>
                  <a:srgbClr val="273047"/>
                </a:solidFill>
                <a:latin typeface="Aptos" panose="020B0004020202020204" pitchFamily="34" charset="0"/>
              </a:rPr>
              <a:t>Seguir no próprio ritmo</a:t>
            </a:r>
          </a:p>
        </p:txBody>
      </p:sp>
    </p:spTree>
    <p:extLst>
      <p:ext uri="{BB962C8B-B14F-4D97-AF65-F5344CB8AC3E}">
        <p14:creationId xmlns:p14="http://schemas.microsoft.com/office/powerpoint/2010/main" val="34905388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988</Words>
  <Application>Microsoft Office PowerPoint</Application>
  <PresentationFormat>Personalizar</PresentationFormat>
  <Paragraphs>76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Emerson Teodoro</dc:creator>
  <cp:lastModifiedBy>Emerson Teodoro</cp:lastModifiedBy>
  <cp:revision>1</cp:revision>
  <dcterms:created xsi:type="dcterms:W3CDTF">2026-10-09T03:17:22Z</dcterms:created>
  <dcterms:modified xsi:type="dcterms:W3CDTF">2026-10-09T03:17:22Z</dcterms:modified>
</cp:coreProperties>
</file>