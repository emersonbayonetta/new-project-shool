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77" r:id="rId5"/>
    <p:sldId id="278" r:id="rId6"/>
    <p:sldId id="280" r:id="rId7"/>
    <p:sldId id="269" r:id="rId8"/>
    <p:sldId id="285" r:id="rId9"/>
    <p:sldId id="292" r:id="rId10"/>
    <p:sldId id="29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4BE09D-ADAF-42A9-990E-BF017B74FA3A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7405B-2DE3-469B-A8A9-60C374ECD7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84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CAPA — 15 segundos. Apresentem a Trilha e a equipe: Emerson, Mhell, Adriana e Marcos Paulo. Uma plataforma para organizar a jornada acadêmica.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7405B-2DE3-469B-A8A9-60C374ECD7A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548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PROBLEMA — 30 segundos. Alunos já usam agendas, calendários e grupos de mensagens, mas ainda acumulam atividades. Informações dispersas e dificuldade de planejar a execução são hipóteses a investigar, não causas comprovadas.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602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IDEIA CENTRAL — 25 segundos. Saber o prazo não basta. A Trilha mostra o que fazer agora, como avançar e quanto falta para terminar. Explique prioridade, pequenas etapas e progresso visível.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638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DASHBOARD — 30 segundos. Mostre a captura real. O aluno encontra prioridades explicáveis e a ação Meu próximo passo. Pendências, conclusões e XP são calculados a partir dos dados locais demonstrativos.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18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ATIVIDADE E ETAPAS — 40 segundos. O professor publica a atividade. O aluno consulta prazo, instruções e etapas com tempo estimado. Cada etapa concluída atualiza progresso e XP; desfazer mantém os cálculos coerentes. XP não é nota.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792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RECUPERAÇÃO — 30 segundos. Quando há pendências acumuladas, o plano organiza etapas por prazo e esforço. O aluno pode ajustar os dias de estudo, sem alterar prazos oficiais.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278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OFFLINE — 30 segundos. IndexedDB guarda os dados e a PWA permite recarga sem rede após a primeira visita à versão de produção. Simular offline não desliga a conexão. Não há servidor nem sincronização real.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3142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ARQUITETURA — 25 segundos. React e TypeScript formam a interface. Regras locais calculam prioridade, progresso e XP. IndexedDB persiste os registros. A mesma base local conecta os perfis demonstrativos.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792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VALOR E PRÓXIMO PASSO — 30 segundos. Retome clareza, progresso e continuidade. O protótipo é funcional; o próximo passo é validar com alunos e docentes se a organização da rotina melhora. Não há resultado educacional medido.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3981A4-A807-46D1-B109-820FAF6DECD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447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ENCERRAMENTO — 15 segundos. Agradeçam e encerrem com a mensagem: mais do que lembrar prazos, ajudamos você a concluir cada etapa. Tempo sugerido total: 4min30s, com 30 segundos de margem para transições.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7405B-2DE3-469B-A8A9-60C374ECD7A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7152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D68DD-1418-3C01-DE87-0868EC152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DA8047-91CF-30C8-4C30-FFF9E4DBA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30932D-EEE9-23CE-517C-ED0F2472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15606C-642D-BA53-59D6-24EA97EC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29354D-C961-3E77-D1AE-D7BCF1A2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142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3FB03-092F-2EDC-FED4-B3BD5F05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C9AC4-F244-01C8-4274-66E70178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E76089-FB1A-818D-B977-E9ECD04E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155F32-7FEF-7847-2D60-BD6271381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314B5D-35F0-47C5-5B8D-B5B9139D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88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B3B79-B05F-B4B0-4C1D-A889050CD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54BA2-563A-FED2-4C29-DCCA33465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0C94-3D90-F6B3-02E0-0DF36F6F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A692E3-7D1D-9FA6-24DD-68FEFE07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688956-23B3-693F-BB7C-CBD0DE87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50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24A5D-9DDC-CDCD-9BBC-4CF381AD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9D80D-F51F-0EDB-83F2-ACE7D689D2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4AF3F8-77D5-5ABF-8A5F-16EA74EC5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6787F5-B9DE-045A-65D9-D324F03AF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126C8F-081D-9A12-FA63-A64F2B91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EA76A9-BA41-9B86-F8ED-1CBBD21E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35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3F5A5-8DD8-F28C-898E-0AA1E29A0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442A90-7034-3403-2E0F-7259FA7A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ADC520-5A1A-60AB-D338-901029D7B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8637BB-0604-6466-AFE4-7830552FC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1C53531-99AE-734A-56FF-126674AD3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B95421-0058-42E8-34FB-5DAB7D44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AD9079-50BD-EDB7-EDEF-729F1F6C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CFA2485-949B-67C0-B62B-EF4759C3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952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2320B-6D52-8E14-1A53-61F0CBBA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A92304-AF32-A922-7901-EDFFD315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022AC1-364B-83DB-8049-187A0C47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F33C3F-C492-A0C8-E5FC-DD4467B5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76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C6A6E2B-19EB-1BF5-A86B-BE6776D7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5FDF74-B48F-993B-72F9-D3585CF2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49B478-F62A-BBCC-EC38-743BFBB5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0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4509C-FD8C-A0C9-A5C1-210F53BEE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90E401-F9E3-50FF-B233-19A20E7DD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6D25F8-8F89-6CBE-80EC-64AE754AE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4CA45D-750E-01BB-B13E-AF48BF9DF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B7C23D-D3DD-D83A-FF16-696CE62C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D61273-1E6B-AA04-E26B-CFC0FA0A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2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FE551-29CF-BD1F-907E-0F5999BDB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A4FFA3-0FC9-71B5-8660-93101CB08E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2A3CEC-E17E-59B4-1436-A33427A74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47F83C-EC7B-7B8D-2F29-3B2B36D3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8B8CA3-CAED-9690-475F-835AA4FB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9F6B61-1641-1735-A66D-211E3AEF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84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B7693F-12A5-38AD-7F6E-F76B8919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92FEE8-2C89-B984-1BDB-803AB83CF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EE69D6-7865-F211-14DB-43ACA26F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4F3EF-32C2-D4D2-B40C-6C5975B5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F4436D-6418-A708-F51C-98A688DCA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84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AB83EF-0F4A-BB1C-DD59-E2C846D1F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8105D8D-14B8-A788-E561-9B708A89B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9AFD59-F0C0-A29E-8174-EED311B8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59A815-B199-6EBD-3695-910758138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13B21C-5DBA-DC95-7AE7-2DC3A03F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08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0805E4-FDC7-0714-CA84-7EAB53C0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C0075D-ACE7-B185-0AF9-33D2B56C0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06A99B-CC0E-7BEA-F065-81122116B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9377B-AF4D-41DE-880C-3856F3573B6E}" type="datetimeFigureOut">
              <a:rPr lang="pt-BR" smtClean="0"/>
              <a:t>09/10/2026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F63C7-3064-B55A-AA8E-CAB335D66B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63A3CA-9976-8ACB-8E01-2B592073F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9887F-C5AB-4091-A40A-F7683EDDC6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63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AC53C06-C644-62EF-7910-CB1598B15C60}"/>
              </a:ext>
            </a:extLst>
          </p:cNvPr>
          <p:cNvSpPr/>
          <p:nvPr/>
        </p:nvSpPr>
        <p:spPr>
          <a:xfrm>
            <a:off x="7239000" y="0"/>
            <a:ext cx="4953000" cy="6858000"/>
          </a:xfrm>
          <a:prstGeom prst="roundRect">
            <a:avLst>
              <a:gd name="adj" fmla="val 5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CB9F5A-DDF3-35FA-1067-04679F62D6FB}"/>
              </a:ext>
            </a:extLst>
          </p:cNvPr>
          <p:cNvSpPr txBox="1"/>
          <p:nvPr/>
        </p:nvSpPr>
        <p:spPr>
          <a:xfrm>
            <a:off x="812800" y="673100"/>
            <a:ext cx="6032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PITCH · ACOMPANHAMENTO ACADÊMICO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6C3EC8E-8D56-DEDD-1629-8713661A1DB8}"/>
              </a:ext>
            </a:extLst>
          </p:cNvPr>
          <p:cNvSpPr txBox="1"/>
          <p:nvPr/>
        </p:nvSpPr>
        <p:spPr>
          <a:xfrm>
            <a:off x="774700" y="1460500"/>
            <a:ext cx="6184900" cy="116955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7600" b="1">
                <a:solidFill>
                  <a:srgbClr val="273047"/>
                </a:solidFill>
                <a:latin typeface="Aptos" panose="020B0004020202020204" pitchFamily="34" charset="0"/>
              </a:rPr>
              <a:t>trilha.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E5DC22-721F-8735-5B9B-9FA576FBFF68}"/>
              </a:ext>
            </a:extLst>
          </p:cNvPr>
          <p:cNvSpPr txBox="1"/>
          <p:nvPr/>
        </p:nvSpPr>
        <p:spPr>
          <a:xfrm>
            <a:off x="812800" y="3022600"/>
            <a:ext cx="5930900" cy="9233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3000" b="1">
                <a:solidFill>
                  <a:srgbClr val="6550B5"/>
                </a:solidFill>
                <a:latin typeface="Aptos" panose="020B0004020202020204" pitchFamily="34" charset="0"/>
              </a:rPr>
              <a:t>Sua jornada acadêmica, organizada.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EC106D-E12D-3C53-6A87-9D40473CBA12}"/>
              </a:ext>
            </a:extLst>
          </p:cNvPr>
          <p:cNvSpPr txBox="1"/>
          <p:nvPr/>
        </p:nvSpPr>
        <p:spPr>
          <a:xfrm>
            <a:off x="812800" y="4622800"/>
            <a:ext cx="5461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100" b="1">
                <a:solidFill>
                  <a:srgbClr val="7660D3"/>
                </a:solidFill>
                <a:latin typeface="Aptos" panose="020B0004020202020204" pitchFamily="34" charset="0"/>
              </a:rPr>
              <a:t>EQUIPE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F290C2-9FDB-10A1-BED6-FD0972A96064}"/>
              </a:ext>
            </a:extLst>
          </p:cNvPr>
          <p:cNvSpPr txBox="1"/>
          <p:nvPr/>
        </p:nvSpPr>
        <p:spPr>
          <a:xfrm>
            <a:off x="812800" y="5105400"/>
            <a:ext cx="5715000" cy="70788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2300" b="1">
                <a:solidFill>
                  <a:srgbClr val="273047"/>
                </a:solidFill>
                <a:latin typeface="Aptos" panose="020B0004020202020204" pitchFamily="34" charset="0"/>
              </a:rPr>
              <a:t>Emerson · Mhell
Adriana · Marcos Paulo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E76CDF7-A6CE-0185-64C5-596A661BC50C}"/>
              </a:ext>
            </a:extLst>
          </p:cNvPr>
          <p:cNvSpPr/>
          <p:nvPr/>
        </p:nvSpPr>
        <p:spPr>
          <a:xfrm>
            <a:off x="7975600" y="952500"/>
            <a:ext cx="3416300" cy="4508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C47936-1585-846E-C1B0-B7E8B13BB416}"/>
              </a:ext>
            </a:extLst>
          </p:cNvPr>
          <p:cNvSpPr txBox="1"/>
          <p:nvPr/>
        </p:nvSpPr>
        <p:spPr>
          <a:xfrm>
            <a:off x="8267700" y="1422400"/>
            <a:ext cx="2832100" cy="223138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2900" b="1">
                <a:solidFill>
                  <a:srgbClr val="6550B5"/>
                </a:solidFill>
                <a:latin typeface="Aptos" panose="020B0004020202020204" pitchFamily="34" charset="0"/>
              </a:rPr>
              <a:t>Mais do que
lembrar prazos,
ajudamos a
concluir cada
etapa.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AA93EE9-81DA-8A95-7972-B3D66A71D789}"/>
              </a:ext>
            </a:extLst>
          </p:cNvPr>
          <p:cNvSpPr txBox="1"/>
          <p:nvPr/>
        </p:nvSpPr>
        <p:spPr>
          <a:xfrm>
            <a:off x="8267700" y="4381500"/>
            <a:ext cx="28321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300" b="1">
                <a:solidFill>
                  <a:srgbClr val="8B7CA6"/>
                </a:solidFill>
                <a:latin typeface="Aptos" panose="020B0004020202020204" pitchFamily="34" charset="0"/>
              </a:rPr>
              <a:t>CLAREZA · PROGRESSO · CONTINUIDADE</a:t>
            </a:r>
          </a:p>
        </p:txBody>
      </p:sp>
    </p:spTree>
    <p:extLst>
      <p:ext uri="{BB962C8B-B14F-4D97-AF65-F5344CB8AC3E}">
        <p14:creationId xmlns:p14="http://schemas.microsoft.com/office/powerpoint/2010/main" val="336981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2DE7EC2-9969-A2A0-E806-CEAC247B0B04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F5BAEF-B623-FA84-9771-A2E5D4FAB2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ENTENDER ANTES DE CRIAR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4E6A25-57A0-C7B3-DF39-40C93EF2154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Mais uma agenda resolveria o problema?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34F3F2-6DD0-27F7-E962-53D91F6B90D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 escola percebe atrasos em trabalhos, avaliações, atividades e projetos.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83F00AE-5522-0B71-53DC-B2FCD5E9CB5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9A455F5-91C8-3146-06EA-7451F9D2837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+ situação-problema original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9DDCA9-4F22-3F58-2D17-1839167E5F68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02 / 10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2C10AFE-2AFF-7AD5-BDBB-FE410C115B4E}"/>
              </a:ext>
            </a:extLst>
          </p:cNvPr>
          <p:cNvSpPr/>
          <p:nvPr/>
        </p:nvSpPr>
        <p:spPr>
          <a:xfrm>
            <a:off x="609600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1E2A1A5-2CE2-6C17-0389-0097C2D8A325}"/>
              </a:ext>
            </a:extLst>
          </p:cNvPr>
          <p:cNvSpPr txBox="1"/>
          <p:nvPr/>
        </p:nvSpPr>
        <p:spPr>
          <a:xfrm>
            <a:off x="838200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situação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A63D51-8F0F-60A2-3A6E-2988CF7C4FB2}"/>
              </a:ext>
            </a:extLst>
          </p:cNvPr>
          <p:cNvSpPr txBox="1"/>
          <p:nvPr/>
        </p:nvSpPr>
        <p:spPr>
          <a:xfrm>
            <a:off x="838200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Os alunos já consultam agendas, calendários, grupos de mensagens e sistemas acadêmicos.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6349726-03C0-F55A-EC7E-04207416A79D}"/>
              </a:ext>
            </a:extLst>
          </p:cNvPr>
          <p:cNvSpPr/>
          <p:nvPr/>
        </p:nvSpPr>
        <p:spPr>
          <a:xfrm>
            <a:off x="4334933" y="2476500"/>
            <a:ext cx="3522134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A0AF466-0D18-26CF-F518-7F283C63924F}"/>
              </a:ext>
            </a:extLst>
          </p:cNvPr>
          <p:cNvSpPr txBox="1"/>
          <p:nvPr/>
        </p:nvSpPr>
        <p:spPr>
          <a:xfrm>
            <a:off x="4563533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AC753A-4BCE-E12F-B485-8FF5470DE46A}"/>
              </a:ext>
            </a:extLst>
          </p:cNvPr>
          <p:cNvSpPr txBox="1"/>
          <p:nvPr/>
        </p:nvSpPr>
        <p:spPr>
          <a:xfrm>
            <a:off x="4563533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Mesmo com essas ferramentas, continuam esquecendo ou adiando responsabilidades.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CD0D3CF-F51D-5B3A-3DE0-C1C3C591D64D}"/>
              </a:ext>
            </a:extLst>
          </p:cNvPr>
          <p:cNvSpPr/>
          <p:nvPr/>
        </p:nvSpPr>
        <p:spPr>
          <a:xfrm>
            <a:off x="8060267" y="2476500"/>
            <a:ext cx="3522133" cy="375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68A091B-30AC-C784-3025-9BF1220FAD09}"/>
              </a:ext>
            </a:extLst>
          </p:cNvPr>
          <p:cNvSpPr txBox="1"/>
          <p:nvPr/>
        </p:nvSpPr>
        <p:spPr>
          <a:xfrm>
            <a:off x="8288867" y="2717800"/>
            <a:ext cx="3064933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6550B5"/>
                </a:solidFill>
                <a:latin typeface="Aptos" panose="020B0004020202020204" pitchFamily="34" charset="0"/>
              </a:rPr>
              <a:t>A pergunta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BAFA0F-A629-7E49-6499-3E1E95A401A9}"/>
              </a:ext>
            </a:extLst>
          </p:cNvPr>
          <p:cNvSpPr txBox="1"/>
          <p:nvPr/>
        </p:nvSpPr>
        <p:spPr>
          <a:xfrm>
            <a:off x="8288867" y="3390900"/>
            <a:ext cx="3064933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>
                <a:solidFill>
                  <a:srgbClr val="626A80"/>
                </a:solidFill>
                <a:latin typeface="Aptos" panose="020B0004020202020204" pitchFamily="34" charset="0"/>
              </a:rPr>
              <a:t>Como ajudar a compreender, priorizar e concluir tarefas com conexão limitada?</a:t>
            </a:r>
          </a:p>
        </p:txBody>
      </p:sp>
    </p:spTree>
    <p:extLst>
      <p:ext uri="{BB962C8B-B14F-4D97-AF65-F5344CB8AC3E}">
        <p14:creationId xmlns:p14="http://schemas.microsoft.com/office/powerpoint/2010/main" val="94660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959BC49-78DE-B0F3-1DD9-F1E2DE7EE4E8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3F87AB-AEEF-9EAF-5699-54DF65DCA3A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1 · INSIGHT CENTRAL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B7288B-AA0C-7C18-CFCF-8D8118458D4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Saber quando vence não basta.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D2312-1223-DEA6-0A26-C2468927042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O aluno precisa saber o que fazer agora, como avançar e quanto falta para terminar.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CEF6449-BA05-28BF-EBF1-ED74BF5D7EA3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E2AF3B-6A63-6F58-3636-401B9A9548D6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1 · Insight central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25D3A5-B88A-2746-A9DA-5042FA622931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03 / 10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85B52B7-B9F1-8129-0F07-A2C79A8D6334}"/>
              </a:ext>
            </a:extLst>
          </p:cNvPr>
          <p:cNvSpPr/>
          <p:nvPr/>
        </p:nvSpPr>
        <p:spPr>
          <a:xfrm>
            <a:off x="609600" y="2463800"/>
            <a:ext cx="10972800" cy="22098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00E383-1BAE-CEB4-5EAB-22C5E273C46E}"/>
              </a:ext>
            </a:extLst>
          </p:cNvPr>
          <p:cNvSpPr txBox="1"/>
          <p:nvPr/>
        </p:nvSpPr>
        <p:spPr>
          <a:xfrm>
            <a:off x="965200" y="2781300"/>
            <a:ext cx="10287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6550B5"/>
                </a:solidFill>
                <a:latin typeface="Aptos" panose="020B0004020202020204" pitchFamily="34" charset="0"/>
              </a:rPr>
              <a:t>O aluno precisa saber o que fazer agora, como avançar e quanto falta para terminar.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AA56D3A-8382-AC3F-0F54-1EBCCF12D8B3}"/>
              </a:ext>
            </a:extLst>
          </p:cNvPr>
          <p:cNvSpPr txBox="1"/>
          <p:nvPr/>
        </p:nvSpPr>
        <p:spPr>
          <a:xfrm>
            <a:off x="6096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O QUE FAZER AGORA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5E9473-44BE-6919-1BB8-09EB966A9245}"/>
              </a:ext>
            </a:extLst>
          </p:cNvPr>
          <p:cNvSpPr txBox="1"/>
          <p:nvPr/>
        </p:nvSpPr>
        <p:spPr>
          <a:xfrm>
            <a:off x="6096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Prioridade explicável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5FE26E-61B9-5DE2-FA08-AB3038A4D6BB}"/>
              </a:ext>
            </a:extLst>
          </p:cNvPr>
          <p:cNvSpPr txBox="1"/>
          <p:nvPr/>
        </p:nvSpPr>
        <p:spPr>
          <a:xfrm>
            <a:off x="43434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COMO AVANÇAR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03C3523-0A54-BBA6-5DC3-4D02AC797C37}"/>
              </a:ext>
            </a:extLst>
          </p:cNvPr>
          <p:cNvSpPr txBox="1"/>
          <p:nvPr/>
        </p:nvSpPr>
        <p:spPr>
          <a:xfrm>
            <a:off x="43434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Pequenas etapas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3DE4F17-2E29-A85C-B6C0-2461D3975F1E}"/>
              </a:ext>
            </a:extLst>
          </p:cNvPr>
          <p:cNvSpPr txBox="1"/>
          <p:nvPr/>
        </p:nvSpPr>
        <p:spPr>
          <a:xfrm>
            <a:off x="80772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QUANTO FALTA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BBDF293-4EC1-1F47-F23A-C02872E970A9}"/>
              </a:ext>
            </a:extLst>
          </p:cNvPr>
          <p:cNvSpPr txBox="1"/>
          <p:nvPr/>
        </p:nvSpPr>
        <p:spPr>
          <a:xfrm>
            <a:off x="80772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Progresso visível</a:t>
            </a:r>
          </a:p>
        </p:txBody>
      </p:sp>
    </p:spTree>
    <p:extLst>
      <p:ext uri="{BB962C8B-B14F-4D97-AF65-F5344CB8AC3E}">
        <p14:creationId xmlns:p14="http://schemas.microsoft.com/office/powerpoint/2010/main" val="1726519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0C628AB-10FE-7453-5A06-B7425E7E3A42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37BB91C-D442-6A66-0764-BD0C05C4640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1 · ENTRADA + VISÃO GERAL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410007-2EBB-A179-2F11-D3121F555117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O primeiro contato já mostra o que fazer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A362AD5-DF1C-8C55-DF14-95D4D9A547BD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Seleção de perfil no topo e painel do aluno orientado à ação.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B15EEB-2D4C-C2C5-FBC9-CE0D843AE636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30DFC5-81CF-90E2-7FDD-375CAE745C0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Telas recomendadas 1 e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32223F-FC46-8A65-0EAF-F037B5CB1CD2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04 / 10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3FC951-0BF7-E432-4BBC-774EDD42B0F2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59E85CB-071D-5B3D-F8A8-9ADF8EC5255D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Entrada demonstrativa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25E86E6-917A-EB8E-24EF-5089DA1A758E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Aluno, professor e administrador sem login real.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350B74-0ECD-9BB3-A566-A0DFA92AC296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E811CA4-E026-F6CA-D67E-E025A1F4CEA3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Resumo imediato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34310EA-08B9-6681-C79A-C35FD06D28B6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Pendências, urgências, conclusões e XP.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86B1D5-B02B-8BA9-6A35-0F2436BB536A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F29CCF2-EA8C-B551-FDE7-DC45E8621B10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Ação principal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E8601D2-4A4A-6211-82DF-C15C70D7AED6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Meu próximo passo destaca a etapa prioritária.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67FB987-41E4-2F6D-E082-21941BFD4C7F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D59B2DF8-9F30-38D2-B9F7-04382EC54DC0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ashboard do aluno: prioridades, próximo passo e indicadores">
            <a:extLst>
              <a:ext uri="{FF2B5EF4-FFF2-40B4-BE49-F238E27FC236}">
                <a16:creationId xmlns:a16="http://schemas.microsoft.com/office/drawing/2014/main" id="{1D7045B7-8AA3-7502-E6A1-7AD30399113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4B81FCFA-49C3-C785-6062-238B891877BF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Dashboard do aluno: prioridades, próximo passo e indicadores</a:t>
            </a:r>
          </a:p>
        </p:txBody>
      </p:sp>
    </p:spTree>
    <p:extLst>
      <p:ext uri="{BB962C8B-B14F-4D97-AF65-F5344CB8AC3E}">
        <p14:creationId xmlns:p14="http://schemas.microsoft.com/office/powerpoint/2010/main" val="2996258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D998036-075B-1668-1CE8-2FD2C1228BB0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CAE700-6C4E-1930-2087-1A5A1A2A5D06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2 · ATIVIDADE E ETAPAS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B801C9-0835-0D5B-ECF3-ABE2D2EAAD38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Transformar um trabalho longo em ações possíveis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8C39D3-3BF6-9095-0817-1CA070C3C470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Instruções, prazo oficial, esforço e progresso no mesmo painel.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FE0C937-9B75-1D89-9877-6C2B3B866CD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19A074-8089-27BC-FD09-9EDD71833D6C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3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0B8CB1-8BF8-D225-2D35-88DC9775EEEE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05 / 10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4DB15A3-79D5-DE35-64FE-426C0301F47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0029DC-2D07-C736-5BE8-FF9C2A782A58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Consultar e planejar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B989C72-7036-3D72-5C50-4AD503CB6E60}"/>
              </a:ext>
            </a:extLst>
          </p:cNvPr>
          <p:cNvSpPr txBox="1"/>
          <p:nvPr/>
        </p:nvSpPr>
        <p:spPr>
          <a:xfrm>
            <a:off x="838200" y="30099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Descrição, disciplina, docente e prazo.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76B65A-3B90-E9F6-6FB9-C0666EB7A06C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162011-1EE8-D541-C72A-A5FD0D39B5BC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Personalizar a trilha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4D77AA-E83B-D305-C246-F346DFD998C4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Adicionar etapas e reorganizar sua ordem.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32D9035-A2D8-8361-28F7-CC0960982E52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693469-0B7D-4367-5A64-ACA372E249A4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Registrar e acompanhar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430BA7-D3AD-B9BB-467B-A301EF1243FB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Concluir, desfazer, observar percentual e solicitar prorrogação.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BF88F30-1E63-C860-BA2B-62209D075B81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9A1AC1E-959D-E4C4-A9E9-E1D0DCDD4D81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Detalhe da atividade com checklist funcional">
            <a:extLst>
              <a:ext uri="{FF2B5EF4-FFF2-40B4-BE49-F238E27FC236}">
                <a16:creationId xmlns:a16="http://schemas.microsoft.com/office/drawing/2014/main" id="{52274FDC-D1BA-5CF7-72F0-474417B2E0F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8576976-E8D5-9B25-8866-3003CD8846A4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Detalhe da atividade com checklist funcional</a:t>
            </a:r>
          </a:p>
        </p:txBody>
      </p:sp>
    </p:spTree>
    <p:extLst>
      <p:ext uri="{BB962C8B-B14F-4D97-AF65-F5344CB8AC3E}">
        <p14:creationId xmlns:p14="http://schemas.microsoft.com/office/powerpoint/2010/main" val="264494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71FEA9A-65BD-A1E7-65A7-166DA88F4C96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9007FB-A84F-8A33-0BED-CC37B539FC17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6 · TELA 3 · RECUPERAÇÃO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8B54B2-7120-E64F-2757-EAC7E12C11AB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Recuperar o planejamento, um dia de cada vez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07701B-6D92-D1CA-AE64-D56E1736B124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Pendências ordenadas por prazo e esforço, sem mudar as regras da turma.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2E40B35-DB4C-216A-AFB7-FD29EA8AB98A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11E11D1-980C-5E0F-03B8-6E551D1BCDEC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Tela recomendada 4 + diferencial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71A821-4B68-E337-0017-1DE139B7A8A0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06 / 10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F443583-5037-8C34-79D3-37367463971D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0A8571-6DBF-6164-AC5A-15C4CB4659AA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Identificar pendências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87DAD43-7747-F6D3-BBA2-0B7936E868CD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Atividades atrasadas e próximas do vencimento.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FA8BC80-53F6-184C-2060-785E18609ACF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6A4B061-1762-2F28-73E6-1249BC8A0405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Aceitar ou ajustar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9C7BBAB-D600-7125-2EFB-F86508465AC8}"/>
              </a:ext>
            </a:extLst>
          </p:cNvPr>
          <p:cNvSpPr txBox="1"/>
          <p:nvPr/>
        </p:nvSpPr>
        <p:spPr>
          <a:xfrm>
            <a:off x="838200" y="4216400"/>
            <a:ext cx="31496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Salvar plano pessoal e editar o dia de estudo.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EFC9F75-DB43-97C5-BCD1-2CE5BE94A4DB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DF5754F-DF30-F896-5A26-B0118D19D56D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Preservar prazo oficial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3720278-7A97-4CED-FC4E-07AB5106BC42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 sugestão não concede prorrogação automaticamente.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388F2D5-EEFA-4B8A-25E2-B287291E5526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93C3285-8440-E5C7-CA5C-47AE1A108B14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Plano aceito com etapas e dias de estudo ajustáveis">
            <a:extLst>
              <a:ext uri="{FF2B5EF4-FFF2-40B4-BE49-F238E27FC236}">
                <a16:creationId xmlns:a16="http://schemas.microsoft.com/office/drawing/2014/main" id="{7E6E7BE5-A6CA-D4CD-D7C0-1E5EAC38D0A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93A5D34-8FD2-EC14-CF04-14D4EE6181D9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Plano aceito com etapas e dias de estudo ajustáveis</a:t>
            </a:r>
          </a:p>
        </p:txBody>
      </p:sp>
    </p:spTree>
    <p:extLst>
      <p:ext uri="{BB962C8B-B14F-4D97-AF65-F5344CB8AC3E}">
        <p14:creationId xmlns:p14="http://schemas.microsoft.com/office/powerpoint/2010/main" val="2080221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718BB87-F8E5-B564-9305-19DC70AF23D3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E8A02-F59F-615F-B637-E5FC0470886E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ETAPA 3 · RESTRIÇÃO 1 · OFFLINE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70B9978-2B69-9A63-7345-53603DC79470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A jornada continua com conexão limitada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8508C2A-CDEC-480C-3597-5150A0A53075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Dados locais e cache da aplicação sustentam as ações essenciais.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C68496-47AD-5CD9-9593-3B4FA611059E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77578C-4D70-02ED-AB06-794EE2D6D3A3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3 · Offline-first e critérios de aceitação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6CE9E9-0DAE-274D-20CE-613656FEEDA7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07 / 10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33020C-9F7D-9A30-A6D5-24FBFD8537D9}"/>
              </a:ext>
            </a:extLst>
          </p:cNvPr>
          <p:cNvSpPr/>
          <p:nvPr/>
        </p:nvSpPr>
        <p:spPr>
          <a:xfrm>
            <a:off x="609600" y="2527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21C6100-2BBD-A9ED-C3A4-D967D86FB41F}"/>
              </a:ext>
            </a:extLst>
          </p:cNvPr>
          <p:cNvSpPr txBox="1"/>
          <p:nvPr/>
        </p:nvSpPr>
        <p:spPr>
          <a:xfrm>
            <a:off x="838200" y="2501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IndexedDB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6F8F19-FFF0-CA21-7896-1C6AF026DCC0}"/>
              </a:ext>
            </a:extLst>
          </p:cNvPr>
          <p:cNvSpPr txBox="1"/>
          <p:nvPr/>
        </p:nvSpPr>
        <p:spPr>
          <a:xfrm>
            <a:off x="838200" y="3009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Atividades, progresso, notas e demais registros.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00B1830-D354-0BE5-DC49-36C2706D4F58}"/>
              </a:ext>
            </a:extLst>
          </p:cNvPr>
          <p:cNvSpPr/>
          <p:nvPr/>
        </p:nvSpPr>
        <p:spPr>
          <a:xfrm>
            <a:off x="609600" y="37338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53B8DC-9B44-9070-FCB3-9E672DBC6458}"/>
              </a:ext>
            </a:extLst>
          </p:cNvPr>
          <p:cNvSpPr txBox="1"/>
          <p:nvPr/>
        </p:nvSpPr>
        <p:spPr>
          <a:xfrm>
            <a:off x="838200" y="37084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PWA + cache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50E9DC-6FC8-0B9E-8964-F16720C7DF22}"/>
              </a:ext>
            </a:extLst>
          </p:cNvPr>
          <p:cNvSpPr txBox="1"/>
          <p:nvPr/>
        </p:nvSpPr>
        <p:spPr>
          <a:xfrm>
            <a:off x="838200" y="42164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Recarga sem rede após uma visita à versão de produção.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E9E3EFB-31F5-8213-F257-3845245C3CA9}"/>
              </a:ext>
            </a:extLst>
          </p:cNvPr>
          <p:cNvSpPr/>
          <p:nvPr/>
        </p:nvSpPr>
        <p:spPr>
          <a:xfrm>
            <a:off x="609600" y="4940300"/>
            <a:ext cx="63500" cy="368300"/>
          </a:xfrm>
          <a:prstGeom prst="rect">
            <a:avLst/>
          </a:prstGeom>
          <a:solidFill>
            <a:srgbClr val="C7B7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7D673BE-E9EC-894C-BCF3-621CC55C6DF9}"/>
              </a:ext>
            </a:extLst>
          </p:cNvPr>
          <p:cNvSpPr txBox="1"/>
          <p:nvPr/>
        </p:nvSpPr>
        <p:spPr>
          <a:xfrm>
            <a:off x="838200" y="4914900"/>
            <a:ext cx="3149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b="1">
                <a:solidFill>
                  <a:srgbClr val="6550B5"/>
                </a:solidFill>
                <a:latin typeface="Aptos" panose="020B0004020202020204" pitchFamily="34" charset="0"/>
              </a:rPr>
              <a:t>Limite atual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F550F0-6807-C6C4-87F7-058079DC0791}"/>
              </a:ext>
            </a:extLst>
          </p:cNvPr>
          <p:cNvSpPr txBox="1"/>
          <p:nvPr/>
        </p:nvSpPr>
        <p:spPr>
          <a:xfrm>
            <a:off x="838200" y="5422900"/>
            <a:ext cx="31496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50">
                <a:solidFill>
                  <a:srgbClr val="697187"/>
                </a:solidFill>
                <a:latin typeface="Aptos" panose="020B0004020202020204" pitchFamily="34" charset="0"/>
              </a:rPr>
              <a:t>Nenhum servidor conectado; não há novidades remotas nem sincronização real.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E092D66-C2CF-2891-8974-778B95520229}"/>
              </a:ext>
            </a:extLst>
          </p:cNvPr>
          <p:cNvSpPr/>
          <p:nvPr/>
        </p:nvSpPr>
        <p:spPr>
          <a:xfrm>
            <a:off x="4241800" y="2463800"/>
            <a:ext cx="7340600" cy="3771900"/>
          </a:xfrm>
          <a:prstGeom prst="roundRect">
            <a:avLst>
              <a:gd name="adj" fmla="val 6000"/>
            </a:avLst>
          </a:prstGeom>
          <a:solidFill>
            <a:srgbClr val="EDE8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6759212-F558-90C6-61BD-C802DB9AF37D}"/>
              </a:ext>
            </a:extLst>
          </p:cNvPr>
          <p:cNvSpPr/>
          <p:nvPr/>
        </p:nvSpPr>
        <p:spPr>
          <a:xfrm>
            <a:off x="5447145" y="2527300"/>
            <a:ext cx="492991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1" name="Imagem 20" descr="Indicador local e simulação offline explicitamente identificada">
            <a:extLst>
              <a:ext uri="{FF2B5EF4-FFF2-40B4-BE49-F238E27FC236}">
                <a16:creationId xmlns:a16="http://schemas.microsoft.com/office/drawing/2014/main" id="{3D3D2383-DEDD-1BB6-3DDC-ED757D6F41D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645" y="2590800"/>
            <a:ext cx="4802909" cy="33020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BC89CD17-29C1-1360-2ED0-FC2035B51DDD}"/>
              </a:ext>
            </a:extLst>
          </p:cNvPr>
          <p:cNvSpPr txBox="1"/>
          <p:nvPr/>
        </p:nvSpPr>
        <p:spPr>
          <a:xfrm>
            <a:off x="4470400" y="5994400"/>
            <a:ext cx="68961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B7CA6"/>
                </a:solidFill>
                <a:latin typeface="Aptos" panose="020B0004020202020204" pitchFamily="34" charset="0"/>
              </a:rPr>
              <a:t>Indicador local e simulação offline explicitamente identificada</a:t>
            </a:r>
          </a:p>
        </p:txBody>
      </p:sp>
    </p:spTree>
    <p:extLst>
      <p:ext uri="{BB962C8B-B14F-4D97-AF65-F5344CB8AC3E}">
        <p14:creationId xmlns:p14="http://schemas.microsoft.com/office/powerpoint/2010/main" val="263673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13E59D-4D5F-E702-F0BA-DCCDA3978846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A33DE5C-A8F1-759E-0897-CC4C5A1C3B23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ARQUITETURA · IMPLEMENTAÇÃO ATUAL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29AE17-36C5-82FF-71C0-6A0D41491F63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Uma aplicação local com responsabilidades separadas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F5AF173-1735-758D-C29A-9552E8255396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Arquitetura do protótipo; bibliotecas sugeridas no Markdown não são todas utilizadas.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273E4A-6B72-C3A1-D55D-7171F7731CAF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8C7935-DFFD-93E3-CFFE-DF090E8F27A5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Etapa 6 · Direção técnica + código implementado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9940BC8-4B97-FCBA-4B76-16440D3125B3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08 / 10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5858AA8-0BE8-485F-61E9-037FB7793131}"/>
              </a:ext>
            </a:extLst>
          </p:cNvPr>
          <p:cNvSpPr/>
          <p:nvPr/>
        </p:nvSpPr>
        <p:spPr>
          <a:xfrm>
            <a:off x="6096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3B519D5-70BD-DC43-67BE-872526BBD104}"/>
              </a:ext>
            </a:extLst>
          </p:cNvPr>
          <p:cNvSpPr/>
          <p:nvPr/>
        </p:nvSpPr>
        <p:spPr>
          <a:xfrm>
            <a:off x="8255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D79D70-E6D0-C972-75DE-6E3D2D9D3A5D}"/>
              </a:ext>
            </a:extLst>
          </p:cNvPr>
          <p:cNvSpPr txBox="1"/>
          <p:nvPr/>
        </p:nvSpPr>
        <p:spPr>
          <a:xfrm>
            <a:off x="9271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B31635-3781-9E56-53CC-A9ADBA475232}"/>
              </a:ext>
            </a:extLst>
          </p:cNvPr>
          <p:cNvSpPr txBox="1"/>
          <p:nvPr/>
        </p:nvSpPr>
        <p:spPr>
          <a:xfrm>
            <a:off x="8255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Interface e navegação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8BE930-8B27-588A-3C15-B30565E1681B}"/>
              </a:ext>
            </a:extLst>
          </p:cNvPr>
          <p:cNvSpPr txBox="1"/>
          <p:nvPr/>
        </p:nvSpPr>
        <p:spPr>
          <a:xfrm>
            <a:off x="8255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React 19 + TypeScript estrito + Vite. CSS responsivo e rotas hash; componentes de formulário e diálogo.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15B7B62-4FC6-B0AE-114D-E4EEF803AB00}"/>
              </a:ext>
            </a:extLst>
          </p:cNvPr>
          <p:cNvCxnSpPr/>
          <p:nvPr/>
        </p:nvCxnSpPr>
        <p:spPr>
          <a:xfrm>
            <a:off x="4013200" y="3987800"/>
            <a:ext cx="330200" cy="0"/>
          </a:xfrm>
          <a:prstGeom prst="straightConnector1">
            <a:avLst/>
          </a:prstGeom>
          <a:ln w="2540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715B11A-8A19-0122-AA1F-ADA93B2CB0FF}"/>
              </a:ext>
            </a:extLst>
          </p:cNvPr>
          <p:cNvSpPr/>
          <p:nvPr/>
        </p:nvSpPr>
        <p:spPr>
          <a:xfrm>
            <a:off x="44450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C7F1170-068B-1C84-9B53-D47F5A889554}"/>
              </a:ext>
            </a:extLst>
          </p:cNvPr>
          <p:cNvSpPr/>
          <p:nvPr/>
        </p:nvSpPr>
        <p:spPr>
          <a:xfrm>
            <a:off x="46609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A7A1248-1EEA-930E-7A5B-839A1D867C8E}"/>
              </a:ext>
            </a:extLst>
          </p:cNvPr>
          <p:cNvSpPr txBox="1"/>
          <p:nvPr/>
        </p:nvSpPr>
        <p:spPr>
          <a:xfrm>
            <a:off x="47625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FCCE20-B81A-13C6-8DBB-8B32C675F626}"/>
              </a:ext>
            </a:extLst>
          </p:cNvPr>
          <p:cNvSpPr txBox="1"/>
          <p:nvPr/>
        </p:nvSpPr>
        <p:spPr>
          <a:xfrm>
            <a:off x="46609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Regras de negócio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81D88CA-CA2C-4092-7CBB-9388BAF3360D}"/>
              </a:ext>
            </a:extLst>
          </p:cNvPr>
          <p:cNvSpPr txBox="1"/>
          <p:nvPr/>
        </p:nvSpPr>
        <p:spPr>
          <a:xfrm>
            <a:off x="46609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domain.ts centraliza prioridade, progresso, XP e recuperação. Assistente interpreta intenções locais.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D9A05D99-C39E-E081-3CEF-AA07813D37A9}"/>
              </a:ext>
            </a:extLst>
          </p:cNvPr>
          <p:cNvCxnSpPr/>
          <p:nvPr/>
        </p:nvCxnSpPr>
        <p:spPr>
          <a:xfrm>
            <a:off x="7848600" y="3987800"/>
            <a:ext cx="330200" cy="0"/>
          </a:xfrm>
          <a:prstGeom prst="straightConnector1">
            <a:avLst/>
          </a:prstGeom>
          <a:ln w="25400">
            <a:solidFill>
              <a:srgbClr val="9B85D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7196D8C-8DCB-F61D-75E8-62A2E9D21E81}"/>
              </a:ext>
            </a:extLst>
          </p:cNvPr>
          <p:cNvSpPr/>
          <p:nvPr/>
        </p:nvSpPr>
        <p:spPr>
          <a:xfrm>
            <a:off x="8280400" y="2717800"/>
            <a:ext cx="3302000" cy="2552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1A796F1-5086-DB37-C056-AD3D87FAACA1}"/>
              </a:ext>
            </a:extLst>
          </p:cNvPr>
          <p:cNvSpPr/>
          <p:nvPr/>
        </p:nvSpPr>
        <p:spPr>
          <a:xfrm>
            <a:off x="8496300" y="2933700"/>
            <a:ext cx="406400" cy="342900"/>
          </a:xfrm>
          <a:prstGeom prst="roundRect">
            <a:avLst>
              <a:gd name="adj" fmla="val 6000"/>
            </a:avLst>
          </a:prstGeom>
          <a:solidFill>
            <a:srgbClr val="ECE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1F616A4-8559-8477-C7D1-EFC18AE97017}"/>
              </a:ext>
            </a:extLst>
          </p:cNvPr>
          <p:cNvSpPr txBox="1"/>
          <p:nvPr/>
        </p:nvSpPr>
        <p:spPr>
          <a:xfrm>
            <a:off x="8597900" y="2971800"/>
            <a:ext cx="266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08CAAA-860B-FABF-7064-6FBFCFDA22A9}"/>
              </a:ext>
            </a:extLst>
          </p:cNvPr>
          <p:cNvSpPr txBox="1"/>
          <p:nvPr/>
        </p:nvSpPr>
        <p:spPr>
          <a:xfrm>
            <a:off x="8496300" y="35052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6550B5"/>
                </a:solidFill>
                <a:latin typeface="Aptos" panose="020B0004020202020204" pitchFamily="34" charset="0"/>
              </a:rPr>
              <a:t>Persistência local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339EEC0-73D6-A54A-72BE-3B20FD134F55}"/>
              </a:ext>
            </a:extLst>
          </p:cNvPr>
          <p:cNvSpPr txBox="1"/>
          <p:nvPr/>
        </p:nvSpPr>
        <p:spPr>
          <a:xfrm>
            <a:off x="8496300" y="4178300"/>
            <a:ext cx="2870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storage.ts acessa IndexedDB e serializa gravações. localStorage mantém preferências e perfil.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FA9A746-1983-052C-43DE-04C7FFED9913}"/>
              </a:ext>
            </a:extLst>
          </p:cNvPr>
          <p:cNvSpPr/>
          <p:nvPr/>
        </p:nvSpPr>
        <p:spPr>
          <a:xfrm>
            <a:off x="609600" y="5499100"/>
            <a:ext cx="10972800" cy="7620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12B327B-ACA0-4C7A-DDB4-05B54D6DADCC}"/>
              </a:ext>
            </a:extLst>
          </p:cNvPr>
          <p:cNvSpPr txBox="1"/>
          <p:nvPr/>
        </p:nvSpPr>
        <p:spPr>
          <a:xfrm>
            <a:off x="812800" y="56261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6550B5"/>
                </a:solidFill>
                <a:latin typeface="Aptos" panose="020B0004020202020204" pitchFamily="34" charset="0"/>
              </a:rPr>
              <a:t>CAMADA OFFLINE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00EB98C-2CBE-BCC4-2C63-F6C376232A3B}"/>
              </a:ext>
            </a:extLst>
          </p:cNvPr>
          <p:cNvSpPr txBox="1"/>
          <p:nvPr/>
        </p:nvSpPr>
        <p:spPr>
          <a:xfrm>
            <a:off x="3378200" y="5588000"/>
            <a:ext cx="7962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626A80"/>
                </a:solidFill>
                <a:latin typeface="Aptos" panose="020B0004020202020204" pitchFamily="34" charset="0"/>
              </a:rPr>
              <a:t>demo.ts contém seed e quiz. Service worker guarda arquivos da versão de produção para recarga sem rede.</a:t>
            </a:r>
          </a:p>
        </p:txBody>
      </p:sp>
    </p:spTree>
    <p:extLst>
      <p:ext uri="{BB962C8B-B14F-4D97-AF65-F5344CB8AC3E}">
        <p14:creationId xmlns:p14="http://schemas.microsoft.com/office/powerpoint/2010/main" val="426096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12E4DB3-8BA3-05D3-2970-31D37364D595}"/>
              </a:ext>
            </a:extLst>
          </p:cNvPr>
          <p:cNvSpPr/>
          <p:nvPr/>
        </p:nvSpPr>
        <p:spPr>
          <a:xfrm>
            <a:off x="609600" y="406400"/>
            <a:ext cx="63500" cy="254000"/>
          </a:xfrm>
          <a:prstGeom prst="rect">
            <a:avLst/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E23FAF-1A4C-B151-33E7-5CE88303E8BA}"/>
              </a:ext>
            </a:extLst>
          </p:cNvPr>
          <p:cNvSpPr txBox="1"/>
          <p:nvPr/>
        </p:nvSpPr>
        <p:spPr>
          <a:xfrm>
            <a:off x="812800" y="431800"/>
            <a:ext cx="10223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FECHAMENTO · POSICIONAMENTO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FFCE15-3234-C20A-EF02-C59703A07864}"/>
              </a:ext>
            </a:extLst>
          </p:cNvPr>
          <p:cNvSpPr txBox="1"/>
          <p:nvPr/>
        </p:nvSpPr>
        <p:spPr>
          <a:xfrm>
            <a:off x="609600" y="889000"/>
            <a:ext cx="109855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900" b="1">
                <a:solidFill>
                  <a:srgbClr val="273047"/>
                </a:solidFill>
                <a:latin typeface="Aptos" panose="020B0004020202020204" pitchFamily="34" charset="0"/>
              </a:rPr>
              <a:t>De uma lista de prazos para uma jornada de execução.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F06325-3638-955E-CA98-C0BB7E1DC3F2}"/>
              </a:ext>
            </a:extLst>
          </p:cNvPr>
          <p:cNvSpPr txBox="1"/>
          <p:nvPr/>
        </p:nvSpPr>
        <p:spPr>
          <a:xfrm>
            <a:off x="609600" y="1816100"/>
            <a:ext cx="10998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300">
                <a:solidFill>
                  <a:srgbClr val="7B7F93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6C33A8-770C-DC6D-F1F4-AB19207C658D}"/>
              </a:ext>
            </a:extLst>
          </p:cNvPr>
          <p:cNvSpPr/>
          <p:nvPr/>
        </p:nvSpPr>
        <p:spPr>
          <a:xfrm>
            <a:off x="609600" y="6426200"/>
            <a:ext cx="10972800" cy="12700"/>
          </a:xfrm>
          <a:prstGeom prst="rect">
            <a:avLst/>
          </a:prstGeom>
          <a:solidFill>
            <a:srgbClr val="E2DF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C2FCFE-C137-1174-7D23-783DCFD43310}"/>
              </a:ext>
            </a:extLst>
          </p:cNvPr>
          <p:cNvSpPr txBox="1"/>
          <p:nvPr/>
        </p:nvSpPr>
        <p:spPr>
          <a:xfrm>
            <a:off x="609600" y="6553200"/>
            <a:ext cx="965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>
                <a:solidFill>
                  <a:srgbClr val="9690A5"/>
                </a:solidFill>
                <a:latin typeface="Aptos" panose="020B0004020202020204" pitchFamily="34" charset="0"/>
              </a:rPr>
              <a:t>Fonte: Síntese do posicionamento do documento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7EF43D6-D08C-E381-8FCD-660AA0569139}"/>
              </a:ext>
            </a:extLst>
          </p:cNvPr>
          <p:cNvSpPr txBox="1"/>
          <p:nvPr/>
        </p:nvSpPr>
        <p:spPr>
          <a:xfrm>
            <a:off x="10896600" y="6515100"/>
            <a:ext cx="7493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>
                <a:solidFill>
                  <a:srgbClr val="7660D3"/>
                </a:solidFill>
                <a:latin typeface="Aptos" panose="020B0004020202020204" pitchFamily="34" charset="0"/>
              </a:rPr>
              <a:t>09 / 10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B36AA2A-3E1A-3DFE-8912-8E6576F38CD7}"/>
              </a:ext>
            </a:extLst>
          </p:cNvPr>
          <p:cNvSpPr/>
          <p:nvPr/>
        </p:nvSpPr>
        <p:spPr>
          <a:xfrm>
            <a:off x="609600" y="2463800"/>
            <a:ext cx="10972800" cy="2209800"/>
          </a:xfrm>
          <a:prstGeom prst="roundRect">
            <a:avLst>
              <a:gd name="adj" fmla="val 6000"/>
            </a:avLst>
          </a:prstGeom>
          <a:solidFill>
            <a:srgbClr val="EDE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155218D-86DB-3F48-170E-88CF66C4753A}"/>
              </a:ext>
            </a:extLst>
          </p:cNvPr>
          <p:cNvSpPr txBox="1"/>
          <p:nvPr/>
        </p:nvSpPr>
        <p:spPr>
          <a:xfrm>
            <a:off x="965200" y="2781300"/>
            <a:ext cx="10287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6550B5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9A7C59B-5705-4AA7-6717-F0EC7BAC6629}"/>
              </a:ext>
            </a:extLst>
          </p:cNvPr>
          <p:cNvSpPr txBox="1"/>
          <p:nvPr/>
        </p:nvSpPr>
        <p:spPr>
          <a:xfrm>
            <a:off x="6096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CLAREZA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84368B1-CBF5-8A93-8D3B-6CB955C33EE3}"/>
              </a:ext>
            </a:extLst>
          </p:cNvPr>
          <p:cNvSpPr txBox="1"/>
          <p:nvPr/>
        </p:nvSpPr>
        <p:spPr>
          <a:xfrm>
            <a:off x="6096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Saber por onde começar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9A4B83F-A9EB-2324-43FA-2C4545681190}"/>
              </a:ext>
            </a:extLst>
          </p:cNvPr>
          <p:cNvSpPr txBox="1"/>
          <p:nvPr/>
        </p:nvSpPr>
        <p:spPr>
          <a:xfrm>
            <a:off x="43434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PROGRESSO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F18EF6B-79F3-FC72-FB8D-11BBA27CE27B}"/>
              </a:ext>
            </a:extLst>
          </p:cNvPr>
          <p:cNvSpPr txBox="1"/>
          <p:nvPr/>
        </p:nvSpPr>
        <p:spPr>
          <a:xfrm>
            <a:off x="43434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Ver cada etapa avançar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3EEC0B4-58BA-7EFB-A508-A8DF4E248553}"/>
              </a:ext>
            </a:extLst>
          </p:cNvPr>
          <p:cNvSpPr txBox="1"/>
          <p:nvPr/>
        </p:nvSpPr>
        <p:spPr>
          <a:xfrm>
            <a:off x="8077200" y="5118100"/>
            <a:ext cx="3530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CONTINUIDADE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9DB9A89-AA14-E3C0-4EAD-BE9CA7C8A044}"/>
              </a:ext>
            </a:extLst>
          </p:cNvPr>
          <p:cNvSpPr txBox="1"/>
          <p:nvPr/>
        </p:nvSpPr>
        <p:spPr>
          <a:xfrm>
            <a:off x="8077200" y="5511800"/>
            <a:ext cx="35306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273047"/>
                </a:solidFill>
                <a:latin typeface="Aptos" panose="020B0004020202020204" pitchFamily="34" charset="0"/>
              </a:rPr>
              <a:t>Seguir no próprio ritmo</a:t>
            </a:r>
          </a:p>
        </p:txBody>
      </p:sp>
    </p:spTree>
    <p:extLst>
      <p:ext uri="{BB962C8B-B14F-4D97-AF65-F5344CB8AC3E}">
        <p14:creationId xmlns:p14="http://schemas.microsoft.com/office/powerpoint/2010/main" val="1748070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60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505351-A7BF-D354-DD16-73BBC1BCDE6A}"/>
              </a:ext>
            </a:extLst>
          </p:cNvPr>
          <p:cNvSpPr txBox="1"/>
          <p:nvPr/>
        </p:nvSpPr>
        <p:spPr>
          <a:xfrm>
            <a:off x="812800" y="673100"/>
            <a:ext cx="10566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1400" b="1">
                <a:solidFill>
                  <a:srgbClr val="E7DFF8"/>
                </a:solidFill>
                <a:latin typeface="Aptos" panose="020B0004020202020204" pitchFamily="34" charset="0"/>
              </a:rPr>
              <a:t>TRILHA · SUA JORNADA, ORGANIZADA.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D890DB-F78C-55EA-A846-B8A681254081}"/>
              </a:ext>
            </a:extLst>
          </p:cNvPr>
          <p:cNvSpPr txBox="1"/>
          <p:nvPr/>
        </p:nvSpPr>
        <p:spPr>
          <a:xfrm>
            <a:off x="812800" y="2006600"/>
            <a:ext cx="10566400" cy="1046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6800" b="1">
                <a:solidFill>
                  <a:srgbClr val="FFFFFF"/>
                </a:solidFill>
                <a:latin typeface="Aptos" panose="020B0004020202020204" pitchFamily="34" charset="0"/>
              </a:rPr>
              <a:t>Obrigado!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3064F84-6B0A-354C-6DC8-EE2DAA4BB712}"/>
              </a:ext>
            </a:extLst>
          </p:cNvPr>
          <p:cNvSpPr txBox="1"/>
          <p:nvPr/>
        </p:nvSpPr>
        <p:spPr>
          <a:xfrm>
            <a:off x="812800" y="3657600"/>
            <a:ext cx="10134600" cy="89255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2900" b="1">
                <a:solidFill>
                  <a:srgbClr val="FFFFFF"/>
                </a:solidFill>
                <a:latin typeface="Aptos" panose="020B0004020202020204" pitchFamily="34" charset="0"/>
              </a:rPr>
              <a:t>Mais do que lembrar prazos, ajudamos você a concluir cada etapa.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CD7594A-52DA-D491-E91A-F81D951B56E6}"/>
              </a:ext>
            </a:extLst>
          </p:cNvPr>
          <p:cNvSpPr txBox="1"/>
          <p:nvPr/>
        </p:nvSpPr>
        <p:spPr>
          <a:xfrm>
            <a:off x="812800" y="5588000"/>
            <a:ext cx="105664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2000">
                <a:solidFill>
                  <a:srgbClr val="E7DFF8"/>
                </a:solidFill>
                <a:latin typeface="Aptos" panose="020B0004020202020204" pitchFamily="34" charset="0"/>
              </a:rPr>
              <a:t>Emerson · Mhell · Adriana · Marcos Paulo</a:t>
            </a:r>
          </a:p>
        </p:txBody>
      </p:sp>
    </p:spTree>
    <p:extLst>
      <p:ext uri="{BB962C8B-B14F-4D97-AF65-F5344CB8AC3E}">
        <p14:creationId xmlns:p14="http://schemas.microsoft.com/office/powerpoint/2010/main" val="1614042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Microsoft Office PowerPoint</Application>
  <PresentationFormat>Personalizar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Teodoro</dc:creator>
  <cp:lastModifiedBy>Emerson Teodoro</cp:lastModifiedBy>
  <cp:revision>1</cp:revision>
  <dcterms:created xsi:type="dcterms:W3CDTF">2026-10-09T03:22:20Z</dcterms:created>
  <dcterms:modified xsi:type="dcterms:W3CDTF">2026-10-09T03:22:20Z</dcterms:modified>
</cp:coreProperties>
</file>